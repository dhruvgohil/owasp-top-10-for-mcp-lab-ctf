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f97d2235b4_1_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3f97d2235b4_1_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Framing for the whole session. The Model Context Protocol is the standardised port and wiring that lets an AI agent plug into the outside world — files, databases, APIs, other systems. Every risk in this deck is a risk of that port, not of the reasoning behind the wheel. Throughout: the LLM is the driver's brain, the agent is the driver, the harness is the body and dashboard, and MCP is the diagnostic port plus everything plugged into it. Note the deliberate choice of brain over engine: a car's diagnostic port still works with the ignition off, but no MCP call happens without spending real model inference — so the LLM is what lets the driver think, not what turns the wheels.</a:t>
            </a:r>
            <a:endParaRPr/>
          </a:p>
        </p:txBody>
      </p:sp>
      <p:sp>
        <p:nvSpPr>
          <p:cNvPr id="55" name="Google Shape;55;g3f97d2235b4_1_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f97d2235b4_1_1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g3f97d2235b4_1_1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Set the mental model before any risk. The LLM is the driver's brain — it reasons and understands language, but it turns no wheels by itself. The agent is the driver — it chooses the route and acts. The harness is the body and dashboard — it wires everything together and keeps the driver informed. MCP is the standardised diagnostic port plus the wiring: one universal plug so any driver can read the car's surroundings and reach out to GPS, fuel pumps, toll booths and cameras. Why brain rather than engine: you can read a car's diagnostic port with the ignition off, but every MCP action spends model inference — the LLM is what makes the driver capable of deciding, so it belongs inside the driver, not under the bonnet. Every item in this deck is about that port and what is plugged into it.</a:t>
            </a:r>
            <a:endParaRPr/>
          </a:p>
        </p:txBody>
      </p:sp>
      <p:sp>
        <p:nvSpPr>
          <p:cNvPr id="71" name="Google Shape;71;g3f97d2235b4_1_1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f5f74bd1c6_2_5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g3f5f74bd1c6_2_5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MCP01 — Hard-coded credentials, long-lived tokens and secrets stored in model memory or protocol logs. Attackers pull them out through prompt injection, a poisoned tool response, or over-verbose debug traces. Car version: you hid a spare key under the bumper so you would never be locked out — and now anyone who runs a hand along the bumper owns the car. Fix: short-lived scoped tokens, a secrets manager, and never let a secret enter the context window or a log line.</a:t>
            </a:r>
            <a:endParaRPr/>
          </a:p>
        </p:txBody>
      </p:sp>
      <p:sp>
        <p:nvSpPr>
          <p:cNvPr id="111" name="Google Shape;111;g3f5f74bd1c6_2_5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f5f74bd1c6_2_8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g3f5f74bd1c6_2_8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MCP02 — Loosely defined or temporary permissions on MCP servers expand over time until agents hold far more capability than the task needs: repository writes, system control, data exfiltration. Car version: a valet key should only start the engine and open the driver door. This one slowly gained the boot, the glovebox, and finally everything — and nobody ever asked for it back. Fix: least privilege per tool, explicit scopes, time-bound grants, and periodic re-certification.</a:t>
            </a:r>
            <a:endParaRPr/>
          </a:p>
        </p:txBody>
      </p:sp>
      <p:sp>
        <p:nvSpPr>
          <p:cNvPr id="141" name="Google Shape;141;g3f5f74bd1c6_2_8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f5f74bd1c6_2_11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g3f5f74bd1c6_2_11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MCP03 — An adversary compromises a tool, plugin, or its output, injecting malicious or biased context to steer model behaviour. Because the poison arrives as a trusted tool result, the agent has no reason to doubt it. Car version: the GPS still boots up, still shows a clean map, still speaks politely — but the route was edited. The driver is not being careless; they are being lied to by an instrument they were told to trust. OWASP names three sub-techniques here: rug pulls (a malicious update to a previously trusted tool), schema poisoning (corrupting the interface definition to mislead the model), and tool shadowing (a fake or duplicate tool that intercepts or alters interactions). Fix: pin tool versions, verify integrity, and treat any change in a tool description as a security event.</a:t>
            </a:r>
            <a:endParaRPr/>
          </a:p>
        </p:txBody>
      </p:sp>
      <p:sp>
        <p:nvSpPr>
          <p:cNvPr id="171" name="Google Shape;171;g3f5f74bd1c6_2_11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f5f74bd1c6_2_14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g3f5f74bd1c6_2_14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MCP04 — Software Supply Chain Attacks &amp; Dependency Tampering. A compromised dependency can alter agent behaviour or plant an execution-level backdoor, and it arrives through an update nobody reviewed. Car version: the part came in the right box with the right logo and bolted straight on. It only reveals itself the one time you brake hard. Fix: trusted registries, pinned and signed versions, SBOMs, and review of every dependency update to the server.</a:t>
            </a:r>
            <a:endParaRPr/>
          </a:p>
        </p:txBody>
      </p:sp>
      <p:sp>
        <p:nvSpPr>
          <p:cNvPr id="201" name="Google Shape;201;g3f5f74bd1c6_2_14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f5f74bd1c6_2_17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g3f5f74bd1c6_2_17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MCP05 — The agent constructs and executes shell commands, API calls, or code from untrusted input — a user prompt, retrieved context, or third-party data — without validation. Researchers found shell injection was the single largest class of MCP CVEs filed in early 2026. Car version: the car takes voice commands and cannot tell the driver from the radio. Fix: parameterised calls, strict input validation, allow-listed operations, and no shell interpolation anywhere.</a:t>
            </a:r>
            <a:endParaRPr/>
          </a:p>
        </p:txBody>
      </p:sp>
      <p:sp>
        <p:nvSpPr>
          <p:cNvPr id="231" name="Google Shape;231;g3f5f74bd1c6_2_17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f5f74bd1c6_2_20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g3f5f74bd1c6_2_20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MCP06 — MCP lets agents pull in rich context, and that context becomes a second instruction channel. Malicious text embedded in a document, a web page, or a tool response hijacks the intent flow and steers the agent toward the attacker's objective while it still believes it is serving the user. Car version: the driver is competent and attentive. The sign is the thing that lied. Fix: strict separation of instructions from retrieved data, provenance tagging, and a human gate on any goal change. NAMING: OWASP's own project page currently uses two names for MCP06 — the summary list and overview table say "Intent Flow Subversion", while the detailed v0.1 section further down the same page says "Prompt Injection via Contextual Payloads". Same risk, beta document. If challenged, say both are current on the OWASP page.</a:t>
            </a:r>
            <a:endParaRPr/>
          </a:p>
        </p:txBody>
      </p:sp>
      <p:sp>
        <p:nvSpPr>
          <p:cNvPr id="261" name="Google Shape;261;g3f5f74bd1c6_2_20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f5f74bd1c6_2_23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g3f5f74bd1c6_2_23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MCP07 — MCP ecosystems involve many agents, users and services exchanging data and triggering actions. Where identity is not verified and access control is not enforced per tool, every one of those hops is an open door. Car version: no key check, no immobiliser, no question at all — the car happily drives for whoever sits down. Fix: authenticate on every request, authorise per tool and per resource, and never accept a caller identity the caller asserted about itself.</a:t>
            </a:r>
            <a:endParaRPr/>
          </a:p>
        </p:txBody>
      </p:sp>
      <p:sp>
        <p:nvSpPr>
          <p:cNvPr id="292" name="Google Shape;292;g3f5f74bd1c6_2_23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f5f74bd1c6_2_26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g3f5f74bd1c6_2_26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MCP08 — Thin telemetry from MCP servers and agents makes investigation and incident response almost impossible. You cannot answer which tool ran, on whose behalf, with what arguments, or when the context changed. Car version: after the scrape in the car park there is no footage, no odometer trace, no trip history — so the incident simply becomes an argument. Fix: log every tool invocation, context mutation and user-agent interaction to an immutable, monitored audit trail.</a:t>
            </a:r>
            <a:endParaRPr/>
          </a:p>
        </p:txBody>
      </p:sp>
      <p:sp>
        <p:nvSpPr>
          <p:cNvPr id="322" name="Google Shape;322;g3f5f74bd1c6_2_26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f5f74bd1c6_2_29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g3f5f74bd1c6_2_29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MCP09 — Like Shadow IT: rogue MCP nodes stood up by developers or data teams for experimentation and convenience, typically with default credentials, permissive configuration and unsecured APIs — and no owner. Car version: the tracker went on for a one-week trial. The trial ended; the tracker did not. It is not on any inventory, so nobody patches it and nobody notices it broadcasting. Fix: discovery scanning, a mandatory registry, egress control, and a decommission step in every experiment.</a:t>
            </a:r>
            <a:endParaRPr/>
          </a:p>
        </p:txBody>
      </p:sp>
      <p:sp>
        <p:nvSpPr>
          <p:cNvPr id="352" name="Google Shape;352;g3f5f74bd1c6_2_29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f5f74bd1c6_2_31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1" name="Google Shape;381;g3f5f74bd1c6_2_31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MCP10 — Context is the working memory holding prompts, retrieved data and intermediate outputs across agents and sessions. When it is shared, persistent or loosely scoped, one user, task or tenant sees another's data — and long-lived memory widens the blast radius of any single compromised session. Car version: you return the rental with your home address, your contacts and your gate code still on the dashboard, and the next renter gets all of it. Fix: one session per user, ephemeral memory by default, identity-tagged data, and cross-tenant isolation enforced at the protocol layer.</a:t>
            </a:r>
            <a:endParaRPr/>
          </a:p>
        </p:txBody>
      </p:sp>
      <p:sp>
        <p:nvSpPr>
          <p:cNvPr id="382" name="Google Shape;382;g3f5f74bd1c6_2_31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f5f74bd1c6_2_34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 name="Google Shape;411;g3f5f74bd1c6_2_34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Close on the whole picture. Every one of these is a failure of the port and its wiring, not of the engine. The engine is not the thing that gets you lost, robbed or tracked — the plug is. Practical takeaway: short-lived scoped credentials, least privilege per tool, verified and pinned tools and dependencies, no shell interpolation, retrieved content treated as data rather than instructions, authentication and authorisation on every call, an immutable audit trail, a registry so nothing runs unlisted, and a clean context between users.</a:t>
            </a:r>
            <a:endParaRPr/>
          </a:p>
        </p:txBody>
      </p:sp>
      <p:sp>
        <p:nvSpPr>
          <p:cNvPr id="412" name="Google Shape;412;g3f5f74bd1c6_2_34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f5f74bd1c6_0_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0" name="Google Shape;470;g3f5f74bd1c6_0_0: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Close on the whole picture. Every one of these is a failure of the port and its wiring, not of the engine. The engine is not the thing that gets you lost, robbed or tracked — the plug is. Practical takeaway: short-lived scoped credentials, least privilege per tool, verified and pinned tools and dependencies, no shell interpolation, retrieved content treated as data rather than instructions, authentication and authorisation on every call, an immutable audit trail, a registry so nothing runs unlisted, and a clean context between users.</a:t>
            </a:r>
            <a:endParaRPr/>
          </a:p>
        </p:txBody>
      </p:sp>
      <p:sp>
        <p:nvSpPr>
          <p:cNvPr id="471" name="Google Shape;471;g3f5f74bd1c6_0_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f6131e9056_0_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4" name="Google Shape;504;g3f6131e9056_0_0: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Close on the whole picture. Every one of these is a failure of the port and its wiring, not of the engine. The engine is not the thing that gets you lost, robbed or tracked — the plug is. Practical takeaway: short-lived scoped credentials, least privilege per tool, verified and pinned tools and dependencies, no shell interpolation, retrieved content treated as data rather than instructions, authentication and authorisation on every call, an immutable audit trail, a registry so nothing runs unlisted, and a clean context between users.</a:t>
            </a:r>
            <a:endParaRPr/>
          </a:p>
        </p:txBody>
      </p:sp>
      <p:sp>
        <p:nvSpPr>
          <p:cNvPr id="505" name="Google Shape;505;g3f6131e9056_0_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0.png"/><Relationship Id="rId4" Type="http://schemas.openxmlformats.org/officeDocument/2006/relationships/image" Target="../media/image10.png"/><Relationship Id="rId5" Type="http://schemas.openxmlformats.org/officeDocument/2006/relationships/image" Target="../media/image2.png"/><Relationship Id="rId6" Type="http://schemas.openxmlformats.org/officeDocument/2006/relationships/image" Target="../media/image3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0.png"/><Relationship Id="rId4" Type="http://schemas.openxmlformats.org/officeDocument/2006/relationships/image" Target="../media/image10.png"/><Relationship Id="rId5" Type="http://schemas.openxmlformats.org/officeDocument/2006/relationships/image" Target="../media/image2.png"/><Relationship Id="rId6"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0.png"/><Relationship Id="rId4" Type="http://schemas.openxmlformats.org/officeDocument/2006/relationships/image" Target="../media/image10.png"/><Relationship Id="rId5" Type="http://schemas.openxmlformats.org/officeDocument/2006/relationships/image" Target="../media/image2.png"/><Relationship Id="rId6"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0.png"/><Relationship Id="rId4" Type="http://schemas.openxmlformats.org/officeDocument/2006/relationships/image" Target="../media/image10.png"/><Relationship Id="rId5" Type="http://schemas.openxmlformats.org/officeDocument/2006/relationships/image" Target="../media/image2.png"/><Relationship Id="rId6"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0.png"/><Relationship Id="rId4" Type="http://schemas.openxmlformats.org/officeDocument/2006/relationships/image" Target="../media/image10.png"/><Relationship Id="rId5" Type="http://schemas.openxmlformats.org/officeDocument/2006/relationships/image" Target="../media/image2.png"/><Relationship Id="rId6"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0.png"/><Relationship Id="rId4" Type="http://schemas.openxmlformats.org/officeDocument/2006/relationships/image" Target="../media/image10.png"/><Relationship Id="rId5" Type="http://schemas.openxmlformats.org/officeDocument/2006/relationships/image" Target="../media/image2.png"/><Relationship Id="rId6" Type="http://schemas.openxmlformats.org/officeDocument/2006/relationships/image" Target="../media/image3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0.png"/><Relationship Id="rId4" Type="http://schemas.openxmlformats.org/officeDocument/2006/relationships/image" Target="../media/image10.png"/><Relationship Id="rId5" Type="http://schemas.openxmlformats.org/officeDocument/2006/relationships/image" Target="../media/image2.png"/><Relationship Id="rId6" Type="http://schemas.openxmlformats.org/officeDocument/2006/relationships/image" Target="../media/image3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0.png"/><Relationship Id="rId4" Type="http://schemas.openxmlformats.org/officeDocument/2006/relationships/image" Target="../media/image10.png"/><Relationship Id="rId5" Type="http://schemas.openxmlformats.org/officeDocument/2006/relationships/image" Target="../media/image2.png"/><Relationship Id="rId6" Type="http://schemas.openxmlformats.org/officeDocument/2006/relationships/image" Target="../media/image3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10.png"/><Relationship Id="rId5" Type="http://schemas.openxmlformats.org/officeDocument/2006/relationships/image" Target="../media/image2.png"/><Relationship Id="rId6" Type="http://schemas.openxmlformats.org/officeDocument/2006/relationships/image" Target="../media/image3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0.png"/><Relationship Id="rId4" Type="http://schemas.openxmlformats.org/officeDocument/2006/relationships/image" Target="../media/image10.png"/><Relationship Id="rId5" Type="http://schemas.openxmlformats.org/officeDocument/2006/relationships/image" Target="../media/image2.png"/><Relationship Id="rId6" Type="http://schemas.openxmlformats.org/officeDocument/2006/relationships/image" Target="../media/image3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0.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6" name="Shape 56"/>
        <p:cNvGrpSpPr/>
        <p:nvPr/>
      </p:nvGrpSpPr>
      <p:grpSpPr>
        <a:xfrm>
          <a:off x="0" y="0"/>
          <a:ext cx="0" cy="0"/>
          <a:chOff x="0" y="0"/>
          <a:chExt cx="0" cy="0"/>
        </a:xfrm>
      </p:grpSpPr>
      <p:sp>
        <p:nvSpPr>
          <p:cNvPr id="57" name="Google Shape;57;p15"/>
          <p:cNvSpPr/>
          <p:nvPr/>
        </p:nvSpPr>
        <p:spPr>
          <a:xfrm>
            <a:off x="493776" y="877824"/>
            <a:ext cx="2400300" cy="212598"/>
          </a:xfrm>
          <a:prstGeom prst="roundRect">
            <a:avLst>
              <a:gd fmla="val 29032" name="adj"/>
            </a:avLst>
          </a:prstGeom>
          <a:solidFill>
            <a:srgbClr val="0B222A"/>
          </a:solidFill>
          <a:ln cap="flat" cmpd="sng" w="12700">
            <a:solidFill>
              <a:srgbClr val="167889"/>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22D3EE"/>
              </a:buClr>
              <a:buSzPts val="800"/>
              <a:buFont typeface="Courier New"/>
              <a:buNone/>
            </a:pPr>
            <a:r>
              <a:rPr b="1" i="0" lang="en" sz="800" u="none" cap="none" strike="noStrike">
                <a:solidFill>
                  <a:srgbClr val="22D3EE"/>
                </a:solidFill>
                <a:latin typeface="Courier New"/>
                <a:ea typeface="Courier New"/>
                <a:cs typeface="Courier New"/>
                <a:sym typeface="Courier New"/>
              </a:rPr>
              <a:t>OWASP · MCP01:2025 → MCP10:2025</a:t>
            </a:r>
            <a:endParaRPr b="0" i="0" sz="800" u="none" cap="none" strike="noStrike">
              <a:solidFill>
                <a:schemeClr val="dk1"/>
              </a:solidFill>
              <a:latin typeface="Calibri"/>
              <a:ea typeface="Calibri"/>
              <a:cs typeface="Calibri"/>
              <a:sym typeface="Calibri"/>
            </a:endParaRPr>
          </a:p>
        </p:txBody>
      </p:sp>
      <p:sp>
        <p:nvSpPr>
          <p:cNvPr id="58" name="Google Shape;58;p15"/>
          <p:cNvSpPr/>
          <p:nvPr/>
        </p:nvSpPr>
        <p:spPr>
          <a:xfrm>
            <a:off x="466344" y="1248156"/>
            <a:ext cx="4114800" cy="1303020"/>
          </a:xfrm>
          <a:prstGeom prst="rect">
            <a:avLst/>
          </a:prstGeom>
          <a:noFill/>
          <a:ln>
            <a:noFill/>
          </a:ln>
        </p:spPr>
        <p:txBody>
          <a:bodyPr anchorCtr="0" anchor="t" bIns="0" lIns="0" spcFirstLastPara="1" rIns="0" wrap="square" tIns="0">
            <a:noAutofit/>
          </a:bodyPr>
          <a:lstStyle/>
          <a:p>
            <a:pPr indent="0" lvl="0" marL="0" marR="0" rtl="0" algn="l">
              <a:lnSpc>
                <a:spcPct val="92000"/>
              </a:lnSpc>
              <a:spcBef>
                <a:spcPts val="0"/>
              </a:spcBef>
              <a:spcAft>
                <a:spcPts val="0"/>
              </a:spcAft>
              <a:buClr>
                <a:srgbClr val="FFFFFF"/>
              </a:buClr>
              <a:buSzPts val="4100"/>
              <a:buFont typeface="Arial"/>
              <a:buNone/>
            </a:pPr>
            <a:r>
              <a:rPr b="1" i="0" lang="en" sz="4100" u="none" cap="none" strike="noStrike">
                <a:solidFill>
                  <a:srgbClr val="FFFFFF"/>
                </a:solidFill>
                <a:latin typeface="Arial"/>
                <a:ea typeface="Arial"/>
                <a:cs typeface="Arial"/>
                <a:sym typeface="Arial"/>
              </a:rPr>
              <a:t>OWASP Top 10</a:t>
            </a:r>
            <a:br>
              <a:rPr b="1" i="0" lang="en" sz="4100" u="none" cap="none" strike="noStrike">
                <a:solidFill>
                  <a:srgbClr val="FFFFFF"/>
                </a:solidFill>
                <a:latin typeface="Arial"/>
                <a:ea typeface="Arial"/>
                <a:cs typeface="Arial"/>
                <a:sym typeface="Arial"/>
              </a:rPr>
            </a:br>
            <a:r>
              <a:rPr b="1" i="0" lang="en" sz="4100" u="none" cap="none" strike="noStrike">
                <a:solidFill>
                  <a:srgbClr val="22D3EE"/>
                </a:solidFill>
                <a:latin typeface="Arial"/>
                <a:ea typeface="Arial"/>
                <a:cs typeface="Arial"/>
                <a:sym typeface="Arial"/>
              </a:rPr>
              <a:t>for MCP</a:t>
            </a:r>
            <a:endParaRPr b="0" i="0" sz="4100" u="none" cap="none" strike="noStrike">
              <a:solidFill>
                <a:schemeClr val="dk1"/>
              </a:solidFill>
              <a:latin typeface="Calibri"/>
              <a:ea typeface="Calibri"/>
              <a:cs typeface="Calibri"/>
              <a:sym typeface="Calibri"/>
            </a:endParaRPr>
          </a:p>
        </p:txBody>
      </p:sp>
      <p:sp>
        <p:nvSpPr>
          <p:cNvPr id="59" name="Google Shape;59;p15"/>
          <p:cNvSpPr/>
          <p:nvPr/>
        </p:nvSpPr>
        <p:spPr>
          <a:xfrm>
            <a:off x="493776" y="2619756"/>
            <a:ext cx="3771900" cy="65151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93A0B7"/>
              </a:buClr>
              <a:buSzPts val="1100"/>
              <a:buFont typeface="Arial"/>
              <a:buNone/>
            </a:pPr>
            <a:r>
              <a:rPr b="0" i="0" lang="en" sz="1100" u="none" cap="none" strike="noStrike">
                <a:solidFill>
                  <a:srgbClr val="93A0B7"/>
                </a:solidFill>
                <a:latin typeface="Arial"/>
                <a:ea typeface="Arial"/>
                <a:cs typeface="Arial"/>
                <a:sym typeface="Arial"/>
              </a:rPr>
              <a:t>Ten security risks of the Model Context Protocol —</a:t>
            </a:r>
            <a:endParaRPr b="0" i="0" sz="1100" u="none" cap="none" strike="noStrike">
              <a:solidFill>
                <a:schemeClr val="dk1"/>
              </a:solidFill>
              <a:latin typeface="Calibri"/>
              <a:ea typeface="Calibri"/>
              <a:cs typeface="Calibri"/>
              <a:sym typeface="Calibri"/>
            </a:endParaRPr>
          </a:p>
          <a:p>
            <a:pPr indent="0" lvl="0" marL="0" marR="0" rtl="0" algn="l">
              <a:lnSpc>
                <a:spcPct val="122000"/>
              </a:lnSpc>
              <a:spcBef>
                <a:spcPts val="0"/>
              </a:spcBef>
              <a:spcAft>
                <a:spcPts val="0"/>
              </a:spcAft>
              <a:buClr>
                <a:srgbClr val="93A0B7"/>
              </a:buClr>
              <a:buSzPts val="1100"/>
              <a:buFont typeface="Arial"/>
              <a:buNone/>
            </a:pPr>
            <a:r>
              <a:rPr b="0" i="0" lang="en" sz="1100" u="none" cap="none" strike="noStrike">
                <a:solidFill>
                  <a:srgbClr val="93A0B7"/>
                </a:solidFill>
                <a:latin typeface="Arial"/>
                <a:ea typeface="Arial"/>
                <a:cs typeface="Arial"/>
                <a:sym typeface="Arial"/>
              </a:rPr>
              <a:t>explained with one car and its driver.</a:t>
            </a:r>
            <a:endParaRPr b="0" i="0" sz="1100" u="none" cap="none" strike="noStrike">
              <a:solidFill>
                <a:schemeClr val="dk1"/>
              </a:solidFill>
              <a:latin typeface="Calibri"/>
              <a:ea typeface="Calibri"/>
              <a:cs typeface="Calibri"/>
              <a:sym typeface="Calibri"/>
            </a:endParaRPr>
          </a:p>
        </p:txBody>
      </p:sp>
      <p:sp>
        <p:nvSpPr>
          <p:cNvPr id="60" name="Google Shape;60;p15"/>
          <p:cNvSpPr/>
          <p:nvPr/>
        </p:nvSpPr>
        <p:spPr>
          <a:xfrm>
            <a:off x="493776" y="3442716"/>
            <a:ext cx="864108" cy="589788"/>
          </a:xfrm>
          <a:prstGeom prst="roundRect">
            <a:avLst>
              <a:gd fmla="val 11628" name="adj"/>
            </a:avLst>
          </a:prstGeom>
          <a:solidFill>
            <a:srgbClr val="101521"/>
          </a:solidFill>
          <a:ln cap="flat" cmpd="sng" w="12700">
            <a:solidFill>
              <a:srgbClr val="21375E"/>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D7DEEA"/>
              </a:buClr>
              <a:buSzPts val="700"/>
              <a:buFont typeface="Courier New"/>
              <a:buNone/>
            </a:pPr>
            <a:r>
              <a:rPr b="1" i="0" lang="en" sz="700" u="none" cap="none" strike="noStrike">
                <a:solidFill>
                  <a:srgbClr val="D7DEEA"/>
                </a:solidFill>
                <a:latin typeface="Courier New"/>
                <a:ea typeface="Courier New"/>
                <a:cs typeface="Courier New"/>
                <a:sym typeface="Courier New"/>
              </a:rPr>
              <a:t>BRAIN</a:t>
            </a:r>
            <a:endParaRPr b="0" i="0" sz="700" u="none" cap="none" strike="noStrike">
              <a:solidFill>
                <a:schemeClr val="dk1"/>
              </a:solidFill>
              <a:latin typeface="Calibri"/>
              <a:ea typeface="Calibri"/>
              <a:cs typeface="Calibri"/>
              <a:sym typeface="Calibri"/>
            </a:endParaRPr>
          </a:p>
          <a:p>
            <a:pPr indent="0" lvl="0" marL="0" marR="0" rtl="0" algn="ctr">
              <a:lnSpc>
                <a:spcPct val="150000"/>
              </a:lnSpc>
              <a:spcBef>
                <a:spcPts val="0"/>
              </a:spcBef>
              <a:spcAft>
                <a:spcPts val="0"/>
              </a:spcAft>
              <a:buClr>
                <a:srgbClr val="D7DEEA"/>
              </a:buClr>
              <a:buSzPts val="700"/>
              <a:buFont typeface="Courier New"/>
              <a:buNone/>
            </a:pPr>
            <a:r>
              <a:rPr b="1" i="0" lang="en" sz="700" u="none" cap="none" strike="noStrike">
                <a:solidFill>
                  <a:srgbClr val="D7DEEA"/>
                </a:solidFill>
                <a:latin typeface="Courier New"/>
                <a:ea typeface="Courier New"/>
                <a:cs typeface="Courier New"/>
                <a:sym typeface="Courier New"/>
              </a:rPr>
              <a:t>LLM</a:t>
            </a:r>
            <a:endParaRPr b="0" i="0" sz="700" u="none" cap="none" strike="noStrike">
              <a:solidFill>
                <a:schemeClr val="dk1"/>
              </a:solidFill>
              <a:latin typeface="Calibri"/>
              <a:ea typeface="Calibri"/>
              <a:cs typeface="Calibri"/>
              <a:sym typeface="Calibri"/>
            </a:endParaRPr>
          </a:p>
        </p:txBody>
      </p:sp>
      <p:sp>
        <p:nvSpPr>
          <p:cNvPr id="61" name="Google Shape;61;p15"/>
          <p:cNvSpPr/>
          <p:nvPr/>
        </p:nvSpPr>
        <p:spPr>
          <a:xfrm>
            <a:off x="1467612" y="3442716"/>
            <a:ext cx="864108" cy="589788"/>
          </a:xfrm>
          <a:prstGeom prst="roundRect">
            <a:avLst>
              <a:gd fmla="val 11628" name="adj"/>
            </a:avLst>
          </a:prstGeom>
          <a:solidFill>
            <a:srgbClr val="101521"/>
          </a:solidFill>
          <a:ln cap="flat" cmpd="sng" w="12700">
            <a:solidFill>
              <a:srgbClr val="21375E"/>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D7DEEA"/>
              </a:buClr>
              <a:buSzPts val="700"/>
              <a:buFont typeface="Courier New"/>
              <a:buNone/>
            </a:pPr>
            <a:r>
              <a:rPr b="1" i="0" lang="en" sz="700" u="none" cap="none" strike="noStrike">
                <a:solidFill>
                  <a:srgbClr val="D7DEEA"/>
                </a:solidFill>
                <a:latin typeface="Courier New"/>
                <a:ea typeface="Courier New"/>
                <a:cs typeface="Courier New"/>
                <a:sym typeface="Courier New"/>
              </a:rPr>
              <a:t>DRIVER</a:t>
            </a:r>
            <a:endParaRPr b="0" i="0" sz="700" u="none" cap="none" strike="noStrike">
              <a:solidFill>
                <a:schemeClr val="dk1"/>
              </a:solidFill>
              <a:latin typeface="Calibri"/>
              <a:ea typeface="Calibri"/>
              <a:cs typeface="Calibri"/>
              <a:sym typeface="Calibri"/>
            </a:endParaRPr>
          </a:p>
          <a:p>
            <a:pPr indent="0" lvl="0" marL="0" marR="0" rtl="0" algn="ctr">
              <a:lnSpc>
                <a:spcPct val="150000"/>
              </a:lnSpc>
              <a:spcBef>
                <a:spcPts val="0"/>
              </a:spcBef>
              <a:spcAft>
                <a:spcPts val="0"/>
              </a:spcAft>
              <a:buClr>
                <a:srgbClr val="D7DEEA"/>
              </a:buClr>
              <a:buSzPts val="700"/>
              <a:buFont typeface="Courier New"/>
              <a:buNone/>
            </a:pPr>
            <a:r>
              <a:rPr b="1" i="0" lang="en" sz="700" u="none" cap="none" strike="noStrike">
                <a:solidFill>
                  <a:srgbClr val="D7DEEA"/>
                </a:solidFill>
                <a:latin typeface="Courier New"/>
                <a:ea typeface="Courier New"/>
                <a:cs typeface="Courier New"/>
                <a:sym typeface="Courier New"/>
              </a:rPr>
              <a:t>AGENT</a:t>
            </a:r>
            <a:endParaRPr b="0" i="0" sz="700" u="none" cap="none" strike="noStrike">
              <a:solidFill>
                <a:schemeClr val="dk1"/>
              </a:solidFill>
              <a:latin typeface="Calibri"/>
              <a:ea typeface="Calibri"/>
              <a:cs typeface="Calibri"/>
              <a:sym typeface="Calibri"/>
            </a:endParaRPr>
          </a:p>
        </p:txBody>
      </p:sp>
      <p:sp>
        <p:nvSpPr>
          <p:cNvPr id="62" name="Google Shape;62;p15"/>
          <p:cNvSpPr/>
          <p:nvPr/>
        </p:nvSpPr>
        <p:spPr>
          <a:xfrm>
            <a:off x="2441448" y="3442716"/>
            <a:ext cx="864108" cy="589788"/>
          </a:xfrm>
          <a:prstGeom prst="roundRect">
            <a:avLst>
              <a:gd fmla="val 11628" name="adj"/>
            </a:avLst>
          </a:prstGeom>
          <a:solidFill>
            <a:srgbClr val="101521"/>
          </a:solidFill>
          <a:ln cap="flat" cmpd="sng" w="12700">
            <a:solidFill>
              <a:srgbClr val="21375E"/>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D7DEEA"/>
              </a:buClr>
              <a:buSzPts val="700"/>
              <a:buFont typeface="Courier New"/>
              <a:buNone/>
            </a:pPr>
            <a:r>
              <a:rPr b="1" i="0" lang="en" sz="700" u="none" cap="none" strike="noStrike">
                <a:solidFill>
                  <a:srgbClr val="D7DEEA"/>
                </a:solidFill>
                <a:latin typeface="Courier New"/>
                <a:ea typeface="Courier New"/>
                <a:cs typeface="Courier New"/>
                <a:sym typeface="Courier New"/>
              </a:rPr>
              <a:t>BODY</a:t>
            </a:r>
            <a:endParaRPr b="0" i="0" sz="700" u="none" cap="none" strike="noStrike">
              <a:solidFill>
                <a:schemeClr val="dk1"/>
              </a:solidFill>
              <a:latin typeface="Calibri"/>
              <a:ea typeface="Calibri"/>
              <a:cs typeface="Calibri"/>
              <a:sym typeface="Calibri"/>
            </a:endParaRPr>
          </a:p>
          <a:p>
            <a:pPr indent="0" lvl="0" marL="0" marR="0" rtl="0" algn="ctr">
              <a:lnSpc>
                <a:spcPct val="150000"/>
              </a:lnSpc>
              <a:spcBef>
                <a:spcPts val="0"/>
              </a:spcBef>
              <a:spcAft>
                <a:spcPts val="0"/>
              </a:spcAft>
              <a:buClr>
                <a:srgbClr val="D7DEEA"/>
              </a:buClr>
              <a:buSzPts val="700"/>
              <a:buFont typeface="Courier New"/>
              <a:buNone/>
            </a:pPr>
            <a:r>
              <a:rPr b="1" i="0" lang="en" sz="700" u="none" cap="none" strike="noStrike">
                <a:solidFill>
                  <a:srgbClr val="D7DEEA"/>
                </a:solidFill>
                <a:latin typeface="Courier New"/>
                <a:ea typeface="Courier New"/>
                <a:cs typeface="Courier New"/>
                <a:sym typeface="Courier New"/>
              </a:rPr>
              <a:t>HARNESS</a:t>
            </a:r>
            <a:endParaRPr b="0" i="0" sz="700" u="none" cap="none" strike="noStrike">
              <a:solidFill>
                <a:schemeClr val="dk1"/>
              </a:solidFill>
              <a:latin typeface="Calibri"/>
              <a:ea typeface="Calibri"/>
              <a:cs typeface="Calibri"/>
              <a:sym typeface="Calibri"/>
            </a:endParaRPr>
          </a:p>
        </p:txBody>
      </p:sp>
      <p:sp>
        <p:nvSpPr>
          <p:cNvPr id="63" name="Google Shape;63;p15"/>
          <p:cNvSpPr/>
          <p:nvPr/>
        </p:nvSpPr>
        <p:spPr>
          <a:xfrm>
            <a:off x="3415284" y="3442716"/>
            <a:ext cx="864108" cy="589788"/>
          </a:xfrm>
          <a:prstGeom prst="roundRect">
            <a:avLst>
              <a:gd fmla="val 11628" name="adj"/>
            </a:avLst>
          </a:prstGeom>
          <a:solidFill>
            <a:srgbClr val="102A34"/>
          </a:solidFill>
          <a:ln cap="flat" cmpd="sng" w="12700">
            <a:solidFill>
              <a:srgbClr val="1EACC3"/>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22D3EE"/>
              </a:buClr>
              <a:buSzPts val="700"/>
              <a:buFont typeface="Courier New"/>
              <a:buNone/>
            </a:pPr>
            <a:r>
              <a:rPr b="1" i="0" lang="en" sz="700" u="none" cap="none" strike="noStrike">
                <a:solidFill>
                  <a:srgbClr val="22D3EE"/>
                </a:solidFill>
                <a:latin typeface="Courier New"/>
                <a:ea typeface="Courier New"/>
                <a:cs typeface="Courier New"/>
                <a:sym typeface="Courier New"/>
              </a:rPr>
              <a:t>PORT</a:t>
            </a:r>
            <a:endParaRPr b="0" i="0" sz="700" u="none" cap="none" strike="noStrike">
              <a:solidFill>
                <a:schemeClr val="dk1"/>
              </a:solidFill>
              <a:latin typeface="Calibri"/>
              <a:ea typeface="Calibri"/>
              <a:cs typeface="Calibri"/>
              <a:sym typeface="Calibri"/>
            </a:endParaRPr>
          </a:p>
          <a:p>
            <a:pPr indent="0" lvl="0" marL="0" marR="0" rtl="0" algn="ctr">
              <a:lnSpc>
                <a:spcPct val="150000"/>
              </a:lnSpc>
              <a:spcBef>
                <a:spcPts val="0"/>
              </a:spcBef>
              <a:spcAft>
                <a:spcPts val="0"/>
              </a:spcAft>
              <a:buClr>
                <a:srgbClr val="22D3EE"/>
              </a:buClr>
              <a:buSzPts val="700"/>
              <a:buFont typeface="Courier New"/>
              <a:buNone/>
            </a:pPr>
            <a:r>
              <a:rPr b="1" i="0" lang="en" sz="700" u="none" cap="none" strike="noStrike">
                <a:solidFill>
                  <a:srgbClr val="22D3EE"/>
                </a:solidFill>
                <a:latin typeface="Courier New"/>
                <a:ea typeface="Courier New"/>
                <a:cs typeface="Courier New"/>
                <a:sym typeface="Courier New"/>
              </a:rPr>
              <a:t>MCP</a:t>
            </a:r>
            <a:endParaRPr b="0" i="0" sz="700" u="none" cap="none" strike="noStrike">
              <a:solidFill>
                <a:schemeClr val="dk1"/>
              </a:solidFill>
              <a:latin typeface="Calibri"/>
              <a:ea typeface="Calibri"/>
              <a:cs typeface="Calibri"/>
              <a:sym typeface="Calibri"/>
            </a:endParaRPr>
          </a:p>
        </p:txBody>
      </p:sp>
      <p:sp>
        <p:nvSpPr>
          <p:cNvPr id="64" name="Google Shape;64;p15"/>
          <p:cNvSpPr/>
          <p:nvPr/>
        </p:nvSpPr>
        <p:spPr>
          <a:xfrm>
            <a:off x="4539996" y="836676"/>
            <a:ext cx="4155948" cy="3086100"/>
          </a:xfrm>
          <a:prstGeom prst="roundRect">
            <a:avLst>
              <a:gd fmla="val 2889" name="adj"/>
            </a:avLst>
          </a:prstGeom>
          <a:solidFill>
            <a:srgbClr val="0D0F16"/>
          </a:solidFill>
          <a:ln cap="flat" cmpd="sng" w="12700">
            <a:solidFill>
              <a:srgbClr val="1F475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home/claude/art/out/hero.png" id="65" name="Google Shape;65;p15"/>
          <p:cNvPicPr preferRelativeResize="0"/>
          <p:nvPr/>
        </p:nvPicPr>
        <p:blipFill rotWithShape="1">
          <a:blip r:embed="rId4">
            <a:alphaModFix/>
          </a:blip>
          <a:srcRect b="0" l="0" r="0" t="0"/>
          <a:stretch/>
        </p:blipFill>
        <p:spPr>
          <a:xfrm>
            <a:off x="4649724" y="1062990"/>
            <a:ext cx="3936492" cy="2462022"/>
          </a:xfrm>
          <a:prstGeom prst="rect">
            <a:avLst/>
          </a:prstGeom>
          <a:noFill/>
          <a:ln>
            <a:noFill/>
          </a:ln>
        </p:spPr>
      </p:pic>
      <p:sp>
        <p:nvSpPr>
          <p:cNvPr id="66" name="Google Shape;66;p15"/>
          <p:cNvSpPr/>
          <p:nvPr/>
        </p:nvSpPr>
        <p:spPr>
          <a:xfrm>
            <a:off x="4649724" y="3538728"/>
            <a:ext cx="3936492"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D3EE"/>
              </a:buClr>
              <a:buSzPts val="700"/>
              <a:buFont typeface="Courier New"/>
              <a:buNone/>
            </a:pPr>
            <a:r>
              <a:rPr b="1" i="0" lang="en" sz="700" u="none" cap="none" strike="noStrike">
                <a:solidFill>
                  <a:srgbClr val="22D3EE"/>
                </a:solidFill>
                <a:latin typeface="Courier New"/>
                <a:ea typeface="Courier New"/>
                <a:cs typeface="Courier New"/>
                <a:sym typeface="Courier New"/>
              </a:rPr>
              <a:t>THE CAR IS THE LLM, AGENT and Harness. MCP IS THE PORT IT PLUGS INTO.</a:t>
            </a:r>
            <a:endParaRPr b="0" i="0" sz="700" u="none" cap="none" strike="noStrike">
              <a:solidFill>
                <a:schemeClr val="dk1"/>
              </a:solidFill>
              <a:latin typeface="Calibri"/>
              <a:ea typeface="Calibri"/>
              <a:cs typeface="Calibri"/>
              <a:sym typeface="Calibri"/>
            </a:endParaRPr>
          </a:p>
        </p:txBody>
      </p:sp>
      <p:sp>
        <p:nvSpPr>
          <p:cNvPr id="67" name="Google Shape;67;p15"/>
          <p:cNvSpPr/>
          <p:nvPr/>
        </p:nvSpPr>
        <p:spPr>
          <a:xfrm>
            <a:off x="425196" y="4814316"/>
            <a:ext cx="54864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4759"/>
              </a:buClr>
              <a:buSzPts val="600"/>
              <a:buFont typeface="Courier New"/>
              <a:buNone/>
            </a:pPr>
            <a:r>
              <a:rPr b="0" i="0" lang="en" sz="600" u="none" cap="none" strike="noStrike">
                <a:solidFill>
                  <a:srgbClr val="3E4759"/>
                </a:solidFill>
                <a:latin typeface="Courier New"/>
                <a:ea typeface="Courier New"/>
                <a:cs typeface="Courier New"/>
                <a:sym typeface="Courier New"/>
              </a:rPr>
              <a:t>OWASP MCP Top 10 · v0.1 beta (Phase 3, pilot testing) · owasp.org/www-project-mcp-top-10</a:t>
            </a:r>
            <a:endParaRPr b="0" i="0" sz="6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2" name="Shape 72"/>
        <p:cNvGrpSpPr/>
        <p:nvPr/>
      </p:nvGrpSpPr>
      <p:grpSpPr>
        <a:xfrm>
          <a:off x="0" y="0"/>
          <a:ext cx="0" cy="0"/>
          <a:chOff x="0" y="0"/>
          <a:chExt cx="0" cy="0"/>
        </a:xfrm>
      </p:grpSpPr>
      <p:sp>
        <p:nvSpPr>
          <p:cNvPr id="73" name="Google Shape;73;p16"/>
          <p:cNvSpPr/>
          <p:nvPr/>
        </p:nvSpPr>
        <p:spPr>
          <a:xfrm>
            <a:off x="425196" y="411480"/>
            <a:ext cx="1027328" cy="212598"/>
          </a:xfrm>
          <a:prstGeom prst="roundRect">
            <a:avLst>
              <a:gd fmla="val 29032" name="adj"/>
            </a:avLst>
          </a:prstGeom>
          <a:solidFill>
            <a:srgbClr val="0B222A"/>
          </a:solidFill>
          <a:ln cap="flat" cmpd="sng" w="12700">
            <a:solidFill>
              <a:srgbClr val="167889"/>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22D3EE"/>
              </a:buClr>
              <a:buSzPts val="800"/>
              <a:buFont typeface="Courier New"/>
              <a:buNone/>
            </a:pPr>
            <a:r>
              <a:rPr b="1" i="0" lang="en" sz="800" u="none" cap="none" strike="noStrike">
                <a:solidFill>
                  <a:srgbClr val="22D3EE"/>
                </a:solidFill>
                <a:latin typeface="Courier New"/>
                <a:ea typeface="Courier New"/>
                <a:cs typeface="Courier New"/>
                <a:sym typeface="Courier New"/>
              </a:rPr>
              <a:t>THE ANALOGY</a:t>
            </a:r>
            <a:endParaRPr b="0" i="0" sz="800" u="none" cap="none" strike="noStrike">
              <a:solidFill>
                <a:schemeClr val="dk1"/>
              </a:solidFill>
              <a:latin typeface="Calibri"/>
              <a:ea typeface="Calibri"/>
              <a:cs typeface="Calibri"/>
              <a:sym typeface="Calibri"/>
            </a:endParaRPr>
          </a:p>
        </p:txBody>
      </p:sp>
      <p:sp>
        <p:nvSpPr>
          <p:cNvPr id="74" name="Google Shape;74;p16"/>
          <p:cNvSpPr/>
          <p:nvPr/>
        </p:nvSpPr>
        <p:spPr>
          <a:xfrm>
            <a:off x="425196" y="699516"/>
            <a:ext cx="3737610" cy="905256"/>
          </a:xfrm>
          <a:prstGeom prst="rect">
            <a:avLst/>
          </a:prstGeom>
          <a:noFill/>
          <a:ln>
            <a:noFill/>
          </a:ln>
        </p:spPr>
        <p:txBody>
          <a:bodyPr anchorCtr="0" anchor="t" bIns="0" lIns="0" spcFirstLastPara="1" rIns="0" wrap="square" tIns="0">
            <a:noAutofit/>
          </a:bodyPr>
          <a:lstStyle/>
          <a:p>
            <a:pPr indent="0" lvl="0" marL="0" marR="0" rtl="0" algn="l">
              <a:lnSpc>
                <a:spcPct val="92000"/>
              </a:lnSpc>
              <a:spcBef>
                <a:spcPts val="0"/>
              </a:spcBef>
              <a:spcAft>
                <a:spcPts val="0"/>
              </a:spcAft>
              <a:buClr>
                <a:srgbClr val="FFFFFF"/>
              </a:buClr>
              <a:buSzPts val="2700"/>
              <a:buFont typeface="Arial"/>
              <a:buNone/>
            </a:pPr>
            <a:r>
              <a:rPr b="1" i="0" lang="en" sz="2700" u="none" cap="none" strike="noStrike">
                <a:solidFill>
                  <a:srgbClr val="FFFFFF"/>
                </a:solidFill>
                <a:latin typeface="Arial"/>
                <a:ea typeface="Arial"/>
                <a:cs typeface="Arial"/>
                <a:sym typeface="Arial"/>
              </a:rPr>
              <a:t>One Car, </a:t>
            </a:r>
            <a:r>
              <a:rPr b="1" i="0" lang="en" sz="2700" u="none" cap="none" strike="noStrike">
                <a:solidFill>
                  <a:srgbClr val="22D3EE"/>
                </a:solidFill>
                <a:latin typeface="Arial"/>
                <a:ea typeface="Arial"/>
                <a:cs typeface="Arial"/>
                <a:sym typeface="Arial"/>
              </a:rPr>
              <a:t>Four Parts</a:t>
            </a:r>
            <a:endParaRPr b="0" i="0" sz="2700" u="none" cap="none" strike="noStrike">
              <a:solidFill>
                <a:schemeClr val="dk1"/>
              </a:solidFill>
              <a:latin typeface="Calibri"/>
              <a:ea typeface="Calibri"/>
              <a:cs typeface="Calibri"/>
              <a:sym typeface="Calibri"/>
            </a:endParaRPr>
          </a:p>
        </p:txBody>
      </p:sp>
      <p:sp>
        <p:nvSpPr>
          <p:cNvPr id="75" name="Google Shape;75;p16"/>
          <p:cNvSpPr/>
          <p:nvPr/>
        </p:nvSpPr>
        <p:spPr>
          <a:xfrm>
            <a:off x="425196" y="1591056"/>
            <a:ext cx="3566160" cy="685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93A0B7"/>
              </a:buClr>
              <a:buSzPts val="900"/>
              <a:buFont typeface="Arial"/>
              <a:buNone/>
            </a:pPr>
            <a:r>
              <a:rPr b="0" i="0" lang="en" sz="900" u="none" cap="none" strike="noStrike">
                <a:solidFill>
                  <a:srgbClr val="93A0B7"/>
                </a:solidFill>
                <a:latin typeface="Arial"/>
                <a:ea typeface="Arial"/>
                <a:cs typeface="Arial"/>
                <a:sym typeface="Arial"/>
              </a:rPr>
              <a:t>Keep this picture in your head. Every risk that follows is a problem with the port and what plugs into it — never with the thinking itself.</a:t>
            </a:r>
            <a:endParaRPr b="0" i="0" sz="900" u="none" cap="none" strike="noStrike">
              <a:solidFill>
                <a:schemeClr val="dk1"/>
              </a:solidFill>
              <a:latin typeface="Calibri"/>
              <a:ea typeface="Calibri"/>
              <a:cs typeface="Calibri"/>
              <a:sym typeface="Calibri"/>
            </a:endParaRPr>
          </a:p>
        </p:txBody>
      </p:sp>
      <p:sp>
        <p:nvSpPr>
          <p:cNvPr id="76" name="Google Shape;76;p16"/>
          <p:cNvSpPr/>
          <p:nvPr/>
        </p:nvSpPr>
        <p:spPr>
          <a:xfrm>
            <a:off x="425196" y="2400300"/>
            <a:ext cx="3648456" cy="507492"/>
          </a:xfrm>
          <a:prstGeom prst="roundRect">
            <a:avLst>
              <a:gd fmla="val 13514" name="adj"/>
            </a:avLst>
          </a:prstGeom>
          <a:solidFill>
            <a:srgbClr val="0D0F16"/>
          </a:solidFill>
          <a:ln cap="flat" cmpd="sng" w="12700">
            <a:solidFill>
              <a:srgbClr val="4A433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7" name="Google Shape;77;p16"/>
          <p:cNvSpPr/>
          <p:nvPr/>
        </p:nvSpPr>
        <p:spPr>
          <a:xfrm>
            <a:off x="576072" y="2544318"/>
            <a:ext cx="219456" cy="219456"/>
          </a:xfrm>
          <a:prstGeom prst="ellipse">
            <a:avLst/>
          </a:prstGeom>
          <a:solidFill>
            <a:srgbClr val="413619"/>
          </a:solidFill>
          <a:ln cap="flat" cmpd="sng" w="12700">
            <a:solidFill>
              <a:srgbClr val="FBBF2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8" name="Google Shape;78;p16"/>
          <p:cNvSpPr/>
          <p:nvPr/>
        </p:nvSpPr>
        <p:spPr>
          <a:xfrm>
            <a:off x="576072" y="2544318"/>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BBF24"/>
              </a:buClr>
              <a:buSzPts val="800"/>
              <a:buFont typeface="Courier New"/>
              <a:buNone/>
            </a:pPr>
            <a:r>
              <a:rPr b="1" i="0" lang="en" sz="800" u="none" cap="none" strike="noStrike">
                <a:solidFill>
                  <a:srgbClr val="FBBF24"/>
                </a:solidFill>
                <a:latin typeface="Courier New"/>
                <a:ea typeface="Courier New"/>
                <a:cs typeface="Courier New"/>
                <a:sym typeface="Courier New"/>
              </a:rPr>
              <a:t>1</a:t>
            </a:r>
            <a:endParaRPr b="0" i="0" sz="800" u="none" cap="none" strike="noStrike">
              <a:solidFill>
                <a:schemeClr val="dk1"/>
              </a:solidFill>
              <a:latin typeface="Calibri"/>
              <a:ea typeface="Calibri"/>
              <a:cs typeface="Calibri"/>
              <a:sym typeface="Calibri"/>
            </a:endParaRPr>
          </a:p>
        </p:txBody>
      </p:sp>
      <p:sp>
        <p:nvSpPr>
          <p:cNvPr id="79" name="Google Shape;79;p16"/>
          <p:cNvSpPr/>
          <p:nvPr/>
        </p:nvSpPr>
        <p:spPr>
          <a:xfrm>
            <a:off x="891540" y="2475738"/>
            <a:ext cx="219456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i="0" lang="en" sz="900" u="none" cap="none" strike="noStrike">
                <a:solidFill>
                  <a:srgbClr val="FFFFFF"/>
                </a:solidFill>
                <a:latin typeface="Arial"/>
                <a:ea typeface="Arial"/>
                <a:cs typeface="Arial"/>
                <a:sym typeface="Arial"/>
              </a:rPr>
              <a:t>The Brain</a:t>
            </a:r>
            <a:endParaRPr b="0" i="0" sz="900" u="none" cap="none" strike="noStrike">
              <a:solidFill>
                <a:schemeClr val="dk1"/>
              </a:solidFill>
              <a:latin typeface="Calibri"/>
              <a:ea typeface="Calibri"/>
              <a:cs typeface="Calibri"/>
              <a:sym typeface="Calibri"/>
            </a:endParaRPr>
          </a:p>
        </p:txBody>
      </p:sp>
      <p:sp>
        <p:nvSpPr>
          <p:cNvPr id="80" name="Google Shape;80;p16"/>
          <p:cNvSpPr/>
          <p:nvPr/>
        </p:nvSpPr>
        <p:spPr>
          <a:xfrm>
            <a:off x="891540" y="2654046"/>
            <a:ext cx="219456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0B7"/>
              </a:buClr>
              <a:buSzPts val="800"/>
              <a:buFont typeface="Arial"/>
              <a:buNone/>
            </a:pPr>
            <a:r>
              <a:rPr b="0" i="0" lang="en" sz="800" u="none" cap="none" strike="noStrike">
                <a:solidFill>
                  <a:srgbClr val="93A0B7"/>
                </a:solidFill>
                <a:latin typeface="Arial"/>
                <a:ea typeface="Arial"/>
                <a:cs typeface="Arial"/>
                <a:sym typeface="Arial"/>
              </a:rPr>
              <a:t>Raw reasoning. Thinks, never acts.</a:t>
            </a:r>
            <a:endParaRPr b="0" i="0" sz="800" u="none" cap="none" strike="noStrike">
              <a:solidFill>
                <a:schemeClr val="dk1"/>
              </a:solidFill>
              <a:latin typeface="Calibri"/>
              <a:ea typeface="Calibri"/>
              <a:cs typeface="Calibri"/>
              <a:sym typeface="Calibri"/>
            </a:endParaRPr>
          </a:p>
        </p:txBody>
      </p:sp>
      <p:sp>
        <p:nvSpPr>
          <p:cNvPr id="81" name="Google Shape;81;p16"/>
          <p:cNvSpPr/>
          <p:nvPr/>
        </p:nvSpPr>
        <p:spPr>
          <a:xfrm>
            <a:off x="3168396" y="2537460"/>
            <a:ext cx="781812" cy="233172"/>
          </a:xfrm>
          <a:prstGeom prst="roundRect">
            <a:avLst>
              <a:gd fmla="val 20588" name="adj"/>
            </a:avLst>
          </a:prstGeom>
          <a:solidFill>
            <a:srgbClr val="2E2818"/>
          </a:solidFill>
          <a:ln cap="flat" cmpd="sng" w="12700">
            <a:solidFill>
              <a:srgbClr val="9C791E"/>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BBF24"/>
              </a:buClr>
              <a:buSzPts val="600"/>
              <a:buFont typeface="Courier New"/>
              <a:buNone/>
            </a:pPr>
            <a:r>
              <a:rPr b="1" i="0" lang="en" sz="600" u="none" cap="none" strike="noStrike">
                <a:solidFill>
                  <a:srgbClr val="FBBF24"/>
                </a:solidFill>
                <a:latin typeface="Courier New"/>
                <a:ea typeface="Courier New"/>
                <a:cs typeface="Courier New"/>
                <a:sym typeface="Courier New"/>
              </a:rPr>
              <a:t>LLM</a:t>
            </a:r>
            <a:endParaRPr b="0" i="0" sz="600" u="none" cap="none" strike="noStrike">
              <a:solidFill>
                <a:schemeClr val="dk1"/>
              </a:solidFill>
              <a:latin typeface="Calibri"/>
              <a:ea typeface="Calibri"/>
              <a:cs typeface="Calibri"/>
              <a:sym typeface="Calibri"/>
            </a:endParaRPr>
          </a:p>
        </p:txBody>
      </p:sp>
      <p:sp>
        <p:nvSpPr>
          <p:cNvPr id="82" name="Google Shape;82;p16"/>
          <p:cNvSpPr/>
          <p:nvPr/>
        </p:nvSpPr>
        <p:spPr>
          <a:xfrm>
            <a:off x="425196" y="2990088"/>
            <a:ext cx="3648456" cy="507492"/>
          </a:xfrm>
          <a:prstGeom prst="roundRect">
            <a:avLst>
              <a:gd fmla="val 13514" name="adj"/>
            </a:avLst>
          </a:prstGeom>
          <a:solidFill>
            <a:srgbClr val="0D0F16"/>
          </a:solidFill>
          <a:ln cap="flat" cmpd="sng" w="12700">
            <a:solidFill>
              <a:srgbClr val="34365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3" name="Google Shape;83;p16"/>
          <p:cNvSpPr/>
          <p:nvPr/>
        </p:nvSpPr>
        <p:spPr>
          <a:xfrm>
            <a:off x="576072" y="3134106"/>
            <a:ext cx="219456" cy="219456"/>
          </a:xfrm>
          <a:prstGeom prst="ellipse">
            <a:avLst/>
          </a:prstGeom>
          <a:solidFill>
            <a:srgbClr val="292747"/>
          </a:solidFill>
          <a:ln cap="flat" cmpd="sng" w="12700">
            <a:solidFill>
              <a:srgbClr val="8B7C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4" name="Google Shape;84;p16"/>
          <p:cNvSpPr/>
          <p:nvPr/>
        </p:nvSpPr>
        <p:spPr>
          <a:xfrm>
            <a:off x="576072" y="3134106"/>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7CF6"/>
              </a:buClr>
              <a:buSzPts val="800"/>
              <a:buFont typeface="Courier New"/>
              <a:buNone/>
            </a:pPr>
            <a:r>
              <a:rPr b="1" i="0" lang="en" sz="800" u="none" cap="none" strike="noStrike">
                <a:solidFill>
                  <a:srgbClr val="8B7CF6"/>
                </a:solidFill>
                <a:latin typeface="Courier New"/>
                <a:ea typeface="Courier New"/>
                <a:cs typeface="Courier New"/>
                <a:sym typeface="Courier New"/>
              </a:rPr>
              <a:t>2</a:t>
            </a:r>
            <a:endParaRPr b="0" i="0" sz="800" u="none" cap="none" strike="noStrike">
              <a:solidFill>
                <a:schemeClr val="dk1"/>
              </a:solidFill>
              <a:latin typeface="Calibri"/>
              <a:ea typeface="Calibri"/>
              <a:cs typeface="Calibri"/>
              <a:sym typeface="Calibri"/>
            </a:endParaRPr>
          </a:p>
        </p:txBody>
      </p:sp>
      <p:sp>
        <p:nvSpPr>
          <p:cNvPr id="85" name="Google Shape;85;p16"/>
          <p:cNvSpPr/>
          <p:nvPr/>
        </p:nvSpPr>
        <p:spPr>
          <a:xfrm>
            <a:off x="891540" y="3065526"/>
            <a:ext cx="219456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i="0" lang="en" sz="900" u="none" cap="none" strike="noStrike">
                <a:solidFill>
                  <a:srgbClr val="FFFFFF"/>
                </a:solidFill>
                <a:latin typeface="Arial"/>
                <a:ea typeface="Arial"/>
                <a:cs typeface="Arial"/>
                <a:sym typeface="Arial"/>
              </a:rPr>
              <a:t>Driver</a:t>
            </a:r>
            <a:endParaRPr b="0" i="0" sz="900" u="none" cap="none" strike="noStrike">
              <a:solidFill>
                <a:schemeClr val="dk1"/>
              </a:solidFill>
              <a:latin typeface="Calibri"/>
              <a:ea typeface="Calibri"/>
              <a:cs typeface="Calibri"/>
              <a:sym typeface="Calibri"/>
            </a:endParaRPr>
          </a:p>
        </p:txBody>
      </p:sp>
      <p:sp>
        <p:nvSpPr>
          <p:cNvPr id="86" name="Google Shape;86;p16"/>
          <p:cNvSpPr/>
          <p:nvPr/>
        </p:nvSpPr>
        <p:spPr>
          <a:xfrm>
            <a:off x="891540" y="3243834"/>
            <a:ext cx="219456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0B7"/>
              </a:buClr>
              <a:buSzPts val="800"/>
              <a:buFont typeface="Arial"/>
              <a:buNone/>
            </a:pPr>
            <a:r>
              <a:rPr b="0" i="0" lang="en" sz="800" u="none" cap="none" strike="noStrike">
                <a:solidFill>
                  <a:srgbClr val="93A0B7"/>
                </a:solidFill>
                <a:latin typeface="Arial"/>
                <a:ea typeface="Arial"/>
                <a:cs typeface="Arial"/>
                <a:sym typeface="Arial"/>
              </a:rPr>
              <a:t>Decides what to do, when, in what order.</a:t>
            </a:r>
            <a:endParaRPr b="0" i="0" sz="800" u="none" cap="none" strike="noStrike">
              <a:solidFill>
                <a:schemeClr val="dk1"/>
              </a:solidFill>
              <a:latin typeface="Calibri"/>
              <a:ea typeface="Calibri"/>
              <a:cs typeface="Calibri"/>
              <a:sym typeface="Calibri"/>
            </a:endParaRPr>
          </a:p>
        </p:txBody>
      </p:sp>
      <p:sp>
        <p:nvSpPr>
          <p:cNvPr id="87" name="Google Shape;87;p16"/>
          <p:cNvSpPr/>
          <p:nvPr/>
        </p:nvSpPr>
        <p:spPr>
          <a:xfrm>
            <a:off x="3168396" y="3127248"/>
            <a:ext cx="781812" cy="233172"/>
          </a:xfrm>
          <a:prstGeom prst="roundRect">
            <a:avLst>
              <a:gd fmla="val 20588" name="adj"/>
            </a:avLst>
          </a:prstGeom>
          <a:solidFill>
            <a:srgbClr val="1F1E35"/>
          </a:solidFill>
          <a:ln cap="flat" cmpd="sng" w="12700">
            <a:solidFill>
              <a:srgbClr val="59509C"/>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8B7CF6"/>
              </a:buClr>
              <a:buSzPts val="600"/>
              <a:buFont typeface="Courier New"/>
              <a:buNone/>
            </a:pPr>
            <a:r>
              <a:rPr b="1" i="0" lang="en" sz="600" u="none" cap="none" strike="noStrike">
                <a:solidFill>
                  <a:srgbClr val="8B7CF6"/>
                </a:solidFill>
                <a:latin typeface="Courier New"/>
                <a:ea typeface="Courier New"/>
                <a:cs typeface="Courier New"/>
                <a:sym typeface="Courier New"/>
              </a:rPr>
              <a:t>AI AGENT</a:t>
            </a:r>
            <a:endParaRPr b="0" i="0" sz="600" u="none" cap="none" strike="noStrike">
              <a:solidFill>
                <a:schemeClr val="dk1"/>
              </a:solidFill>
              <a:latin typeface="Calibri"/>
              <a:ea typeface="Calibri"/>
              <a:cs typeface="Calibri"/>
              <a:sym typeface="Calibri"/>
            </a:endParaRPr>
          </a:p>
        </p:txBody>
      </p:sp>
      <p:sp>
        <p:nvSpPr>
          <p:cNvPr id="88" name="Google Shape;88;p16"/>
          <p:cNvSpPr/>
          <p:nvPr/>
        </p:nvSpPr>
        <p:spPr>
          <a:xfrm>
            <a:off x="425196" y="3579876"/>
            <a:ext cx="3648456" cy="507492"/>
          </a:xfrm>
          <a:prstGeom prst="roundRect">
            <a:avLst>
              <a:gd fmla="val 13514" name="adj"/>
            </a:avLst>
          </a:prstGeom>
          <a:solidFill>
            <a:srgbClr val="0D0F16"/>
          </a:solidFill>
          <a:ln cap="flat" cmpd="sng" w="12700">
            <a:solidFill>
              <a:srgbClr val="27395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9" name="Google Shape;89;p16"/>
          <p:cNvSpPr/>
          <p:nvPr/>
        </p:nvSpPr>
        <p:spPr>
          <a:xfrm>
            <a:off x="576072" y="3723894"/>
            <a:ext cx="219456" cy="219456"/>
          </a:xfrm>
          <a:prstGeom prst="ellipse">
            <a:avLst/>
          </a:prstGeom>
          <a:solidFill>
            <a:srgbClr val="1B2B47"/>
          </a:solidFill>
          <a:ln cap="flat" cmpd="sng" w="12700">
            <a:solidFill>
              <a:srgbClr val="4C8D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0" name="Google Shape;90;p16"/>
          <p:cNvSpPr/>
          <p:nvPr/>
        </p:nvSpPr>
        <p:spPr>
          <a:xfrm>
            <a:off x="576072" y="3723894"/>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C8DF6"/>
              </a:buClr>
              <a:buSzPts val="800"/>
              <a:buFont typeface="Courier New"/>
              <a:buNone/>
            </a:pPr>
            <a:r>
              <a:rPr b="1" i="0" lang="en" sz="800" u="none" cap="none" strike="noStrike">
                <a:solidFill>
                  <a:srgbClr val="4C8DF6"/>
                </a:solidFill>
                <a:latin typeface="Courier New"/>
                <a:ea typeface="Courier New"/>
                <a:cs typeface="Courier New"/>
                <a:sym typeface="Courier New"/>
              </a:rPr>
              <a:t>3</a:t>
            </a:r>
            <a:endParaRPr b="0" i="0" sz="800" u="none" cap="none" strike="noStrike">
              <a:solidFill>
                <a:schemeClr val="dk1"/>
              </a:solidFill>
              <a:latin typeface="Calibri"/>
              <a:ea typeface="Calibri"/>
              <a:cs typeface="Calibri"/>
              <a:sym typeface="Calibri"/>
            </a:endParaRPr>
          </a:p>
        </p:txBody>
      </p:sp>
      <p:sp>
        <p:nvSpPr>
          <p:cNvPr id="91" name="Google Shape;91;p16"/>
          <p:cNvSpPr/>
          <p:nvPr/>
        </p:nvSpPr>
        <p:spPr>
          <a:xfrm>
            <a:off x="891540" y="3655314"/>
            <a:ext cx="219456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i="0" lang="en" sz="900" u="none" cap="none" strike="noStrike">
                <a:solidFill>
                  <a:srgbClr val="FFFFFF"/>
                </a:solidFill>
                <a:latin typeface="Arial"/>
                <a:ea typeface="Arial"/>
                <a:cs typeface="Arial"/>
                <a:sym typeface="Arial"/>
              </a:rPr>
              <a:t>Body &amp; Dashboard</a:t>
            </a:r>
            <a:endParaRPr b="0" i="0" sz="900" u="none" cap="none" strike="noStrike">
              <a:solidFill>
                <a:schemeClr val="dk1"/>
              </a:solidFill>
              <a:latin typeface="Calibri"/>
              <a:ea typeface="Calibri"/>
              <a:cs typeface="Calibri"/>
              <a:sym typeface="Calibri"/>
            </a:endParaRPr>
          </a:p>
        </p:txBody>
      </p:sp>
      <p:sp>
        <p:nvSpPr>
          <p:cNvPr id="92" name="Google Shape;92;p16"/>
          <p:cNvSpPr/>
          <p:nvPr/>
        </p:nvSpPr>
        <p:spPr>
          <a:xfrm>
            <a:off x="891540" y="3833622"/>
            <a:ext cx="219456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0B7"/>
              </a:buClr>
              <a:buSzPts val="800"/>
              <a:buFont typeface="Arial"/>
              <a:buNone/>
            </a:pPr>
            <a:r>
              <a:rPr b="0" i="0" lang="en" sz="800" u="none" cap="none" strike="noStrike">
                <a:solidFill>
                  <a:srgbClr val="93A0B7"/>
                </a:solidFill>
                <a:latin typeface="Arial"/>
                <a:ea typeface="Arial"/>
                <a:cs typeface="Arial"/>
                <a:sym typeface="Arial"/>
              </a:rPr>
              <a:t>Wires it together. Shows what is happening.</a:t>
            </a:r>
            <a:endParaRPr b="0" i="0" sz="800" u="none" cap="none" strike="noStrike">
              <a:solidFill>
                <a:schemeClr val="dk1"/>
              </a:solidFill>
              <a:latin typeface="Calibri"/>
              <a:ea typeface="Calibri"/>
              <a:cs typeface="Calibri"/>
              <a:sym typeface="Calibri"/>
            </a:endParaRPr>
          </a:p>
        </p:txBody>
      </p:sp>
      <p:sp>
        <p:nvSpPr>
          <p:cNvPr id="93" name="Google Shape;93;p16"/>
          <p:cNvSpPr/>
          <p:nvPr/>
        </p:nvSpPr>
        <p:spPr>
          <a:xfrm>
            <a:off x="3168396" y="3717036"/>
            <a:ext cx="781812" cy="233172"/>
          </a:xfrm>
          <a:prstGeom prst="roundRect">
            <a:avLst>
              <a:gd fmla="val 20588" name="adj"/>
            </a:avLst>
          </a:prstGeom>
          <a:solidFill>
            <a:srgbClr val="162135"/>
          </a:solidFill>
          <a:ln cap="flat" cmpd="sng" w="12700">
            <a:solidFill>
              <a:srgbClr val="335B9C"/>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4C8DF6"/>
              </a:buClr>
              <a:buSzPts val="600"/>
              <a:buFont typeface="Courier New"/>
              <a:buNone/>
            </a:pPr>
            <a:r>
              <a:rPr b="1" i="0" lang="en" sz="600" u="none" cap="none" strike="noStrike">
                <a:solidFill>
                  <a:srgbClr val="4C8DF6"/>
                </a:solidFill>
                <a:latin typeface="Courier New"/>
                <a:ea typeface="Courier New"/>
                <a:cs typeface="Courier New"/>
                <a:sym typeface="Courier New"/>
              </a:rPr>
              <a:t>HARNESS</a:t>
            </a:r>
            <a:endParaRPr b="0" i="0" sz="600" u="none" cap="none" strike="noStrike">
              <a:solidFill>
                <a:schemeClr val="dk1"/>
              </a:solidFill>
              <a:latin typeface="Calibri"/>
              <a:ea typeface="Calibri"/>
              <a:cs typeface="Calibri"/>
              <a:sym typeface="Calibri"/>
            </a:endParaRPr>
          </a:p>
        </p:txBody>
      </p:sp>
      <p:sp>
        <p:nvSpPr>
          <p:cNvPr id="94" name="Google Shape;94;p16"/>
          <p:cNvSpPr/>
          <p:nvPr/>
        </p:nvSpPr>
        <p:spPr>
          <a:xfrm>
            <a:off x="425196" y="4169664"/>
            <a:ext cx="3648456" cy="507492"/>
          </a:xfrm>
          <a:prstGeom prst="roundRect">
            <a:avLst>
              <a:gd fmla="val 13514" name="adj"/>
            </a:avLst>
          </a:prstGeom>
          <a:solidFill>
            <a:srgbClr val="0E1B23"/>
          </a:solidFill>
          <a:ln cap="flat" cmpd="sng" w="12700">
            <a:solidFill>
              <a:srgbClr val="21A7B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5" name="Google Shape;95;p16"/>
          <p:cNvSpPr/>
          <p:nvPr/>
        </p:nvSpPr>
        <p:spPr>
          <a:xfrm>
            <a:off x="576072" y="4313682"/>
            <a:ext cx="219456" cy="219456"/>
          </a:xfrm>
          <a:prstGeom prst="ellipse">
            <a:avLst/>
          </a:prstGeom>
          <a:solidFill>
            <a:srgbClr val="123A46"/>
          </a:solidFill>
          <a:ln cap="flat" cmpd="sng" w="12700">
            <a:solidFill>
              <a:srgbClr val="22D3E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6" name="Google Shape;96;p16"/>
          <p:cNvSpPr/>
          <p:nvPr/>
        </p:nvSpPr>
        <p:spPr>
          <a:xfrm>
            <a:off x="576072" y="4313682"/>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D3EE"/>
              </a:buClr>
              <a:buSzPts val="800"/>
              <a:buFont typeface="Courier New"/>
              <a:buNone/>
            </a:pPr>
            <a:r>
              <a:rPr b="1" i="0" lang="en" sz="800" u="none" cap="none" strike="noStrike">
                <a:solidFill>
                  <a:srgbClr val="22D3EE"/>
                </a:solidFill>
                <a:latin typeface="Courier New"/>
                <a:ea typeface="Courier New"/>
                <a:cs typeface="Courier New"/>
                <a:sym typeface="Courier New"/>
              </a:rPr>
              <a:t>4</a:t>
            </a:r>
            <a:endParaRPr b="0" i="0" sz="800" u="none" cap="none" strike="noStrike">
              <a:solidFill>
                <a:schemeClr val="dk1"/>
              </a:solidFill>
              <a:latin typeface="Calibri"/>
              <a:ea typeface="Calibri"/>
              <a:cs typeface="Calibri"/>
              <a:sym typeface="Calibri"/>
            </a:endParaRPr>
          </a:p>
        </p:txBody>
      </p:sp>
      <p:sp>
        <p:nvSpPr>
          <p:cNvPr id="97" name="Google Shape;97;p16"/>
          <p:cNvSpPr/>
          <p:nvPr/>
        </p:nvSpPr>
        <p:spPr>
          <a:xfrm>
            <a:off x="891540" y="4245102"/>
            <a:ext cx="219456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i="0" lang="en" sz="900" u="none" cap="none" strike="noStrike">
                <a:solidFill>
                  <a:srgbClr val="FFFFFF"/>
                </a:solidFill>
                <a:latin typeface="Arial"/>
                <a:ea typeface="Arial"/>
                <a:cs typeface="Arial"/>
                <a:sym typeface="Arial"/>
              </a:rPr>
              <a:t>The Port</a:t>
            </a:r>
            <a:endParaRPr b="0" i="0" sz="900" u="none" cap="none" strike="noStrike">
              <a:solidFill>
                <a:schemeClr val="dk1"/>
              </a:solidFill>
              <a:latin typeface="Calibri"/>
              <a:ea typeface="Calibri"/>
              <a:cs typeface="Calibri"/>
              <a:sym typeface="Calibri"/>
            </a:endParaRPr>
          </a:p>
        </p:txBody>
      </p:sp>
      <p:sp>
        <p:nvSpPr>
          <p:cNvPr id="98" name="Google Shape;98;p16"/>
          <p:cNvSpPr/>
          <p:nvPr/>
        </p:nvSpPr>
        <p:spPr>
          <a:xfrm>
            <a:off x="891540" y="4423410"/>
            <a:ext cx="219456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0B7"/>
              </a:buClr>
              <a:buSzPts val="800"/>
              <a:buFont typeface="Arial"/>
              <a:buNone/>
            </a:pPr>
            <a:r>
              <a:rPr b="0" i="0" lang="en" sz="800" u="none" cap="none" strike="noStrike">
                <a:solidFill>
                  <a:srgbClr val="93A0B7"/>
                </a:solidFill>
                <a:latin typeface="Arial"/>
                <a:ea typeface="Arial"/>
                <a:cs typeface="Arial"/>
                <a:sym typeface="Arial"/>
              </a:rPr>
              <a:t>The universal plug to the outside world.</a:t>
            </a:r>
            <a:endParaRPr b="0" i="0" sz="800" u="none" cap="none" strike="noStrike">
              <a:solidFill>
                <a:schemeClr val="dk1"/>
              </a:solidFill>
              <a:latin typeface="Calibri"/>
              <a:ea typeface="Calibri"/>
              <a:cs typeface="Calibri"/>
              <a:sym typeface="Calibri"/>
            </a:endParaRPr>
          </a:p>
        </p:txBody>
      </p:sp>
      <p:sp>
        <p:nvSpPr>
          <p:cNvPr id="99" name="Google Shape;99;p16"/>
          <p:cNvSpPr/>
          <p:nvPr/>
        </p:nvSpPr>
        <p:spPr>
          <a:xfrm>
            <a:off x="3168396" y="4306824"/>
            <a:ext cx="781812" cy="233172"/>
          </a:xfrm>
          <a:prstGeom prst="roundRect">
            <a:avLst>
              <a:gd fmla="val 20588" name="adj"/>
            </a:avLst>
          </a:prstGeom>
          <a:solidFill>
            <a:srgbClr val="102A34"/>
          </a:solidFill>
          <a:ln cap="flat" cmpd="sng" w="12700">
            <a:solidFill>
              <a:srgbClr val="1A8598"/>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22D3EE"/>
              </a:buClr>
              <a:buSzPts val="600"/>
              <a:buFont typeface="Courier New"/>
              <a:buNone/>
            </a:pPr>
            <a:r>
              <a:rPr b="1" i="0" lang="en" sz="600" u="none" cap="none" strike="noStrike">
                <a:solidFill>
                  <a:srgbClr val="22D3EE"/>
                </a:solidFill>
                <a:latin typeface="Courier New"/>
                <a:ea typeface="Courier New"/>
                <a:cs typeface="Courier New"/>
                <a:sym typeface="Courier New"/>
              </a:rPr>
              <a:t>MCP</a:t>
            </a:r>
            <a:endParaRPr b="0" i="0" sz="600" u="none" cap="none" strike="noStrike">
              <a:solidFill>
                <a:schemeClr val="dk1"/>
              </a:solidFill>
              <a:latin typeface="Calibri"/>
              <a:ea typeface="Calibri"/>
              <a:cs typeface="Calibri"/>
              <a:sym typeface="Calibri"/>
            </a:endParaRPr>
          </a:p>
        </p:txBody>
      </p:sp>
      <p:sp>
        <p:nvSpPr>
          <p:cNvPr id="100" name="Google Shape;100;p16"/>
          <p:cNvSpPr/>
          <p:nvPr/>
        </p:nvSpPr>
        <p:spPr>
          <a:xfrm>
            <a:off x="4354830" y="425196"/>
            <a:ext cx="4389120" cy="4293108"/>
          </a:xfrm>
          <a:prstGeom prst="roundRect">
            <a:avLst>
              <a:gd fmla="val 2077" name="adj"/>
            </a:avLst>
          </a:prstGeom>
          <a:solidFill>
            <a:srgbClr val="0D0F16"/>
          </a:solidFill>
          <a:ln cap="flat" cmpd="sng" w="12700">
            <a:solidFill>
              <a:srgbClr val="1E243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1" name="Google Shape;101;p16"/>
          <p:cNvSpPr/>
          <p:nvPr/>
        </p:nvSpPr>
        <p:spPr>
          <a:xfrm>
            <a:off x="4539996" y="548640"/>
            <a:ext cx="40462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8748C"/>
              </a:buClr>
              <a:buSzPts val="700"/>
              <a:buFont typeface="Courier New"/>
              <a:buNone/>
            </a:pPr>
            <a:r>
              <a:rPr b="1" i="0" lang="en" sz="700" u="none" cap="none" strike="noStrike">
                <a:solidFill>
                  <a:srgbClr val="68748C"/>
                </a:solidFill>
                <a:latin typeface="Courier New"/>
                <a:ea typeface="Courier New"/>
                <a:cs typeface="Courier New"/>
                <a:sym typeface="Courier New"/>
              </a:rPr>
              <a:t>CAR ANATOMY</a:t>
            </a:r>
            <a:endParaRPr b="0" i="0" sz="700" u="none" cap="none" strike="noStrike">
              <a:solidFill>
                <a:schemeClr val="dk1"/>
              </a:solidFill>
              <a:latin typeface="Calibri"/>
              <a:ea typeface="Calibri"/>
              <a:cs typeface="Calibri"/>
              <a:sym typeface="Calibri"/>
            </a:endParaRPr>
          </a:p>
        </p:txBody>
      </p:sp>
      <p:sp>
        <p:nvSpPr>
          <p:cNvPr id="102" name="Google Shape;102;p16"/>
          <p:cNvSpPr/>
          <p:nvPr/>
        </p:nvSpPr>
        <p:spPr>
          <a:xfrm>
            <a:off x="4539996" y="768096"/>
            <a:ext cx="4018788" cy="7544"/>
          </a:xfrm>
          <a:prstGeom prst="rect">
            <a:avLst/>
          </a:prstGeom>
          <a:solidFill>
            <a:srgbClr val="181D2A"/>
          </a:solidFill>
          <a:ln cap="flat" cmpd="sng" w="12700">
            <a:solidFill>
              <a:srgbClr val="33333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home/claude/art/out/anatomy.png" id="103" name="Google Shape;103;p16"/>
          <p:cNvPicPr preferRelativeResize="0"/>
          <p:nvPr/>
        </p:nvPicPr>
        <p:blipFill rotWithShape="1">
          <a:blip r:embed="rId4">
            <a:alphaModFix/>
          </a:blip>
          <a:srcRect b="0" l="0" r="0" t="0"/>
          <a:stretch/>
        </p:blipFill>
        <p:spPr>
          <a:xfrm>
            <a:off x="4526280" y="905256"/>
            <a:ext cx="4046220" cy="2530602"/>
          </a:xfrm>
          <a:prstGeom prst="rect">
            <a:avLst/>
          </a:prstGeom>
          <a:noFill/>
          <a:ln>
            <a:noFill/>
          </a:ln>
        </p:spPr>
      </p:pic>
      <p:sp>
        <p:nvSpPr>
          <p:cNvPr id="104" name="Google Shape;104;p16"/>
          <p:cNvSpPr/>
          <p:nvPr/>
        </p:nvSpPr>
        <p:spPr>
          <a:xfrm>
            <a:off x="4539996" y="3621024"/>
            <a:ext cx="4018788" cy="905256"/>
          </a:xfrm>
          <a:prstGeom prst="roundRect">
            <a:avLst>
              <a:gd fmla="val 8333" name="adj"/>
            </a:avLst>
          </a:prstGeom>
          <a:solidFill>
            <a:srgbClr val="0E1D25"/>
          </a:solidFill>
          <a:ln cap="flat" cmpd="sng" w="12700">
            <a:solidFill>
              <a:srgbClr val="197B8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5" name="Google Shape;105;p16"/>
          <p:cNvSpPr/>
          <p:nvPr/>
        </p:nvSpPr>
        <p:spPr>
          <a:xfrm>
            <a:off x="4704588" y="3744468"/>
            <a:ext cx="370332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D3EE"/>
              </a:buClr>
              <a:buSzPts val="800"/>
              <a:buFont typeface="Courier New"/>
              <a:buNone/>
            </a:pPr>
            <a:r>
              <a:rPr b="1" i="0" lang="en" sz="800" u="none" cap="none" strike="noStrike">
                <a:solidFill>
                  <a:srgbClr val="22D3EE"/>
                </a:solidFill>
                <a:latin typeface="Courier New"/>
                <a:ea typeface="Courier New"/>
                <a:cs typeface="Courier New"/>
                <a:sym typeface="Courier New"/>
              </a:rPr>
              <a:t>MCP IS THE PORT</a:t>
            </a:r>
            <a:endParaRPr b="0" i="0" sz="800" u="none" cap="none" strike="noStrike">
              <a:solidFill>
                <a:schemeClr val="dk1"/>
              </a:solidFill>
              <a:latin typeface="Calibri"/>
              <a:ea typeface="Calibri"/>
              <a:cs typeface="Calibri"/>
              <a:sym typeface="Calibri"/>
            </a:endParaRPr>
          </a:p>
        </p:txBody>
      </p:sp>
      <p:sp>
        <p:nvSpPr>
          <p:cNvPr id="106" name="Google Shape;106;p16"/>
          <p:cNvSpPr/>
          <p:nvPr/>
        </p:nvSpPr>
        <p:spPr>
          <a:xfrm>
            <a:off x="4704588" y="3950208"/>
            <a:ext cx="3703320" cy="452628"/>
          </a:xfrm>
          <a:prstGeom prst="rect">
            <a:avLst/>
          </a:prstGeom>
          <a:noFill/>
          <a:ln>
            <a:noFill/>
          </a:ln>
        </p:spPr>
        <p:txBody>
          <a:bodyPr anchorCtr="0" anchor="t" bIns="0" lIns="0" spcFirstLastPara="1" rIns="0" wrap="square" tIns="0">
            <a:noAutofit/>
          </a:bodyPr>
          <a:lstStyle/>
          <a:p>
            <a:pPr indent="0" lvl="0" marL="0" marR="0" rtl="0" algn="l">
              <a:lnSpc>
                <a:spcPct val="114000"/>
              </a:lnSpc>
              <a:spcBef>
                <a:spcPts val="0"/>
              </a:spcBef>
              <a:spcAft>
                <a:spcPts val="0"/>
              </a:spcAft>
              <a:buClr>
                <a:srgbClr val="D7DEEA"/>
              </a:buClr>
              <a:buSzPts val="900"/>
              <a:buFont typeface="Arial"/>
              <a:buNone/>
            </a:pPr>
            <a:r>
              <a:rPr b="0" i="0" lang="en" sz="900" u="none" cap="none" strike="noStrike">
                <a:solidFill>
                  <a:srgbClr val="D7DEEA"/>
                </a:solidFill>
                <a:latin typeface="Arial"/>
                <a:ea typeface="Arial"/>
                <a:cs typeface="Arial"/>
                <a:sym typeface="Arial"/>
              </a:rPr>
              <a:t>One universal plug, so any driver can reach GPS, fuel pumps, toll booths and cameras. All ten risks live at this plug.</a:t>
            </a:r>
            <a:endParaRPr b="0" i="0" sz="900" u="none" cap="none" strike="noStrike">
              <a:solidFill>
                <a:schemeClr val="dk1"/>
              </a:solidFill>
              <a:latin typeface="Calibri"/>
              <a:ea typeface="Calibri"/>
              <a:cs typeface="Calibri"/>
              <a:sym typeface="Calibri"/>
            </a:endParaRPr>
          </a:p>
        </p:txBody>
      </p:sp>
      <p:sp>
        <p:nvSpPr>
          <p:cNvPr id="107" name="Google Shape;107;p16"/>
          <p:cNvSpPr/>
          <p:nvPr/>
        </p:nvSpPr>
        <p:spPr>
          <a:xfrm>
            <a:off x="425196" y="4814316"/>
            <a:ext cx="54864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4759"/>
              </a:buClr>
              <a:buSzPts val="600"/>
              <a:buFont typeface="Courier New"/>
              <a:buNone/>
            </a:pPr>
            <a:r>
              <a:rPr b="0" i="0" lang="en" sz="600" u="none" cap="none" strike="noStrike">
                <a:solidFill>
                  <a:srgbClr val="3E4759"/>
                </a:solidFill>
                <a:latin typeface="Courier New"/>
                <a:ea typeface="Courier New"/>
                <a:cs typeface="Courier New"/>
                <a:sym typeface="Courier New"/>
              </a:rPr>
              <a:t>OWASP MCP Top 10 · The Analogy</a:t>
            </a:r>
            <a:endParaRPr b="0" i="0" sz="6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2" name="Shape 112"/>
        <p:cNvGrpSpPr/>
        <p:nvPr/>
      </p:nvGrpSpPr>
      <p:grpSpPr>
        <a:xfrm>
          <a:off x="0" y="0"/>
          <a:ext cx="0" cy="0"/>
          <a:chOff x="0" y="0"/>
          <a:chExt cx="0" cy="0"/>
        </a:xfrm>
      </p:grpSpPr>
      <p:sp>
        <p:nvSpPr>
          <p:cNvPr id="113" name="Google Shape;113;p17"/>
          <p:cNvSpPr/>
          <p:nvPr/>
        </p:nvSpPr>
        <p:spPr>
          <a:xfrm>
            <a:off x="425196" y="411480"/>
            <a:ext cx="960120" cy="212598"/>
          </a:xfrm>
          <a:prstGeom prst="roundRect">
            <a:avLst>
              <a:gd fmla="val 29032" name="adj"/>
            </a:avLst>
          </a:prstGeom>
          <a:solidFill>
            <a:srgbClr val="26161A"/>
          </a:solidFill>
          <a:ln cap="flat" cmpd="sng" w="12700">
            <a:solidFill>
              <a:srgbClr val="8C4244"/>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87171"/>
              </a:buClr>
              <a:buSzPts val="800"/>
              <a:buFont typeface="Courier New"/>
              <a:buNone/>
            </a:pPr>
            <a:r>
              <a:rPr b="1" i="0" lang="en" sz="800" u="none" cap="none" strike="noStrike">
                <a:solidFill>
                  <a:srgbClr val="F87171"/>
                </a:solidFill>
                <a:latin typeface="Courier New"/>
                <a:ea typeface="Courier New"/>
                <a:cs typeface="Courier New"/>
                <a:sym typeface="Courier New"/>
              </a:rPr>
              <a:t>MCP01:2025</a:t>
            </a:r>
            <a:endParaRPr b="0" i="0" sz="800" u="none" cap="none" strike="noStrike">
              <a:solidFill>
                <a:schemeClr val="dk1"/>
              </a:solidFill>
              <a:latin typeface="Calibri"/>
              <a:ea typeface="Calibri"/>
              <a:cs typeface="Calibri"/>
              <a:sym typeface="Calibri"/>
            </a:endParaRPr>
          </a:p>
        </p:txBody>
      </p:sp>
      <p:sp>
        <p:nvSpPr>
          <p:cNvPr id="114" name="Google Shape;114;p17"/>
          <p:cNvSpPr/>
          <p:nvPr/>
        </p:nvSpPr>
        <p:spPr>
          <a:xfrm>
            <a:off x="425196" y="699516"/>
            <a:ext cx="3737610" cy="905256"/>
          </a:xfrm>
          <a:prstGeom prst="rect">
            <a:avLst/>
          </a:prstGeom>
          <a:noFill/>
          <a:ln>
            <a:noFill/>
          </a:ln>
        </p:spPr>
        <p:txBody>
          <a:bodyPr anchorCtr="0" anchor="t" bIns="0" lIns="0" spcFirstLastPara="1" rIns="0" wrap="square" tIns="0">
            <a:noAutofit/>
          </a:bodyPr>
          <a:lstStyle/>
          <a:p>
            <a:pPr indent="0" lvl="0" marL="0" marR="0" rtl="0" algn="l">
              <a:lnSpc>
                <a:spcPct val="92000"/>
              </a:lnSpc>
              <a:spcBef>
                <a:spcPts val="0"/>
              </a:spcBef>
              <a:spcAft>
                <a:spcPts val="0"/>
              </a:spcAft>
              <a:buClr>
                <a:srgbClr val="FFFFFF"/>
              </a:buClr>
              <a:buSzPts val="2300"/>
              <a:buFont typeface="Arial"/>
              <a:buNone/>
            </a:pPr>
            <a:r>
              <a:rPr b="1" i="0" lang="en" sz="2300" u="none" cap="none" strike="noStrike">
                <a:solidFill>
                  <a:srgbClr val="FFFFFF"/>
                </a:solidFill>
                <a:latin typeface="Arial"/>
                <a:ea typeface="Arial"/>
                <a:cs typeface="Arial"/>
                <a:sym typeface="Arial"/>
              </a:rPr>
              <a:t>Token Mismanagement &amp; </a:t>
            </a:r>
            <a:r>
              <a:rPr b="1" i="0" lang="en" sz="2300" u="none" cap="none" strike="noStrike">
                <a:solidFill>
                  <a:srgbClr val="F87171"/>
                </a:solidFill>
                <a:latin typeface="Arial"/>
                <a:ea typeface="Arial"/>
                <a:cs typeface="Arial"/>
                <a:sym typeface="Arial"/>
              </a:rPr>
              <a:t>Secret Exposure</a:t>
            </a:r>
            <a:endParaRPr b="0" i="0" sz="2300" u="none" cap="none" strike="noStrike">
              <a:solidFill>
                <a:schemeClr val="dk1"/>
              </a:solidFill>
              <a:latin typeface="Calibri"/>
              <a:ea typeface="Calibri"/>
              <a:cs typeface="Calibri"/>
              <a:sym typeface="Calibri"/>
            </a:endParaRPr>
          </a:p>
        </p:txBody>
      </p:sp>
      <p:sp>
        <p:nvSpPr>
          <p:cNvPr id="115" name="Google Shape;115;p17"/>
          <p:cNvSpPr/>
          <p:nvPr/>
        </p:nvSpPr>
        <p:spPr>
          <a:xfrm>
            <a:off x="425196" y="1687068"/>
            <a:ext cx="3566160" cy="45262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93A0B7"/>
              </a:buClr>
              <a:buSzPts val="900"/>
              <a:buFont typeface="Arial"/>
              <a:buNone/>
            </a:pPr>
            <a:r>
              <a:rPr b="0" i="0" lang="en" sz="900" u="none" cap="none" strike="noStrike">
                <a:solidFill>
                  <a:srgbClr val="93A0B7"/>
                </a:solidFill>
                <a:latin typeface="Arial"/>
                <a:ea typeface="Arial"/>
                <a:cs typeface="Arial"/>
                <a:sym typeface="Arial"/>
              </a:rPr>
              <a:t>Keys, tokens and secrets sit somewhere the model or an attacker can simply read them.</a:t>
            </a:r>
            <a:endParaRPr b="0" i="0" sz="900" u="none" cap="none" strike="noStrike">
              <a:solidFill>
                <a:schemeClr val="dk1"/>
              </a:solidFill>
              <a:latin typeface="Calibri"/>
              <a:ea typeface="Calibri"/>
              <a:cs typeface="Calibri"/>
              <a:sym typeface="Calibri"/>
            </a:endParaRPr>
          </a:p>
        </p:txBody>
      </p:sp>
      <p:sp>
        <p:nvSpPr>
          <p:cNvPr id="116" name="Google Shape;116;p17"/>
          <p:cNvSpPr/>
          <p:nvPr/>
        </p:nvSpPr>
        <p:spPr>
          <a:xfrm>
            <a:off x="425196" y="2441448"/>
            <a:ext cx="3648456" cy="905256"/>
          </a:xfrm>
          <a:prstGeom prst="roundRect">
            <a:avLst>
              <a:gd fmla="val 9848" name="adj"/>
            </a:avLst>
          </a:prstGeom>
          <a:solidFill>
            <a:srgbClr val="0D0F16"/>
          </a:solidFill>
          <a:ln cap="flat" cmpd="sng" w="12700">
            <a:solidFill>
              <a:srgbClr val="4E354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7" name="Google Shape;117;p17"/>
          <p:cNvSpPr/>
          <p:nvPr/>
        </p:nvSpPr>
        <p:spPr>
          <a:xfrm>
            <a:off x="603504" y="2736342"/>
            <a:ext cx="315468" cy="315468"/>
          </a:xfrm>
          <a:prstGeom prst="roundRect">
            <a:avLst>
              <a:gd fmla="val 23913" name="adj"/>
            </a:avLst>
          </a:prstGeom>
          <a:solidFill>
            <a:srgbClr val="331F25"/>
          </a:solidFill>
          <a:ln cap="flat" cmpd="sng" w="12700">
            <a:solidFill>
              <a:srgbClr val="83404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home/claude/art/out/icon-car.png" id="118" name="Google Shape;118;p17"/>
          <p:cNvPicPr preferRelativeResize="0"/>
          <p:nvPr/>
        </p:nvPicPr>
        <p:blipFill rotWithShape="1">
          <a:blip r:embed="rId4">
            <a:alphaModFix/>
          </a:blip>
          <a:srcRect b="0" l="0" r="0" t="0"/>
          <a:stretch/>
        </p:blipFill>
        <p:spPr>
          <a:xfrm>
            <a:off x="654939" y="2787777"/>
            <a:ext cx="212598" cy="212598"/>
          </a:xfrm>
          <a:prstGeom prst="rect">
            <a:avLst/>
          </a:prstGeom>
          <a:noFill/>
          <a:ln>
            <a:noFill/>
          </a:ln>
        </p:spPr>
      </p:pic>
      <p:sp>
        <p:nvSpPr>
          <p:cNvPr id="119" name="Google Shape;119;p17"/>
          <p:cNvSpPr/>
          <p:nvPr/>
        </p:nvSpPr>
        <p:spPr>
          <a:xfrm>
            <a:off x="1056132" y="2558034"/>
            <a:ext cx="2852928"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7171"/>
              </a:buClr>
              <a:buSzPts val="700"/>
              <a:buFont typeface="Courier New"/>
              <a:buNone/>
            </a:pPr>
            <a:r>
              <a:rPr b="1" i="0" lang="en" sz="700" u="none" cap="none" strike="noStrike">
                <a:solidFill>
                  <a:srgbClr val="F87171"/>
                </a:solidFill>
                <a:latin typeface="Courier New"/>
                <a:ea typeface="Courier New"/>
                <a:cs typeface="Courier New"/>
                <a:sym typeface="Courier New"/>
              </a:rPr>
              <a:t>IN THE CAR</a:t>
            </a:r>
            <a:endParaRPr b="0" i="0" sz="700" u="none" cap="none" strike="noStrike">
              <a:solidFill>
                <a:schemeClr val="dk1"/>
              </a:solidFill>
              <a:latin typeface="Calibri"/>
              <a:ea typeface="Calibri"/>
              <a:cs typeface="Calibri"/>
              <a:sym typeface="Calibri"/>
            </a:endParaRPr>
          </a:p>
        </p:txBody>
      </p:sp>
      <p:sp>
        <p:nvSpPr>
          <p:cNvPr id="120" name="Google Shape;120;p17"/>
          <p:cNvSpPr/>
          <p:nvPr/>
        </p:nvSpPr>
        <p:spPr>
          <a:xfrm>
            <a:off x="1056132" y="2743200"/>
            <a:ext cx="2852928" cy="4937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D7DEEA"/>
              </a:buClr>
              <a:buSzPts val="900"/>
              <a:buFont typeface="Arial"/>
              <a:buNone/>
            </a:pPr>
            <a:r>
              <a:rPr b="0" i="0" lang="en" sz="900" u="none" cap="none" strike="noStrike">
                <a:solidFill>
                  <a:srgbClr val="D7DEEA"/>
                </a:solidFill>
                <a:latin typeface="Arial"/>
                <a:ea typeface="Arial"/>
                <a:cs typeface="Arial"/>
                <a:sym typeface="Arial"/>
              </a:rPr>
              <a:t>The spare key is taped under the bumper. Anyone who looks, drives away.</a:t>
            </a:r>
            <a:endParaRPr b="0" i="0" sz="900" u="none" cap="none" strike="noStrike">
              <a:solidFill>
                <a:schemeClr val="dk1"/>
              </a:solidFill>
              <a:latin typeface="Calibri"/>
              <a:ea typeface="Calibri"/>
              <a:cs typeface="Calibri"/>
              <a:sym typeface="Calibri"/>
            </a:endParaRPr>
          </a:p>
        </p:txBody>
      </p:sp>
      <p:sp>
        <p:nvSpPr>
          <p:cNvPr id="121" name="Google Shape;121;p17"/>
          <p:cNvSpPr/>
          <p:nvPr/>
        </p:nvSpPr>
        <p:spPr>
          <a:xfrm>
            <a:off x="425196" y="3483864"/>
            <a:ext cx="3648456" cy="905256"/>
          </a:xfrm>
          <a:prstGeom prst="roundRect">
            <a:avLst>
              <a:gd fmla="val 9848" name="adj"/>
            </a:avLst>
          </a:prstGeom>
          <a:solidFill>
            <a:srgbClr val="0D0F16"/>
          </a:solidFill>
          <a:ln cap="flat" cmpd="sng" w="12700">
            <a:solidFill>
              <a:srgbClr val="234B4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2" name="Google Shape;122;p17"/>
          <p:cNvSpPr/>
          <p:nvPr/>
        </p:nvSpPr>
        <p:spPr>
          <a:xfrm>
            <a:off x="603504" y="3778758"/>
            <a:ext cx="315468" cy="315468"/>
          </a:xfrm>
          <a:prstGeom prst="roundRect">
            <a:avLst>
              <a:gd fmla="val 23913" name="adj"/>
            </a:avLst>
          </a:prstGeom>
          <a:solidFill>
            <a:srgbClr val="132E2B"/>
          </a:solidFill>
          <a:ln cap="flat" cmpd="sng" w="12700">
            <a:solidFill>
              <a:srgbClr val="21715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home/claude/art/out/icon-shield.png" id="123" name="Google Shape;123;p17"/>
          <p:cNvPicPr preferRelativeResize="0"/>
          <p:nvPr/>
        </p:nvPicPr>
        <p:blipFill rotWithShape="1">
          <a:blip r:embed="rId5">
            <a:alphaModFix/>
          </a:blip>
          <a:srcRect b="0" l="0" r="0" t="0"/>
          <a:stretch/>
        </p:blipFill>
        <p:spPr>
          <a:xfrm>
            <a:off x="654939" y="3830193"/>
            <a:ext cx="212598" cy="212598"/>
          </a:xfrm>
          <a:prstGeom prst="rect">
            <a:avLst/>
          </a:prstGeom>
          <a:noFill/>
          <a:ln>
            <a:noFill/>
          </a:ln>
        </p:spPr>
      </p:pic>
      <p:sp>
        <p:nvSpPr>
          <p:cNvPr id="124" name="Google Shape;124;p17"/>
          <p:cNvSpPr/>
          <p:nvPr/>
        </p:nvSpPr>
        <p:spPr>
          <a:xfrm>
            <a:off x="1056132" y="3600450"/>
            <a:ext cx="2852928"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4D399"/>
              </a:buClr>
              <a:buSzPts val="700"/>
              <a:buFont typeface="Courier New"/>
              <a:buNone/>
            </a:pPr>
            <a:r>
              <a:rPr b="1" i="0" lang="en" sz="700" u="none" cap="none" strike="noStrike">
                <a:solidFill>
                  <a:srgbClr val="34D399"/>
                </a:solidFill>
                <a:latin typeface="Courier New"/>
                <a:ea typeface="Courier New"/>
                <a:cs typeface="Courier New"/>
                <a:sym typeface="Courier New"/>
              </a:rPr>
              <a:t>GUARDRAIL</a:t>
            </a:r>
            <a:endParaRPr b="0" i="0" sz="700" u="none" cap="none" strike="noStrike">
              <a:solidFill>
                <a:schemeClr val="dk1"/>
              </a:solidFill>
              <a:latin typeface="Calibri"/>
              <a:ea typeface="Calibri"/>
              <a:cs typeface="Calibri"/>
              <a:sym typeface="Calibri"/>
            </a:endParaRPr>
          </a:p>
        </p:txBody>
      </p:sp>
      <p:sp>
        <p:nvSpPr>
          <p:cNvPr id="125" name="Google Shape;125;p17"/>
          <p:cNvSpPr/>
          <p:nvPr/>
        </p:nvSpPr>
        <p:spPr>
          <a:xfrm>
            <a:off x="1056132" y="3785616"/>
            <a:ext cx="2852928" cy="4937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D7DEEA"/>
              </a:buClr>
              <a:buSzPts val="900"/>
              <a:buFont typeface="Arial"/>
              <a:buNone/>
            </a:pPr>
            <a:r>
              <a:rPr b="0" i="0" lang="en" sz="900" u="none" cap="none" strike="noStrike">
                <a:solidFill>
                  <a:srgbClr val="D7DEEA"/>
                </a:solidFill>
                <a:latin typeface="Arial"/>
                <a:ea typeface="Arial"/>
                <a:cs typeface="Arial"/>
                <a:sym typeface="Arial"/>
              </a:rPr>
              <a:t>Short-lived, scoped keys. A vault, never the glovebox or the logs.</a:t>
            </a:r>
            <a:endParaRPr b="0" i="0" sz="900" u="none" cap="none" strike="noStrike">
              <a:solidFill>
                <a:schemeClr val="dk1"/>
              </a:solidFill>
              <a:latin typeface="Calibri"/>
              <a:ea typeface="Calibri"/>
              <a:cs typeface="Calibri"/>
              <a:sym typeface="Calibri"/>
            </a:endParaRPr>
          </a:p>
        </p:txBody>
      </p:sp>
      <p:sp>
        <p:nvSpPr>
          <p:cNvPr id="126" name="Google Shape;126;p17"/>
          <p:cNvSpPr/>
          <p:nvPr/>
        </p:nvSpPr>
        <p:spPr>
          <a:xfrm>
            <a:off x="4354830" y="425196"/>
            <a:ext cx="4389120" cy="4293108"/>
          </a:xfrm>
          <a:prstGeom prst="roundRect">
            <a:avLst>
              <a:gd fmla="val 2077" name="adj"/>
            </a:avLst>
          </a:prstGeom>
          <a:solidFill>
            <a:srgbClr val="0D0F16"/>
          </a:solidFill>
          <a:ln cap="flat" cmpd="sng" w="12700">
            <a:solidFill>
              <a:srgbClr val="1E243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7" name="Google Shape;127;p17"/>
          <p:cNvSpPr/>
          <p:nvPr/>
        </p:nvSpPr>
        <p:spPr>
          <a:xfrm>
            <a:off x="4539996" y="548640"/>
            <a:ext cx="40462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8748C"/>
              </a:buClr>
              <a:buSzPts val="700"/>
              <a:buFont typeface="Courier New"/>
              <a:buNone/>
            </a:pPr>
            <a:r>
              <a:rPr b="1" i="0" lang="en" sz="700" u="none" cap="none" strike="noStrike">
                <a:solidFill>
                  <a:srgbClr val="68748C"/>
                </a:solidFill>
                <a:latin typeface="Courier New"/>
                <a:ea typeface="Courier New"/>
                <a:cs typeface="Courier New"/>
                <a:sym typeface="Courier New"/>
              </a:rPr>
              <a:t>ATTACK SCENARIO</a:t>
            </a:r>
            <a:endParaRPr b="0" i="0" sz="700" u="none" cap="none" strike="noStrike">
              <a:solidFill>
                <a:schemeClr val="dk1"/>
              </a:solidFill>
              <a:latin typeface="Calibri"/>
              <a:ea typeface="Calibri"/>
              <a:cs typeface="Calibri"/>
              <a:sym typeface="Calibri"/>
            </a:endParaRPr>
          </a:p>
        </p:txBody>
      </p:sp>
      <p:sp>
        <p:nvSpPr>
          <p:cNvPr id="128" name="Google Shape;128;p17"/>
          <p:cNvSpPr/>
          <p:nvPr/>
        </p:nvSpPr>
        <p:spPr>
          <a:xfrm>
            <a:off x="4539996" y="768096"/>
            <a:ext cx="4018788" cy="7544"/>
          </a:xfrm>
          <a:prstGeom prst="rect">
            <a:avLst/>
          </a:prstGeom>
          <a:solidFill>
            <a:srgbClr val="181D2A"/>
          </a:solidFill>
          <a:ln cap="flat" cmpd="sng" w="12700">
            <a:solidFill>
              <a:srgbClr val="33333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home/claude/art/out/mcp01.png" id="129" name="Google Shape;129;p17"/>
          <p:cNvPicPr preferRelativeResize="0"/>
          <p:nvPr/>
        </p:nvPicPr>
        <p:blipFill rotWithShape="1">
          <a:blip r:embed="rId6">
            <a:alphaModFix/>
          </a:blip>
          <a:srcRect b="0" l="0" r="0" t="0"/>
          <a:stretch/>
        </p:blipFill>
        <p:spPr>
          <a:xfrm>
            <a:off x="4526280" y="918972"/>
            <a:ext cx="4046220" cy="2530602"/>
          </a:xfrm>
          <a:prstGeom prst="rect">
            <a:avLst/>
          </a:prstGeom>
          <a:noFill/>
          <a:ln>
            <a:noFill/>
          </a:ln>
        </p:spPr>
      </p:pic>
      <p:sp>
        <p:nvSpPr>
          <p:cNvPr id="130" name="Google Shape;130;p17"/>
          <p:cNvSpPr/>
          <p:nvPr/>
        </p:nvSpPr>
        <p:spPr>
          <a:xfrm>
            <a:off x="4539996" y="3525012"/>
            <a:ext cx="4018788" cy="2331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7DEEA"/>
              </a:buClr>
              <a:buSzPts val="900"/>
              <a:buFont typeface="Arial"/>
              <a:buNone/>
            </a:pPr>
            <a:r>
              <a:rPr b="0" i="1" lang="en" sz="900" u="none" cap="none" strike="noStrike">
                <a:solidFill>
                  <a:srgbClr val="D7DEEA"/>
                </a:solidFill>
                <a:latin typeface="Arial"/>
                <a:ea typeface="Arial"/>
                <a:cs typeface="Arial"/>
                <a:sym typeface="Arial"/>
              </a:rPr>
              <a:t>The spare key under the bumper</a:t>
            </a:r>
            <a:endParaRPr b="0" i="0" sz="900" u="none" cap="none" strike="noStrike">
              <a:solidFill>
                <a:schemeClr val="dk1"/>
              </a:solidFill>
              <a:latin typeface="Calibri"/>
              <a:ea typeface="Calibri"/>
              <a:cs typeface="Calibri"/>
              <a:sym typeface="Calibri"/>
            </a:endParaRPr>
          </a:p>
        </p:txBody>
      </p:sp>
      <p:sp>
        <p:nvSpPr>
          <p:cNvPr id="131" name="Google Shape;131;p17"/>
          <p:cNvSpPr/>
          <p:nvPr/>
        </p:nvSpPr>
        <p:spPr>
          <a:xfrm>
            <a:off x="4539996" y="3854196"/>
            <a:ext cx="40462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8748C"/>
              </a:buClr>
              <a:buSzPts val="700"/>
              <a:buFont typeface="Courier New"/>
              <a:buNone/>
            </a:pPr>
            <a:r>
              <a:rPr b="1" i="0" lang="en" sz="700" u="none" cap="none" strike="noStrike">
                <a:solidFill>
                  <a:srgbClr val="68748C"/>
                </a:solidFill>
                <a:latin typeface="Courier New"/>
                <a:ea typeface="Courier New"/>
                <a:cs typeface="Courier New"/>
                <a:sym typeface="Courier New"/>
              </a:rPr>
              <a:t>HOW IT PLAYS OUT</a:t>
            </a:r>
            <a:endParaRPr b="0" i="0" sz="700" u="none" cap="none" strike="noStrike">
              <a:solidFill>
                <a:schemeClr val="dk1"/>
              </a:solidFill>
              <a:latin typeface="Calibri"/>
              <a:ea typeface="Calibri"/>
              <a:cs typeface="Calibri"/>
              <a:sym typeface="Calibri"/>
            </a:endParaRPr>
          </a:p>
        </p:txBody>
      </p:sp>
      <p:sp>
        <p:nvSpPr>
          <p:cNvPr id="132" name="Google Shape;132;p17"/>
          <p:cNvSpPr/>
          <p:nvPr/>
        </p:nvSpPr>
        <p:spPr>
          <a:xfrm>
            <a:off x="4539996" y="4073652"/>
            <a:ext cx="1184148" cy="370332"/>
          </a:xfrm>
          <a:prstGeom prst="roundRect">
            <a:avLst>
              <a:gd fmla="val 18519" name="adj"/>
            </a:avLst>
          </a:prstGeom>
          <a:solidFill>
            <a:srgbClr val="1D161C"/>
          </a:solidFill>
          <a:ln cap="flat" cmpd="sng" w="12700">
            <a:solidFill>
              <a:srgbClr val="5F3136"/>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D7DEEA"/>
              </a:buClr>
              <a:buSzPts val="700"/>
              <a:buFont typeface="Courier New"/>
              <a:buNone/>
            </a:pPr>
            <a:r>
              <a:rPr b="1" i="0" lang="en" sz="700" u="none" cap="none" strike="noStrike">
                <a:solidFill>
                  <a:srgbClr val="D7DEEA"/>
                </a:solidFill>
                <a:latin typeface="Courier New"/>
                <a:ea typeface="Courier New"/>
                <a:cs typeface="Courier New"/>
                <a:sym typeface="Courier New"/>
              </a:rPr>
              <a:t>KEY LEFT IN REACH</a:t>
            </a:r>
            <a:endParaRPr b="0" i="0" sz="700" u="none" cap="none" strike="noStrike">
              <a:solidFill>
                <a:schemeClr val="dk1"/>
              </a:solidFill>
              <a:latin typeface="Calibri"/>
              <a:ea typeface="Calibri"/>
              <a:cs typeface="Calibri"/>
              <a:sym typeface="Calibri"/>
            </a:endParaRPr>
          </a:p>
        </p:txBody>
      </p:sp>
      <p:sp>
        <p:nvSpPr>
          <p:cNvPr id="133" name="Google Shape;133;p17"/>
          <p:cNvSpPr/>
          <p:nvPr/>
        </p:nvSpPr>
        <p:spPr>
          <a:xfrm>
            <a:off x="5724144" y="4073652"/>
            <a:ext cx="233172" cy="3703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25456"/>
              </a:buClr>
              <a:buSzPts val="1000"/>
              <a:buFont typeface="Arial"/>
              <a:buNone/>
            </a:pPr>
            <a:r>
              <a:rPr b="0" i="0" lang="en" sz="1000" u="none" cap="none" strike="noStrike">
                <a:solidFill>
                  <a:srgbClr val="B25456"/>
                </a:solidFill>
                <a:latin typeface="Arial"/>
                <a:ea typeface="Arial"/>
                <a:cs typeface="Arial"/>
                <a:sym typeface="Arial"/>
              </a:rPr>
              <a:t>→</a:t>
            </a:r>
            <a:endParaRPr b="0" i="0" sz="1000" u="none" cap="none" strike="noStrike">
              <a:solidFill>
                <a:schemeClr val="dk1"/>
              </a:solidFill>
              <a:latin typeface="Calibri"/>
              <a:ea typeface="Calibri"/>
              <a:cs typeface="Calibri"/>
              <a:sym typeface="Calibri"/>
            </a:endParaRPr>
          </a:p>
        </p:txBody>
      </p:sp>
      <p:sp>
        <p:nvSpPr>
          <p:cNvPr id="134" name="Google Shape;134;p17"/>
          <p:cNvSpPr/>
          <p:nvPr/>
        </p:nvSpPr>
        <p:spPr>
          <a:xfrm>
            <a:off x="5957316" y="4073652"/>
            <a:ext cx="1184148" cy="370332"/>
          </a:xfrm>
          <a:prstGeom prst="roundRect">
            <a:avLst>
              <a:gd fmla="val 18519" name="adj"/>
            </a:avLst>
          </a:prstGeom>
          <a:solidFill>
            <a:srgbClr val="1D161C"/>
          </a:solidFill>
          <a:ln cap="flat" cmpd="sng" w="12700">
            <a:solidFill>
              <a:srgbClr val="5F3136"/>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D7DEEA"/>
              </a:buClr>
              <a:buSzPts val="700"/>
              <a:buFont typeface="Courier New"/>
              <a:buNone/>
            </a:pPr>
            <a:r>
              <a:rPr b="1" i="0" lang="en" sz="700" u="none" cap="none" strike="noStrike">
                <a:solidFill>
                  <a:srgbClr val="D7DEEA"/>
                </a:solidFill>
                <a:latin typeface="Courier New"/>
                <a:ea typeface="Courier New"/>
                <a:cs typeface="Courier New"/>
                <a:sym typeface="Courier New"/>
              </a:rPr>
              <a:t>STRANGER FINDS IT</a:t>
            </a:r>
            <a:endParaRPr b="0" i="0" sz="700" u="none" cap="none" strike="noStrike">
              <a:solidFill>
                <a:schemeClr val="dk1"/>
              </a:solidFill>
              <a:latin typeface="Calibri"/>
              <a:ea typeface="Calibri"/>
              <a:cs typeface="Calibri"/>
              <a:sym typeface="Calibri"/>
            </a:endParaRPr>
          </a:p>
        </p:txBody>
      </p:sp>
      <p:sp>
        <p:nvSpPr>
          <p:cNvPr id="135" name="Google Shape;135;p17"/>
          <p:cNvSpPr/>
          <p:nvPr/>
        </p:nvSpPr>
        <p:spPr>
          <a:xfrm>
            <a:off x="7141464" y="4073652"/>
            <a:ext cx="233172" cy="3703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25456"/>
              </a:buClr>
              <a:buSzPts val="1000"/>
              <a:buFont typeface="Arial"/>
              <a:buNone/>
            </a:pPr>
            <a:r>
              <a:rPr b="0" i="0" lang="en" sz="1000" u="none" cap="none" strike="noStrike">
                <a:solidFill>
                  <a:srgbClr val="B25456"/>
                </a:solidFill>
                <a:latin typeface="Arial"/>
                <a:ea typeface="Arial"/>
                <a:cs typeface="Arial"/>
                <a:sym typeface="Arial"/>
              </a:rPr>
              <a:t>→</a:t>
            </a:r>
            <a:endParaRPr b="0" i="0" sz="1000" u="none" cap="none" strike="noStrike">
              <a:solidFill>
                <a:schemeClr val="dk1"/>
              </a:solidFill>
              <a:latin typeface="Calibri"/>
              <a:ea typeface="Calibri"/>
              <a:cs typeface="Calibri"/>
              <a:sym typeface="Calibri"/>
            </a:endParaRPr>
          </a:p>
        </p:txBody>
      </p:sp>
      <p:sp>
        <p:nvSpPr>
          <p:cNvPr id="136" name="Google Shape;136;p17"/>
          <p:cNvSpPr/>
          <p:nvPr/>
        </p:nvSpPr>
        <p:spPr>
          <a:xfrm>
            <a:off x="7374636" y="4073652"/>
            <a:ext cx="1184148" cy="370332"/>
          </a:xfrm>
          <a:prstGeom prst="roundRect">
            <a:avLst>
              <a:gd fmla="val 18519" name="adj"/>
            </a:avLst>
          </a:prstGeom>
          <a:solidFill>
            <a:srgbClr val="331F25"/>
          </a:solidFill>
          <a:ln cap="flat" cmpd="sng" w="12700">
            <a:solidFill>
              <a:srgbClr val="BD595A"/>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87171"/>
              </a:buClr>
              <a:buSzPts val="700"/>
              <a:buFont typeface="Courier New"/>
              <a:buNone/>
            </a:pPr>
            <a:r>
              <a:rPr b="1" i="0" lang="en" sz="700" u="none" cap="none" strike="noStrike">
                <a:solidFill>
                  <a:srgbClr val="F87171"/>
                </a:solidFill>
                <a:latin typeface="Courier New"/>
                <a:ea typeface="Courier New"/>
                <a:cs typeface="Courier New"/>
                <a:sym typeface="Courier New"/>
              </a:rPr>
              <a:t>CAR IS THEIRS</a:t>
            </a:r>
            <a:endParaRPr b="0" i="0" sz="700" u="none" cap="none" strike="noStrike">
              <a:solidFill>
                <a:schemeClr val="dk1"/>
              </a:solidFill>
              <a:latin typeface="Calibri"/>
              <a:ea typeface="Calibri"/>
              <a:cs typeface="Calibri"/>
              <a:sym typeface="Calibri"/>
            </a:endParaRPr>
          </a:p>
        </p:txBody>
      </p:sp>
      <p:sp>
        <p:nvSpPr>
          <p:cNvPr id="137" name="Google Shape;137;p17"/>
          <p:cNvSpPr/>
          <p:nvPr/>
        </p:nvSpPr>
        <p:spPr>
          <a:xfrm>
            <a:off x="425196" y="4814316"/>
            <a:ext cx="54864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4759"/>
              </a:buClr>
              <a:buSzPts val="600"/>
              <a:buFont typeface="Courier New"/>
              <a:buNone/>
            </a:pPr>
            <a:r>
              <a:rPr b="0" i="0" lang="en" sz="600" u="none" cap="none" strike="noStrike">
                <a:solidFill>
                  <a:srgbClr val="3E4759"/>
                </a:solidFill>
                <a:latin typeface="Courier New"/>
                <a:ea typeface="Courier New"/>
                <a:cs typeface="Courier New"/>
                <a:sym typeface="Courier New"/>
              </a:rPr>
              <a:t>OWASP MCP Top 10 · MCP01:2025</a:t>
            </a:r>
            <a:endParaRPr b="0" i="0" sz="6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2" name="Shape 142"/>
        <p:cNvGrpSpPr/>
        <p:nvPr/>
      </p:nvGrpSpPr>
      <p:grpSpPr>
        <a:xfrm>
          <a:off x="0" y="0"/>
          <a:ext cx="0" cy="0"/>
          <a:chOff x="0" y="0"/>
          <a:chExt cx="0" cy="0"/>
        </a:xfrm>
      </p:grpSpPr>
      <p:sp>
        <p:nvSpPr>
          <p:cNvPr id="143" name="Google Shape;143;p18"/>
          <p:cNvSpPr/>
          <p:nvPr/>
        </p:nvSpPr>
        <p:spPr>
          <a:xfrm>
            <a:off x="425196" y="411480"/>
            <a:ext cx="960120" cy="212598"/>
          </a:xfrm>
          <a:prstGeom prst="roundRect">
            <a:avLst>
              <a:gd fmla="val 29032" name="adj"/>
            </a:avLst>
          </a:prstGeom>
          <a:solidFill>
            <a:srgbClr val="272010"/>
          </a:solidFill>
          <a:ln cap="flat" cmpd="sng" w="12700">
            <a:solidFill>
              <a:srgbClr val="8D6D1A"/>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BBF24"/>
              </a:buClr>
              <a:buSzPts val="800"/>
              <a:buFont typeface="Courier New"/>
              <a:buNone/>
            </a:pPr>
            <a:r>
              <a:rPr b="1" i="0" lang="en" sz="800" u="none" cap="none" strike="noStrike">
                <a:solidFill>
                  <a:srgbClr val="FBBF24"/>
                </a:solidFill>
                <a:latin typeface="Courier New"/>
                <a:ea typeface="Courier New"/>
                <a:cs typeface="Courier New"/>
                <a:sym typeface="Courier New"/>
              </a:rPr>
              <a:t>MCP02:2025</a:t>
            </a:r>
            <a:endParaRPr b="0" i="0" sz="800" u="none" cap="none" strike="noStrike">
              <a:solidFill>
                <a:schemeClr val="dk1"/>
              </a:solidFill>
              <a:latin typeface="Calibri"/>
              <a:ea typeface="Calibri"/>
              <a:cs typeface="Calibri"/>
              <a:sym typeface="Calibri"/>
            </a:endParaRPr>
          </a:p>
        </p:txBody>
      </p:sp>
      <p:sp>
        <p:nvSpPr>
          <p:cNvPr id="144" name="Google Shape;144;p18"/>
          <p:cNvSpPr/>
          <p:nvPr/>
        </p:nvSpPr>
        <p:spPr>
          <a:xfrm>
            <a:off x="425196" y="699516"/>
            <a:ext cx="3737610" cy="905256"/>
          </a:xfrm>
          <a:prstGeom prst="rect">
            <a:avLst/>
          </a:prstGeom>
          <a:noFill/>
          <a:ln>
            <a:noFill/>
          </a:ln>
        </p:spPr>
        <p:txBody>
          <a:bodyPr anchorCtr="0" anchor="t" bIns="0" lIns="0" spcFirstLastPara="1" rIns="0" wrap="square" tIns="0">
            <a:noAutofit/>
          </a:bodyPr>
          <a:lstStyle/>
          <a:p>
            <a:pPr indent="0" lvl="0" marL="0" marR="0" rtl="0" algn="l">
              <a:lnSpc>
                <a:spcPct val="92000"/>
              </a:lnSpc>
              <a:spcBef>
                <a:spcPts val="0"/>
              </a:spcBef>
              <a:spcAft>
                <a:spcPts val="0"/>
              </a:spcAft>
              <a:buClr>
                <a:srgbClr val="FFFFFF"/>
              </a:buClr>
              <a:buSzPts val="2300"/>
              <a:buFont typeface="Arial"/>
              <a:buNone/>
            </a:pPr>
            <a:r>
              <a:rPr b="1" i="0" lang="en" sz="2300" u="none" cap="none" strike="noStrike">
                <a:solidFill>
                  <a:srgbClr val="FFFFFF"/>
                </a:solidFill>
                <a:latin typeface="Arial"/>
                <a:ea typeface="Arial"/>
                <a:cs typeface="Arial"/>
                <a:sym typeface="Arial"/>
              </a:rPr>
              <a:t>Privilege Escalation via </a:t>
            </a:r>
            <a:r>
              <a:rPr b="1" i="0" lang="en" sz="2300" u="none" cap="none" strike="noStrike">
                <a:solidFill>
                  <a:srgbClr val="FBBF24"/>
                </a:solidFill>
                <a:latin typeface="Arial"/>
                <a:ea typeface="Arial"/>
                <a:cs typeface="Arial"/>
                <a:sym typeface="Arial"/>
              </a:rPr>
              <a:t>Scope Creep</a:t>
            </a:r>
            <a:endParaRPr b="0" i="0" sz="2300" u="none" cap="none" strike="noStrike">
              <a:solidFill>
                <a:schemeClr val="dk1"/>
              </a:solidFill>
              <a:latin typeface="Calibri"/>
              <a:ea typeface="Calibri"/>
              <a:cs typeface="Calibri"/>
              <a:sym typeface="Calibri"/>
            </a:endParaRPr>
          </a:p>
        </p:txBody>
      </p:sp>
      <p:sp>
        <p:nvSpPr>
          <p:cNvPr id="145" name="Google Shape;145;p18"/>
          <p:cNvSpPr/>
          <p:nvPr/>
        </p:nvSpPr>
        <p:spPr>
          <a:xfrm>
            <a:off x="425196" y="1687068"/>
            <a:ext cx="3566160" cy="45262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93A0B7"/>
              </a:buClr>
              <a:buSzPts val="900"/>
              <a:buFont typeface="Arial"/>
              <a:buNone/>
            </a:pPr>
            <a:r>
              <a:rPr b="0" i="0" lang="en" sz="900" u="none" cap="none" strike="noStrike">
                <a:solidFill>
                  <a:srgbClr val="93A0B7"/>
                </a:solidFill>
                <a:latin typeface="Arial"/>
                <a:ea typeface="Arial"/>
                <a:cs typeface="Arial"/>
                <a:sym typeface="Arial"/>
              </a:rPr>
              <a:t>Permissions granted "just for now" quietly widen until the agent can do almost anything.</a:t>
            </a:r>
            <a:endParaRPr b="0" i="0" sz="900" u="none" cap="none" strike="noStrike">
              <a:solidFill>
                <a:schemeClr val="dk1"/>
              </a:solidFill>
              <a:latin typeface="Calibri"/>
              <a:ea typeface="Calibri"/>
              <a:cs typeface="Calibri"/>
              <a:sym typeface="Calibri"/>
            </a:endParaRPr>
          </a:p>
        </p:txBody>
      </p:sp>
      <p:sp>
        <p:nvSpPr>
          <p:cNvPr id="146" name="Google Shape;146;p18"/>
          <p:cNvSpPr/>
          <p:nvPr/>
        </p:nvSpPr>
        <p:spPr>
          <a:xfrm>
            <a:off x="425196" y="2441448"/>
            <a:ext cx="3648456" cy="905256"/>
          </a:xfrm>
          <a:prstGeom prst="roundRect">
            <a:avLst>
              <a:gd fmla="val 9848" name="adj"/>
            </a:avLst>
          </a:prstGeom>
          <a:solidFill>
            <a:srgbClr val="0D0F16"/>
          </a:solidFill>
          <a:ln cap="flat" cmpd="sng" w="12700">
            <a:solidFill>
              <a:srgbClr val="4F463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7" name="Google Shape;147;p18"/>
          <p:cNvSpPr/>
          <p:nvPr/>
        </p:nvSpPr>
        <p:spPr>
          <a:xfrm>
            <a:off x="603504" y="2736342"/>
            <a:ext cx="315468" cy="315468"/>
          </a:xfrm>
          <a:prstGeom prst="roundRect">
            <a:avLst>
              <a:gd fmla="val 23913" name="adj"/>
            </a:avLst>
          </a:prstGeom>
          <a:solidFill>
            <a:srgbClr val="332B18"/>
          </a:solidFill>
          <a:ln cap="flat" cmpd="sng" w="12700">
            <a:solidFill>
              <a:srgbClr val="84671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home/claude/art/out/icon-car.png" id="148" name="Google Shape;148;p18"/>
          <p:cNvPicPr preferRelativeResize="0"/>
          <p:nvPr/>
        </p:nvPicPr>
        <p:blipFill rotWithShape="1">
          <a:blip r:embed="rId4">
            <a:alphaModFix/>
          </a:blip>
          <a:srcRect b="0" l="0" r="0" t="0"/>
          <a:stretch/>
        </p:blipFill>
        <p:spPr>
          <a:xfrm>
            <a:off x="654939" y="2787777"/>
            <a:ext cx="212598" cy="212598"/>
          </a:xfrm>
          <a:prstGeom prst="rect">
            <a:avLst/>
          </a:prstGeom>
          <a:noFill/>
          <a:ln>
            <a:noFill/>
          </a:ln>
        </p:spPr>
      </p:pic>
      <p:sp>
        <p:nvSpPr>
          <p:cNvPr id="149" name="Google Shape;149;p18"/>
          <p:cNvSpPr/>
          <p:nvPr/>
        </p:nvSpPr>
        <p:spPr>
          <a:xfrm>
            <a:off x="1056132" y="2558034"/>
            <a:ext cx="2852928"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BBF24"/>
              </a:buClr>
              <a:buSzPts val="700"/>
              <a:buFont typeface="Courier New"/>
              <a:buNone/>
            </a:pPr>
            <a:r>
              <a:rPr b="1" i="0" lang="en" sz="700" u="none" cap="none" strike="noStrike">
                <a:solidFill>
                  <a:srgbClr val="FBBF24"/>
                </a:solidFill>
                <a:latin typeface="Courier New"/>
                <a:ea typeface="Courier New"/>
                <a:cs typeface="Courier New"/>
                <a:sym typeface="Courier New"/>
              </a:rPr>
              <a:t>IN THE CAR</a:t>
            </a:r>
            <a:endParaRPr b="0" i="0" sz="700" u="none" cap="none" strike="noStrike">
              <a:solidFill>
                <a:schemeClr val="dk1"/>
              </a:solidFill>
              <a:latin typeface="Calibri"/>
              <a:ea typeface="Calibri"/>
              <a:cs typeface="Calibri"/>
              <a:sym typeface="Calibri"/>
            </a:endParaRPr>
          </a:p>
        </p:txBody>
      </p:sp>
      <p:sp>
        <p:nvSpPr>
          <p:cNvPr id="150" name="Google Shape;150;p18"/>
          <p:cNvSpPr/>
          <p:nvPr/>
        </p:nvSpPr>
        <p:spPr>
          <a:xfrm>
            <a:off x="1056132" y="2743200"/>
            <a:ext cx="2852928" cy="4937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D7DEEA"/>
              </a:buClr>
              <a:buSzPts val="900"/>
              <a:buFont typeface="Arial"/>
              <a:buNone/>
            </a:pPr>
            <a:r>
              <a:rPr b="0" i="0" lang="en" sz="900" u="none" cap="none" strike="noStrike">
                <a:solidFill>
                  <a:srgbClr val="D7DEEA"/>
                </a:solidFill>
                <a:latin typeface="Arial"/>
                <a:ea typeface="Arial"/>
                <a:cs typeface="Arial"/>
                <a:sym typeface="Arial"/>
              </a:rPr>
              <a:t>You lent a valet key. Over months it opened the boot, then the whole car.</a:t>
            </a:r>
            <a:endParaRPr b="0" i="0" sz="900" u="none" cap="none" strike="noStrike">
              <a:solidFill>
                <a:schemeClr val="dk1"/>
              </a:solidFill>
              <a:latin typeface="Calibri"/>
              <a:ea typeface="Calibri"/>
              <a:cs typeface="Calibri"/>
              <a:sym typeface="Calibri"/>
            </a:endParaRPr>
          </a:p>
        </p:txBody>
      </p:sp>
      <p:sp>
        <p:nvSpPr>
          <p:cNvPr id="151" name="Google Shape;151;p18"/>
          <p:cNvSpPr/>
          <p:nvPr/>
        </p:nvSpPr>
        <p:spPr>
          <a:xfrm>
            <a:off x="425196" y="3483864"/>
            <a:ext cx="3648456" cy="905256"/>
          </a:xfrm>
          <a:prstGeom prst="roundRect">
            <a:avLst>
              <a:gd fmla="val 9848" name="adj"/>
            </a:avLst>
          </a:prstGeom>
          <a:solidFill>
            <a:srgbClr val="0D0F16"/>
          </a:solidFill>
          <a:ln cap="flat" cmpd="sng" w="12700">
            <a:solidFill>
              <a:srgbClr val="234B4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2" name="Google Shape;152;p18"/>
          <p:cNvSpPr/>
          <p:nvPr/>
        </p:nvSpPr>
        <p:spPr>
          <a:xfrm>
            <a:off x="603504" y="3778758"/>
            <a:ext cx="315468" cy="315468"/>
          </a:xfrm>
          <a:prstGeom prst="roundRect">
            <a:avLst>
              <a:gd fmla="val 23913" name="adj"/>
            </a:avLst>
          </a:prstGeom>
          <a:solidFill>
            <a:srgbClr val="132E2B"/>
          </a:solidFill>
          <a:ln cap="flat" cmpd="sng" w="12700">
            <a:solidFill>
              <a:srgbClr val="21715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home/claude/art/out/icon-shield.png" id="153" name="Google Shape;153;p18"/>
          <p:cNvPicPr preferRelativeResize="0"/>
          <p:nvPr/>
        </p:nvPicPr>
        <p:blipFill rotWithShape="1">
          <a:blip r:embed="rId5">
            <a:alphaModFix/>
          </a:blip>
          <a:srcRect b="0" l="0" r="0" t="0"/>
          <a:stretch/>
        </p:blipFill>
        <p:spPr>
          <a:xfrm>
            <a:off x="654939" y="3830193"/>
            <a:ext cx="212598" cy="212598"/>
          </a:xfrm>
          <a:prstGeom prst="rect">
            <a:avLst/>
          </a:prstGeom>
          <a:noFill/>
          <a:ln>
            <a:noFill/>
          </a:ln>
        </p:spPr>
      </p:pic>
      <p:sp>
        <p:nvSpPr>
          <p:cNvPr id="154" name="Google Shape;154;p18"/>
          <p:cNvSpPr/>
          <p:nvPr/>
        </p:nvSpPr>
        <p:spPr>
          <a:xfrm>
            <a:off x="1056132" y="3600450"/>
            <a:ext cx="2852928"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4D399"/>
              </a:buClr>
              <a:buSzPts val="700"/>
              <a:buFont typeface="Courier New"/>
              <a:buNone/>
            </a:pPr>
            <a:r>
              <a:rPr b="1" i="0" lang="en" sz="700" u="none" cap="none" strike="noStrike">
                <a:solidFill>
                  <a:srgbClr val="34D399"/>
                </a:solidFill>
                <a:latin typeface="Courier New"/>
                <a:ea typeface="Courier New"/>
                <a:cs typeface="Courier New"/>
                <a:sym typeface="Courier New"/>
              </a:rPr>
              <a:t>GUARDRAIL</a:t>
            </a:r>
            <a:endParaRPr b="0" i="0" sz="700" u="none" cap="none" strike="noStrike">
              <a:solidFill>
                <a:schemeClr val="dk1"/>
              </a:solidFill>
              <a:latin typeface="Calibri"/>
              <a:ea typeface="Calibri"/>
              <a:cs typeface="Calibri"/>
              <a:sym typeface="Calibri"/>
            </a:endParaRPr>
          </a:p>
        </p:txBody>
      </p:sp>
      <p:sp>
        <p:nvSpPr>
          <p:cNvPr id="155" name="Google Shape;155;p18"/>
          <p:cNvSpPr/>
          <p:nvPr/>
        </p:nvSpPr>
        <p:spPr>
          <a:xfrm>
            <a:off x="1056132" y="3785616"/>
            <a:ext cx="2852928" cy="4937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D7DEEA"/>
              </a:buClr>
              <a:buSzPts val="900"/>
              <a:buFont typeface="Arial"/>
              <a:buNone/>
            </a:pPr>
            <a:r>
              <a:rPr b="0" i="0" lang="en" sz="900" u="none" cap="none" strike="noStrike">
                <a:solidFill>
                  <a:srgbClr val="D7DEEA"/>
                </a:solidFill>
                <a:latin typeface="Arial"/>
                <a:ea typeface="Arial"/>
                <a:cs typeface="Arial"/>
                <a:sym typeface="Arial"/>
              </a:rPr>
              <a:t>One job, one key. Least privilege, with an expiry date on it.</a:t>
            </a:r>
            <a:endParaRPr b="0" i="0" sz="900" u="none" cap="none" strike="noStrike">
              <a:solidFill>
                <a:schemeClr val="dk1"/>
              </a:solidFill>
              <a:latin typeface="Calibri"/>
              <a:ea typeface="Calibri"/>
              <a:cs typeface="Calibri"/>
              <a:sym typeface="Calibri"/>
            </a:endParaRPr>
          </a:p>
        </p:txBody>
      </p:sp>
      <p:sp>
        <p:nvSpPr>
          <p:cNvPr id="156" name="Google Shape;156;p18"/>
          <p:cNvSpPr/>
          <p:nvPr/>
        </p:nvSpPr>
        <p:spPr>
          <a:xfrm>
            <a:off x="4354830" y="425196"/>
            <a:ext cx="4389120" cy="4293108"/>
          </a:xfrm>
          <a:prstGeom prst="roundRect">
            <a:avLst>
              <a:gd fmla="val 2077" name="adj"/>
            </a:avLst>
          </a:prstGeom>
          <a:solidFill>
            <a:srgbClr val="0D0F16"/>
          </a:solidFill>
          <a:ln cap="flat" cmpd="sng" w="12700">
            <a:solidFill>
              <a:srgbClr val="1E243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7" name="Google Shape;157;p18"/>
          <p:cNvSpPr/>
          <p:nvPr/>
        </p:nvSpPr>
        <p:spPr>
          <a:xfrm>
            <a:off x="4539996" y="548640"/>
            <a:ext cx="40462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8748C"/>
              </a:buClr>
              <a:buSzPts val="700"/>
              <a:buFont typeface="Courier New"/>
              <a:buNone/>
            </a:pPr>
            <a:r>
              <a:rPr b="1" i="0" lang="en" sz="700" u="none" cap="none" strike="noStrike">
                <a:solidFill>
                  <a:srgbClr val="68748C"/>
                </a:solidFill>
                <a:latin typeface="Courier New"/>
                <a:ea typeface="Courier New"/>
                <a:cs typeface="Courier New"/>
                <a:sym typeface="Courier New"/>
              </a:rPr>
              <a:t>ATTACK SCENARIO</a:t>
            </a:r>
            <a:endParaRPr b="0" i="0" sz="700" u="none" cap="none" strike="noStrike">
              <a:solidFill>
                <a:schemeClr val="dk1"/>
              </a:solidFill>
              <a:latin typeface="Calibri"/>
              <a:ea typeface="Calibri"/>
              <a:cs typeface="Calibri"/>
              <a:sym typeface="Calibri"/>
            </a:endParaRPr>
          </a:p>
        </p:txBody>
      </p:sp>
      <p:sp>
        <p:nvSpPr>
          <p:cNvPr id="158" name="Google Shape;158;p18"/>
          <p:cNvSpPr/>
          <p:nvPr/>
        </p:nvSpPr>
        <p:spPr>
          <a:xfrm>
            <a:off x="4539996" y="768096"/>
            <a:ext cx="4018788" cy="7544"/>
          </a:xfrm>
          <a:prstGeom prst="rect">
            <a:avLst/>
          </a:prstGeom>
          <a:solidFill>
            <a:srgbClr val="181D2A"/>
          </a:solidFill>
          <a:ln cap="flat" cmpd="sng" w="12700">
            <a:solidFill>
              <a:srgbClr val="33333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home/claude/art/out/mcp02.png" id="159" name="Google Shape;159;p18"/>
          <p:cNvPicPr preferRelativeResize="0"/>
          <p:nvPr/>
        </p:nvPicPr>
        <p:blipFill rotWithShape="1">
          <a:blip r:embed="rId6">
            <a:alphaModFix/>
          </a:blip>
          <a:srcRect b="0" l="0" r="0" t="0"/>
          <a:stretch/>
        </p:blipFill>
        <p:spPr>
          <a:xfrm>
            <a:off x="4526280" y="918972"/>
            <a:ext cx="4046220" cy="2530602"/>
          </a:xfrm>
          <a:prstGeom prst="rect">
            <a:avLst/>
          </a:prstGeom>
          <a:noFill/>
          <a:ln>
            <a:noFill/>
          </a:ln>
        </p:spPr>
      </p:pic>
      <p:sp>
        <p:nvSpPr>
          <p:cNvPr id="160" name="Google Shape;160;p18"/>
          <p:cNvSpPr/>
          <p:nvPr/>
        </p:nvSpPr>
        <p:spPr>
          <a:xfrm>
            <a:off x="4539996" y="3525012"/>
            <a:ext cx="4018788" cy="2331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7DEEA"/>
              </a:buClr>
              <a:buSzPts val="900"/>
              <a:buFont typeface="Arial"/>
              <a:buNone/>
            </a:pPr>
            <a:r>
              <a:rPr b="0" i="1" lang="en" sz="900" u="none" cap="none" strike="noStrike">
                <a:solidFill>
                  <a:srgbClr val="D7DEEA"/>
                </a:solidFill>
                <a:latin typeface="Arial"/>
                <a:ea typeface="Arial"/>
                <a:cs typeface="Arial"/>
                <a:sym typeface="Arial"/>
              </a:rPr>
              <a:t>The valet key that became a master key</a:t>
            </a:r>
            <a:endParaRPr b="0" i="0" sz="900" u="none" cap="none" strike="noStrike">
              <a:solidFill>
                <a:schemeClr val="dk1"/>
              </a:solidFill>
              <a:latin typeface="Calibri"/>
              <a:ea typeface="Calibri"/>
              <a:cs typeface="Calibri"/>
              <a:sym typeface="Calibri"/>
            </a:endParaRPr>
          </a:p>
        </p:txBody>
      </p:sp>
      <p:sp>
        <p:nvSpPr>
          <p:cNvPr id="161" name="Google Shape;161;p18"/>
          <p:cNvSpPr/>
          <p:nvPr/>
        </p:nvSpPr>
        <p:spPr>
          <a:xfrm>
            <a:off x="4539996" y="3854196"/>
            <a:ext cx="40462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8748C"/>
              </a:buClr>
              <a:buSzPts val="700"/>
              <a:buFont typeface="Courier New"/>
              <a:buNone/>
            </a:pPr>
            <a:r>
              <a:rPr b="1" i="0" lang="en" sz="700" u="none" cap="none" strike="noStrike">
                <a:solidFill>
                  <a:srgbClr val="68748C"/>
                </a:solidFill>
                <a:latin typeface="Courier New"/>
                <a:ea typeface="Courier New"/>
                <a:cs typeface="Courier New"/>
                <a:sym typeface="Courier New"/>
              </a:rPr>
              <a:t>HOW IT PLAYS OUT</a:t>
            </a:r>
            <a:endParaRPr b="0" i="0" sz="700" u="none" cap="none" strike="noStrike">
              <a:solidFill>
                <a:schemeClr val="dk1"/>
              </a:solidFill>
              <a:latin typeface="Calibri"/>
              <a:ea typeface="Calibri"/>
              <a:cs typeface="Calibri"/>
              <a:sym typeface="Calibri"/>
            </a:endParaRPr>
          </a:p>
        </p:txBody>
      </p:sp>
      <p:sp>
        <p:nvSpPr>
          <p:cNvPr id="162" name="Google Shape;162;p18"/>
          <p:cNvSpPr/>
          <p:nvPr/>
        </p:nvSpPr>
        <p:spPr>
          <a:xfrm>
            <a:off x="4539996" y="4073652"/>
            <a:ext cx="1184148" cy="370332"/>
          </a:xfrm>
          <a:prstGeom prst="roundRect">
            <a:avLst>
              <a:gd fmla="val 18519" name="adj"/>
            </a:avLst>
          </a:prstGeom>
          <a:solidFill>
            <a:srgbClr val="1E1B17"/>
          </a:solidFill>
          <a:ln cap="flat" cmpd="sng" w="12700">
            <a:solidFill>
              <a:srgbClr val="604D1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D7DEEA"/>
              </a:buClr>
              <a:buSzPts val="700"/>
              <a:buFont typeface="Courier New"/>
              <a:buNone/>
            </a:pPr>
            <a:r>
              <a:rPr b="1" i="0" lang="en" sz="700" u="none" cap="none" strike="noStrike">
                <a:solidFill>
                  <a:srgbClr val="D7DEEA"/>
                </a:solidFill>
                <a:latin typeface="Courier New"/>
                <a:ea typeface="Courier New"/>
                <a:cs typeface="Courier New"/>
                <a:sym typeface="Courier New"/>
              </a:rPr>
              <a:t>TEMPORARY ACCESS</a:t>
            </a:r>
            <a:endParaRPr b="0" i="0" sz="700" u="none" cap="none" strike="noStrike">
              <a:solidFill>
                <a:schemeClr val="dk1"/>
              </a:solidFill>
              <a:latin typeface="Calibri"/>
              <a:ea typeface="Calibri"/>
              <a:cs typeface="Calibri"/>
              <a:sym typeface="Calibri"/>
            </a:endParaRPr>
          </a:p>
        </p:txBody>
      </p:sp>
      <p:sp>
        <p:nvSpPr>
          <p:cNvPr id="163" name="Google Shape;163;p18"/>
          <p:cNvSpPr/>
          <p:nvPr/>
        </p:nvSpPr>
        <p:spPr>
          <a:xfrm>
            <a:off x="5724144" y="4073652"/>
            <a:ext cx="233172" cy="3703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48A20"/>
              </a:buClr>
              <a:buSzPts val="1000"/>
              <a:buFont typeface="Arial"/>
              <a:buNone/>
            </a:pPr>
            <a:r>
              <a:rPr b="0" i="0" lang="en" sz="1000" u="none" cap="none" strike="noStrike">
                <a:solidFill>
                  <a:srgbClr val="B48A20"/>
                </a:solidFill>
                <a:latin typeface="Arial"/>
                <a:ea typeface="Arial"/>
                <a:cs typeface="Arial"/>
                <a:sym typeface="Arial"/>
              </a:rPr>
              <a:t>→</a:t>
            </a:r>
            <a:endParaRPr b="0" i="0" sz="1000" u="none" cap="none" strike="noStrike">
              <a:solidFill>
                <a:schemeClr val="dk1"/>
              </a:solidFill>
              <a:latin typeface="Calibri"/>
              <a:ea typeface="Calibri"/>
              <a:cs typeface="Calibri"/>
              <a:sym typeface="Calibri"/>
            </a:endParaRPr>
          </a:p>
        </p:txBody>
      </p:sp>
      <p:sp>
        <p:nvSpPr>
          <p:cNvPr id="164" name="Google Shape;164;p18"/>
          <p:cNvSpPr/>
          <p:nvPr/>
        </p:nvSpPr>
        <p:spPr>
          <a:xfrm>
            <a:off x="5957316" y="4073652"/>
            <a:ext cx="1184148" cy="370332"/>
          </a:xfrm>
          <a:prstGeom prst="roundRect">
            <a:avLst>
              <a:gd fmla="val 18519" name="adj"/>
            </a:avLst>
          </a:prstGeom>
          <a:solidFill>
            <a:srgbClr val="1E1B17"/>
          </a:solidFill>
          <a:ln cap="flat" cmpd="sng" w="12700">
            <a:solidFill>
              <a:srgbClr val="604D1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D7DEEA"/>
              </a:buClr>
              <a:buSzPts val="700"/>
              <a:buFont typeface="Courier New"/>
              <a:buNone/>
            </a:pPr>
            <a:r>
              <a:rPr b="1" i="0" lang="en" sz="700" u="none" cap="none" strike="noStrike">
                <a:solidFill>
                  <a:srgbClr val="D7DEEA"/>
                </a:solidFill>
                <a:latin typeface="Courier New"/>
                <a:ea typeface="Courier New"/>
                <a:cs typeface="Courier New"/>
                <a:sym typeface="Courier New"/>
              </a:rPr>
              <a:t>NEVER REVOKED</a:t>
            </a:r>
            <a:endParaRPr b="0" i="0" sz="700" u="none" cap="none" strike="noStrike">
              <a:solidFill>
                <a:schemeClr val="dk1"/>
              </a:solidFill>
              <a:latin typeface="Calibri"/>
              <a:ea typeface="Calibri"/>
              <a:cs typeface="Calibri"/>
              <a:sym typeface="Calibri"/>
            </a:endParaRPr>
          </a:p>
        </p:txBody>
      </p:sp>
      <p:sp>
        <p:nvSpPr>
          <p:cNvPr id="165" name="Google Shape;165;p18"/>
          <p:cNvSpPr/>
          <p:nvPr/>
        </p:nvSpPr>
        <p:spPr>
          <a:xfrm>
            <a:off x="7141464" y="4073652"/>
            <a:ext cx="233172" cy="3703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48A20"/>
              </a:buClr>
              <a:buSzPts val="1000"/>
              <a:buFont typeface="Arial"/>
              <a:buNone/>
            </a:pPr>
            <a:r>
              <a:rPr b="0" i="0" lang="en" sz="1000" u="none" cap="none" strike="noStrike">
                <a:solidFill>
                  <a:srgbClr val="B48A20"/>
                </a:solidFill>
                <a:latin typeface="Arial"/>
                <a:ea typeface="Arial"/>
                <a:cs typeface="Arial"/>
                <a:sym typeface="Arial"/>
              </a:rPr>
              <a:t>→</a:t>
            </a:r>
            <a:endParaRPr b="0" i="0" sz="1000" u="none" cap="none" strike="noStrike">
              <a:solidFill>
                <a:schemeClr val="dk1"/>
              </a:solidFill>
              <a:latin typeface="Calibri"/>
              <a:ea typeface="Calibri"/>
              <a:cs typeface="Calibri"/>
              <a:sym typeface="Calibri"/>
            </a:endParaRPr>
          </a:p>
        </p:txBody>
      </p:sp>
      <p:sp>
        <p:nvSpPr>
          <p:cNvPr id="166" name="Google Shape;166;p18"/>
          <p:cNvSpPr/>
          <p:nvPr/>
        </p:nvSpPr>
        <p:spPr>
          <a:xfrm>
            <a:off x="7374636" y="4073652"/>
            <a:ext cx="1184148" cy="370332"/>
          </a:xfrm>
          <a:prstGeom prst="roundRect">
            <a:avLst>
              <a:gd fmla="val 18519" name="adj"/>
            </a:avLst>
          </a:prstGeom>
          <a:solidFill>
            <a:srgbClr val="332B18"/>
          </a:solidFill>
          <a:ln cap="flat" cmpd="sng" w="12700">
            <a:solidFill>
              <a:srgbClr val="C09321"/>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BBF24"/>
              </a:buClr>
              <a:buSzPts val="700"/>
              <a:buFont typeface="Courier New"/>
              <a:buNone/>
            </a:pPr>
            <a:r>
              <a:rPr b="1" i="0" lang="en" sz="700" u="none" cap="none" strike="noStrike">
                <a:solidFill>
                  <a:srgbClr val="FBBF24"/>
                </a:solidFill>
                <a:latin typeface="Courier New"/>
                <a:ea typeface="Courier New"/>
                <a:cs typeface="Courier New"/>
                <a:sym typeface="Courier New"/>
              </a:rPr>
              <a:t>FULL CONTROL</a:t>
            </a:r>
            <a:endParaRPr b="0" i="0" sz="700" u="none" cap="none" strike="noStrike">
              <a:solidFill>
                <a:schemeClr val="dk1"/>
              </a:solidFill>
              <a:latin typeface="Calibri"/>
              <a:ea typeface="Calibri"/>
              <a:cs typeface="Calibri"/>
              <a:sym typeface="Calibri"/>
            </a:endParaRPr>
          </a:p>
        </p:txBody>
      </p:sp>
      <p:sp>
        <p:nvSpPr>
          <p:cNvPr id="167" name="Google Shape;167;p18"/>
          <p:cNvSpPr/>
          <p:nvPr/>
        </p:nvSpPr>
        <p:spPr>
          <a:xfrm>
            <a:off x="425196" y="4814316"/>
            <a:ext cx="54864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4759"/>
              </a:buClr>
              <a:buSzPts val="600"/>
              <a:buFont typeface="Courier New"/>
              <a:buNone/>
            </a:pPr>
            <a:r>
              <a:rPr b="0" i="0" lang="en" sz="600" u="none" cap="none" strike="noStrike">
                <a:solidFill>
                  <a:srgbClr val="3E4759"/>
                </a:solidFill>
                <a:latin typeface="Courier New"/>
                <a:ea typeface="Courier New"/>
                <a:cs typeface="Courier New"/>
                <a:sym typeface="Courier New"/>
              </a:rPr>
              <a:t>OWASP MCP Top 10 · MCP02:2025</a:t>
            </a:r>
            <a:endParaRPr b="0" i="0" sz="6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2" name="Shape 172"/>
        <p:cNvGrpSpPr/>
        <p:nvPr/>
      </p:nvGrpSpPr>
      <p:grpSpPr>
        <a:xfrm>
          <a:off x="0" y="0"/>
          <a:ext cx="0" cy="0"/>
          <a:chOff x="0" y="0"/>
          <a:chExt cx="0" cy="0"/>
        </a:xfrm>
      </p:grpSpPr>
      <p:sp>
        <p:nvSpPr>
          <p:cNvPr id="173" name="Google Shape;173;p19"/>
          <p:cNvSpPr/>
          <p:nvPr/>
        </p:nvSpPr>
        <p:spPr>
          <a:xfrm>
            <a:off x="425196" y="411480"/>
            <a:ext cx="960120" cy="212598"/>
          </a:xfrm>
          <a:prstGeom prst="roundRect">
            <a:avLst>
              <a:gd fmla="val 29032" name="adj"/>
            </a:avLst>
          </a:prstGeom>
          <a:solidFill>
            <a:srgbClr val="26161A"/>
          </a:solidFill>
          <a:ln cap="flat" cmpd="sng" w="12700">
            <a:solidFill>
              <a:srgbClr val="8C4244"/>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87171"/>
              </a:buClr>
              <a:buSzPts val="800"/>
              <a:buFont typeface="Courier New"/>
              <a:buNone/>
            </a:pPr>
            <a:r>
              <a:rPr b="1" i="0" lang="en" sz="800" u="none" cap="none" strike="noStrike">
                <a:solidFill>
                  <a:srgbClr val="F87171"/>
                </a:solidFill>
                <a:latin typeface="Courier New"/>
                <a:ea typeface="Courier New"/>
                <a:cs typeface="Courier New"/>
                <a:sym typeface="Courier New"/>
              </a:rPr>
              <a:t>MCP03:2025</a:t>
            </a:r>
            <a:endParaRPr b="0" i="0" sz="800" u="none" cap="none" strike="noStrike">
              <a:solidFill>
                <a:schemeClr val="dk1"/>
              </a:solidFill>
              <a:latin typeface="Calibri"/>
              <a:ea typeface="Calibri"/>
              <a:cs typeface="Calibri"/>
              <a:sym typeface="Calibri"/>
            </a:endParaRPr>
          </a:p>
        </p:txBody>
      </p:sp>
      <p:sp>
        <p:nvSpPr>
          <p:cNvPr id="174" name="Google Shape;174;p19"/>
          <p:cNvSpPr/>
          <p:nvPr/>
        </p:nvSpPr>
        <p:spPr>
          <a:xfrm>
            <a:off x="425196" y="699516"/>
            <a:ext cx="3737610" cy="905256"/>
          </a:xfrm>
          <a:prstGeom prst="rect">
            <a:avLst/>
          </a:prstGeom>
          <a:noFill/>
          <a:ln>
            <a:noFill/>
          </a:ln>
        </p:spPr>
        <p:txBody>
          <a:bodyPr anchorCtr="0" anchor="t" bIns="0" lIns="0" spcFirstLastPara="1" rIns="0" wrap="square" tIns="0">
            <a:noAutofit/>
          </a:bodyPr>
          <a:lstStyle/>
          <a:p>
            <a:pPr indent="0" lvl="0" marL="0" marR="0" rtl="0" algn="l">
              <a:lnSpc>
                <a:spcPct val="92000"/>
              </a:lnSpc>
              <a:spcBef>
                <a:spcPts val="0"/>
              </a:spcBef>
              <a:spcAft>
                <a:spcPts val="0"/>
              </a:spcAft>
              <a:buClr>
                <a:srgbClr val="FFFFFF"/>
              </a:buClr>
              <a:buSzPts val="2700"/>
              <a:buFont typeface="Arial"/>
              <a:buNone/>
            </a:pPr>
            <a:r>
              <a:rPr b="1" i="0" lang="en" sz="2700" u="none" cap="none" strike="noStrike">
                <a:solidFill>
                  <a:srgbClr val="FFFFFF"/>
                </a:solidFill>
                <a:latin typeface="Arial"/>
                <a:ea typeface="Arial"/>
                <a:cs typeface="Arial"/>
                <a:sym typeface="Arial"/>
              </a:rPr>
              <a:t>Tool </a:t>
            </a:r>
            <a:r>
              <a:rPr b="1" i="0" lang="en" sz="2700" u="none" cap="none" strike="noStrike">
                <a:solidFill>
                  <a:srgbClr val="F87171"/>
                </a:solidFill>
                <a:latin typeface="Arial"/>
                <a:ea typeface="Arial"/>
                <a:cs typeface="Arial"/>
                <a:sym typeface="Arial"/>
              </a:rPr>
              <a:t>Poisoning</a:t>
            </a:r>
            <a:endParaRPr b="0" i="0" sz="2700" u="none" cap="none" strike="noStrike">
              <a:solidFill>
                <a:schemeClr val="dk1"/>
              </a:solidFill>
              <a:latin typeface="Calibri"/>
              <a:ea typeface="Calibri"/>
              <a:cs typeface="Calibri"/>
              <a:sym typeface="Calibri"/>
            </a:endParaRPr>
          </a:p>
        </p:txBody>
      </p:sp>
      <p:sp>
        <p:nvSpPr>
          <p:cNvPr id="175" name="Google Shape;175;p19"/>
          <p:cNvSpPr/>
          <p:nvPr/>
        </p:nvSpPr>
        <p:spPr>
          <a:xfrm>
            <a:off x="425196" y="1687068"/>
            <a:ext cx="3566160" cy="45262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93A0B7"/>
              </a:buClr>
              <a:buSzPts val="900"/>
              <a:buFont typeface="Arial"/>
              <a:buNone/>
            </a:pPr>
            <a:r>
              <a:rPr b="0" i="0" lang="en" sz="900" u="none" cap="none" strike="noStrike">
                <a:solidFill>
                  <a:srgbClr val="93A0B7"/>
                </a:solidFill>
                <a:latin typeface="Arial"/>
                <a:ea typeface="Arial"/>
                <a:cs typeface="Arial"/>
                <a:sym typeface="Arial"/>
              </a:rPr>
              <a:t>A tool the agent trusts is tampered with, so it quietly returns misleading results.</a:t>
            </a:r>
            <a:endParaRPr b="0" i="0" sz="900" u="none" cap="none" strike="noStrike">
              <a:solidFill>
                <a:schemeClr val="dk1"/>
              </a:solidFill>
              <a:latin typeface="Calibri"/>
              <a:ea typeface="Calibri"/>
              <a:cs typeface="Calibri"/>
              <a:sym typeface="Calibri"/>
            </a:endParaRPr>
          </a:p>
        </p:txBody>
      </p:sp>
      <p:sp>
        <p:nvSpPr>
          <p:cNvPr id="176" name="Google Shape;176;p19"/>
          <p:cNvSpPr/>
          <p:nvPr/>
        </p:nvSpPr>
        <p:spPr>
          <a:xfrm>
            <a:off x="425196" y="2441448"/>
            <a:ext cx="3648456" cy="905256"/>
          </a:xfrm>
          <a:prstGeom prst="roundRect">
            <a:avLst>
              <a:gd fmla="val 9848" name="adj"/>
            </a:avLst>
          </a:prstGeom>
          <a:solidFill>
            <a:srgbClr val="0D0F16"/>
          </a:solidFill>
          <a:ln cap="flat" cmpd="sng" w="12700">
            <a:solidFill>
              <a:srgbClr val="4E354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7" name="Google Shape;177;p19"/>
          <p:cNvSpPr/>
          <p:nvPr/>
        </p:nvSpPr>
        <p:spPr>
          <a:xfrm>
            <a:off x="603504" y="2736342"/>
            <a:ext cx="315468" cy="315468"/>
          </a:xfrm>
          <a:prstGeom prst="roundRect">
            <a:avLst>
              <a:gd fmla="val 23913" name="adj"/>
            </a:avLst>
          </a:prstGeom>
          <a:solidFill>
            <a:srgbClr val="331F25"/>
          </a:solidFill>
          <a:ln cap="flat" cmpd="sng" w="12700">
            <a:solidFill>
              <a:srgbClr val="83404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home/claude/art/out/icon-car.png" id="178" name="Google Shape;178;p19"/>
          <p:cNvPicPr preferRelativeResize="0"/>
          <p:nvPr/>
        </p:nvPicPr>
        <p:blipFill rotWithShape="1">
          <a:blip r:embed="rId4">
            <a:alphaModFix/>
          </a:blip>
          <a:srcRect b="0" l="0" r="0" t="0"/>
          <a:stretch/>
        </p:blipFill>
        <p:spPr>
          <a:xfrm>
            <a:off x="654939" y="2787777"/>
            <a:ext cx="212598" cy="212598"/>
          </a:xfrm>
          <a:prstGeom prst="rect">
            <a:avLst/>
          </a:prstGeom>
          <a:noFill/>
          <a:ln>
            <a:noFill/>
          </a:ln>
        </p:spPr>
      </p:pic>
      <p:sp>
        <p:nvSpPr>
          <p:cNvPr id="179" name="Google Shape;179;p19"/>
          <p:cNvSpPr/>
          <p:nvPr/>
        </p:nvSpPr>
        <p:spPr>
          <a:xfrm>
            <a:off x="1056132" y="2558034"/>
            <a:ext cx="2852928"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7171"/>
              </a:buClr>
              <a:buSzPts val="700"/>
              <a:buFont typeface="Courier New"/>
              <a:buNone/>
            </a:pPr>
            <a:r>
              <a:rPr b="1" i="0" lang="en" sz="700" u="none" cap="none" strike="noStrike">
                <a:solidFill>
                  <a:srgbClr val="F87171"/>
                </a:solidFill>
                <a:latin typeface="Courier New"/>
                <a:ea typeface="Courier New"/>
                <a:cs typeface="Courier New"/>
                <a:sym typeface="Courier New"/>
              </a:rPr>
              <a:t>IN THE CAR</a:t>
            </a:r>
            <a:endParaRPr b="0" i="0" sz="700" u="none" cap="none" strike="noStrike">
              <a:solidFill>
                <a:schemeClr val="dk1"/>
              </a:solidFill>
              <a:latin typeface="Calibri"/>
              <a:ea typeface="Calibri"/>
              <a:cs typeface="Calibri"/>
              <a:sym typeface="Calibri"/>
            </a:endParaRPr>
          </a:p>
        </p:txBody>
      </p:sp>
      <p:sp>
        <p:nvSpPr>
          <p:cNvPr id="180" name="Google Shape;180;p19"/>
          <p:cNvSpPr/>
          <p:nvPr/>
        </p:nvSpPr>
        <p:spPr>
          <a:xfrm>
            <a:off x="1056132" y="2743200"/>
            <a:ext cx="2852928" cy="4937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D7DEEA"/>
              </a:buClr>
              <a:buSzPts val="900"/>
              <a:buFont typeface="Arial"/>
              <a:buNone/>
            </a:pPr>
            <a:r>
              <a:rPr b="0" i="0" lang="en" sz="900" u="none" cap="none" strike="noStrike">
                <a:solidFill>
                  <a:srgbClr val="D7DEEA"/>
                </a:solidFill>
                <a:latin typeface="Arial"/>
                <a:ea typeface="Arial"/>
                <a:cs typeface="Arial"/>
                <a:sym typeface="Arial"/>
              </a:rPr>
              <a:t>Someone re-programmed the GPS. It looks perfectly normal and sends you the wrong way.</a:t>
            </a:r>
            <a:endParaRPr b="0" i="0" sz="900" u="none" cap="none" strike="noStrike">
              <a:solidFill>
                <a:schemeClr val="dk1"/>
              </a:solidFill>
              <a:latin typeface="Calibri"/>
              <a:ea typeface="Calibri"/>
              <a:cs typeface="Calibri"/>
              <a:sym typeface="Calibri"/>
            </a:endParaRPr>
          </a:p>
        </p:txBody>
      </p:sp>
      <p:sp>
        <p:nvSpPr>
          <p:cNvPr id="181" name="Google Shape;181;p19"/>
          <p:cNvSpPr/>
          <p:nvPr/>
        </p:nvSpPr>
        <p:spPr>
          <a:xfrm>
            <a:off x="425196" y="3483864"/>
            <a:ext cx="3648456" cy="905256"/>
          </a:xfrm>
          <a:prstGeom prst="roundRect">
            <a:avLst>
              <a:gd fmla="val 9848" name="adj"/>
            </a:avLst>
          </a:prstGeom>
          <a:solidFill>
            <a:srgbClr val="0D0F16"/>
          </a:solidFill>
          <a:ln cap="flat" cmpd="sng" w="12700">
            <a:solidFill>
              <a:srgbClr val="234B4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2" name="Google Shape;182;p19"/>
          <p:cNvSpPr/>
          <p:nvPr/>
        </p:nvSpPr>
        <p:spPr>
          <a:xfrm>
            <a:off x="603504" y="3778758"/>
            <a:ext cx="315468" cy="315468"/>
          </a:xfrm>
          <a:prstGeom prst="roundRect">
            <a:avLst>
              <a:gd fmla="val 23913" name="adj"/>
            </a:avLst>
          </a:prstGeom>
          <a:solidFill>
            <a:srgbClr val="132E2B"/>
          </a:solidFill>
          <a:ln cap="flat" cmpd="sng" w="12700">
            <a:solidFill>
              <a:srgbClr val="21715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home/claude/art/out/icon-shield.png" id="183" name="Google Shape;183;p19"/>
          <p:cNvPicPr preferRelativeResize="0"/>
          <p:nvPr/>
        </p:nvPicPr>
        <p:blipFill rotWithShape="1">
          <a:blip r:embed="rId5">
            <a:alphaModFix/>
          </a:blip>
          <a:srcRect b="0" l="0" r="0" t="0"/>
          <a:stretch/>
        </p:blipFill>
        <p:spPr>
          <a:xfrm>
            <a:off x="654939" y="3830193"/>
            <a:ext cx="212598" cy="212598"/>
          </a:xfrm>
          <a:prstGeom prst="rect">
            <a:avLst/>
          </a:prstGeom>
          <a:noFill/>
          <a:ln>
            <a:noFill/>
          </a:ln>
        </p:spPr>
      </p:pic>
      <p:sp>
        <p:nvSpPr>
          <p:cNvPr id="184" name="Google Shape;184;p19"/>
          <p:cNvSpPr/>
          <p:nvPr/>
        </p:nvSpPr>
        <p:spPr>
          <a:xfrm>
            <a:off x="1056132" y="3600450"/>
            <a:ext cx="2852928"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4D399"/>
              </a:buClr>
              <a:buSzPts val="700"/>
              <a:buFont typeface="Courier New"/>
              <a:buNone/>
            </a:pPr>
            <a:r>
              <a:rPr b="1" i="0" lang="en" sz="700" u="none" cap="none" strike="noStrike">
                <a:solidFill>
                  <a:srgbClr val="34D399"/>
                </a:solidFill>
                <a:latin typeface="Courier New"/>
                <a:ea typeface="Courier New"/>
                <a:cs typeface="Courier New"/>
                <a:sym typeface="Courier New"/>
              </a:rPr>
              <a:t>GUARDRAIL</a:t>
            </a:r>
            <a:endParaRPr b="0" i="0" sz="700" u="none" cap="none" strike="noStrike">
              <a:solidFill>
                <a:schemeClr val="dk1"/>
              </a:solidFill>
              <a:latin typeface="Calibri"/>
              <a:ea typeface="Calibri"/>
              <a:cs typeface="Calibri"/>
              <a:sym typeface="Calibri"/>
            </a:endParaRPr>
          </a:p>
        </p:txBody>
      </p:sp>
      <p:sp>
        <p:nvSpPr>
          <p:cNvPr id="185" name="Google Shape;185;p19"/>
          <p:cNvSpPr/>
          <p:nvPr/>
        </p:nvSpPr>
        <p:spPr>
          <a:xfrm>
            <a:off x="1056132" y="3785616"/>
            <a:ext cx="2852928" cy="4937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D7DEEA"/>
              </a:buClr>
              <a:buSzPts val="900"/>
              <a:buFont typeface="Arial"/>
              <a:buNone/>
            </a:pPr>
            <a:r>
              <a:rPr b="0" i="0" lang="en" sz="900" u="none" cap="none" strike="noStrike">
                <a:solidFill>
                  <a:srgbClr val="D7DEEA"/>
                </a:solidFill>
                <a:latin typeface="Arial"/>
                <a:ea typeface="Arial"/>
                <a:cs typeface="Arial"/>
                <a:sym typeface="Arial"/>
              </a:rPr>
              <a:t>Pin and verify tools. Alert when a tool description changes.</a:t>
            </a:r>
            <a:endParaRPr b="0" i="0" sz="900" u="none" cap="none" strike="noStrike">
              <a:solidFill>
                <a:schemeClr val="dk1"/>
              </a:solidFill>
              <a:latin typeface="Calibri"/>
              <a:ea typeface="Calibri"/>
              <a:cs typeface="Calibri"/>
              <a:sym typeface="Calibri"/>
            </a:endParaRPr>
          </a:p>
        </p:txBody>
      </p:sp>
      <p:sp>
        <p:nvSpPr>
          <p:cNvPr id="186" name="Google Shape;186;p19"/>
          <p:cNvSpPr/>
          <p:nvPr/>
        </p:nvSpPr>
        <p:spPr>
          <a:xfrm>
            <a:off x="4354830" y="425196"/>
            <a:ext cx="4389120" cy="4293108"/>
          </a:xfrm>
          <a:prstGeom prst="roundRect">
            <a:avLst>
              <a:gd fmla="val 2077" name="adj"/>
            </a:avLst>
          </a:prstGeom>
          <a:solidFill>
            <a:srgbClr val="0D0F16"/>
          </a:solidFill>
          <a:ln cap="flat" cmpd="sng" w="12700">
            <a:solidFill>
              <a:srgbClr val="1E243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7" name="Google Shape;187;p19"/>
          <p:cNvSpPr/>
          <p:nvPr/>
        </p:nvSpPr>
        <p:spPr>
          <a:xfrm>
            <a:off x="4539996" y="548640"/>
            <a:ext cx="40462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8748C"/>
              </a:buClr>
              <a:buSzPts val="700"/>
              <a:buFont typeface="Courier New"/>
              <a:buNone/>
            </a:pPr>
            <a:r>
              <a:rPr b="1" i="0" lang="en" sz="700" u="none" cap="none" strike="noStrike">
                <a:solidFill>
                  <a:srgbClr val="68748C"/>
                </a:solidFill>
                <a:latin typeface="Courier New"/>
                <a:ea typeface="Courier New"/>
                <a:cs typeface="Courier New"/>
                <a:sym typeface="Courier New"/>
              </a:rPr>
              <a:t>ATTACK SCENARIO</a:t>
            </a:r>
            <a:endParaRPr b="0" i="0" sz="700" u="none" cap="none" strike="noStrike">
              <a:solidFill>
                <a:schemeClr val="dk1"/>
              </a:solidFill>
              <a:latin typeface="Calibri"/>
              <a:ea typeface="Calibri"/>
              <a:cs typeface="Calibri"/>
              <a:sym typeface="Calibri"/>
            </a:endParaRPr>
          </a:p>
        </p:txBody>
      </p:sp>
      <p:sp>
        <p:nvSpPr>
          <p:cNvPr id="188" name="Google Shape;188;p19"/>
          <p:cNvSpPr/>
          <p:nvPr/>
        </p:nvSpPr>
        <p:spPr>
          <a:xfrm>
            <a:off x="4539996" y="768096"/>
            <a:ext cx="4018788" cy="7544"/>
          </a:xfrm>
          <a:prstGeom prst="rect">
            <a:avLst/>
          </a:prstGeom>
          <a:solidFill>
            <a:srgbClr val="181D2A"/>
          </a:solidFill>
          <a:ln cap="flat" cmpd="sng" w="12700">
            <a:solidFill>
              <a:srgbClr val="33333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home/claude/art/out/mcp03.png" id="189" name="Google Shape;189;p19"/>
          <p:cNvPicPr preferRelativeResize="0"/>
          <p:nvPr/>
        </p:nvPicPr>
        <p:blipFill rotWithShape="1">
          <a:blip r:embed="rId6">
            <a:alphaModFix/>
          </a:blip>
          <a:srcRect b="0" l="0" r="0" t="0"/>
          <a:stretch/>
        </p:blipFill>
        <p:spPr>
          <a:xfrm>
            <a:off x="4526280" y="918972"/>
            <a:ext cx="4046220" cy="2530602"/>
          </a:xfrm>
          <a:prstGeom prst="rect">
            <a:avLst/>
          </a:prstGeom>
          <a:noFill/>
          <a:ln>
            <a:noFill/>
          </a:ln>
        </p:spPr>
      </p:pic>
      <p:sp>
        <p:nvSpPr>
          <p:cNvPr id="190" name="Google Shape;190;p19"/>
          <p:cNvSpPr/>
          <p:nvPr/>
        </p:nvSpPr>
        <p:spPr>
          <a:xfrm>
            <a:off x="4539996" y="3525012"/>
            <a:ext cx="4018788" cy="2331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7DEEA"/>
              </a:buClr>
              <a:buSzPts val="900"/>
              <a:buFont typeface="Arial"/>
              <a:buNone/>
            </a:pPr>
            <a:r>
              <a:rPr b="0" i="1" lang="en" sz="900" u="none" cap="none" strike="noStrike">
                <a:solidFill>
                  <a:srgbClr val="D7DEEA"/>
                </a:solidFill>
                <a:latin typeface="Arial"/>
                <a:ea typeface="Arial"/>
                <a:cs typeface="Arial"/>
                <a:sym typeface="Arial"/>
              </a:rPr>
              <a:t>The GPS that was quietly re-programmed</a:t>
            </a:r>
            <a:endParaRPr b="0" i="0" sz="900" u="none" cap="none" strike="noStrike">
              <a:solidFill>
                <a:schemeClr val="dk1"/>
              </a:solidFill>
              <a:latin typeface="Calibri"/>
              <a:ea typeface="Calibri"/>
              <a:cs typeface="Calibri"/>
              <a:sym typeface="Calibri"/>
            </a:endParaRPr>
          </a:p>
        </p:txBody>
      </p:sp>
      <p:sp>
        <p:nvSpPr>
          <p:cNvPr id="191" name="Google Shape;191;p19"/>
          <p:cNvSpPr/>
          <p:nvPr/>
        </p:nvSpPr>
        <p:spPr>
          <a:xfrm>
            <a:off x="4539996" y="3854196"/>
            <a:ext cx="40462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8748C"/>
              </a:buClr>
              <a:buSzPts val="700"/>
              <a:buFont typeface="Courier New"/>
              <a:buNone/>
            </a:pPr>
            <a:r>
              <a:rPr b="1" i="0" lang="en" sz="700" u="none" cap="none" strike="noStrike">
                <a:solidFill>
                  <a:srgbClr val="68748C"/>
                </a:solidFill>
                <a:latin typeface="Courier New"/>
                <a:ea typeface="Courier New"/>
                <a:cs typeface="Courier New"/>
                <a:sym typeface="Courier New"/>
              </a:rPr>
              <a:t>HOW IT PLAYS OUT</a:t>
            </a:r>
            <a:endParaRPr b="0" i="0" sz="700" u="none" cap="none" strike="noStrike">
              <a:solidFill>
                <a:schemeClr val="dk1"/>
              </a:solidFill>
              <a:latin typeface="Calibri"/>
              <a:ea typeface="Calibri"/>
              <a:cs typeface="Calibri"/>
              <a:sym typeface="Calibri"/>
            </a:endParaRPr>
          </a:p>
        </p:txBody>
      </p:sp>
      <p:sp>
        <p:nvSpPr>
          <p:cNvPr id="192" name="Google Shape;192;p19"/>
          <p:cNvSpPr/>
          <p:nvPr/>
        </p:nvSpPr>
        <p:spPr>
          <a:xfrm>
            <a:off x="4539996" y="4073652"/>
            <a:ext cx="1184148" cy="370332"/>
          </a:xfrm>
          <a:prstGeom prst="roundRect">
            <a:avLst>
              <a:gd fmla="val 18519" name="adj"/>
            </a:avLst>
          </a:prstGeom>
          <a:solidFill>
            <a:srgbClr val="1D161C"/>
          </a:solidFill>
          <a:ln cap="flat" cmpd="sng" w="12700">
            <a:solidFill>
              <a:srgbClr val="5F3136"/>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D7DEEA"/>
              </a:buClr>
              <a:buSzPts val="700"/>
              <a:buFont typeface="Courier New"/>
              <a:buNone/>
            </a:pPr>
            <a:r>
              <a:rPr b="1" i="0" lang="en" sz="700" u="none" cap="none" strike="noStrike">
                <a:solidFill>
                  <a:srgbClr val="D7DEEA"/>
                </a:solidFill>
                <a:latin typeface="Courier New"/>
                <a:ea typeface="Courier New"/>
                <a:cs typeface="Courier New"/>
                <a:sym typeface="Courier New"/>
              </a:rPr>
              <a:t>TOOL TAMPERED</a:t>
            </a:r>
            <a:endParaRPr b="0" i="0" sz="700" u="none" cap="none" strike="noStrike">
              <a:solidFill>
                <a:schemeClr val="dk1"/>
              </a:solidFill>
              <a:latin typeface="Calibri"/>
              <a:ea typeface="Calibri"/>
              <a:cs typeface="Calibri"/>
              <a:sym typeface="Calibri"/>
            </a:endParaRPr>
          </a:p>
        </p:txBody>
      </p:sp>
      <p:sp>
        <p:nvSpPr>
          <p:cNvPr id="193" name="Google Shape;193;p19"/>
          <p:cNvSpPr/>
          <p:nvPr/>
        </p:nvSpPr>
        <p:spPr>
          <a:xfrm>
            <a:off x="5724144" y="4073652"/>
            <a:ext cx="233172" cy="3703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25456"/>
              </a:buClr>
              <a:buSzPts val="1000"/>
              <a:buFont typeface="Arial"/>
              <a:buNone/>
            </a:pPr>
            <a:r>
              <a:rPr b="0" i="0" lang="en" sz="1000" u="none" cap="none" strike="noStrike">
                <a:solidFill>
                  <a:srgbClr val="B25456"/>
                </a:solidFill>
                <a:latin typeface="Arial"/>
                <a:ea typeface="Arial"/>
                <a:cs typeface="Arial"/>
                <a:sym typeface="Arial"/>
              </a:rPr>
              <a:t>→</a:t>
            </a:r>
            <a:endParaRPr b="0" i="0" sz="1000" u="none" cap="none" strike="noStrike">
              <a:solidFill>
                <a:schemeClr val="dk1"/>
              </a:solidFill>
              <a:latin typeface="Calibri"/>
              <a:ea typeface="Calibri"/>
              <a:cs typeface="Calibri"/>
              <a:sym typeface="Calibri"/>
            </a:endParaRPr>
          </a:p>
        </p:txBody>
      </p:sp>
      <p:sp>
        <p:nvSpPr>
          <p:cNvPr id="194" name="Google Shape;194;p19"/>
          <p:cNvSpPr/>
          <p:nvPr/>
        </p:nvSpPr>
        <p:spPr>
          <a:xfrm>
            <a:off x="5957316" y="4073652"/>
            <a:ext cx="1184148" cy="370332"/>
          </a:xfrm>
          <a:prstGeom prst="roundRect">
            <a:avLst>
              <a:gd fmla="val 18519" name="adj"/>
            </a:avLst>
          </a:prstGeom>
          <a:solidFill>
            <a:srgbClr val="1D161C"/>
          </a:solidFill>
          <a:ln cap="flat" cmpd="sng" w="12700">
            <a:solidFill>
              <a:srgbClr val="5F3136"/>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D7DEEA"/>
              </a:buClr>
              <a:buSzPts val="700"/>
              <a:buFont typeface="Courier New"/>
              <a:buNone/>
            </a:pPr>
            <a:r>
              <a:rPr b="1" i="0" lang="en" sz="700" u="none" cap="none" strike="noStrike">
                <a:solidFill>
                  <a:srgbClr val="D7DEEA"/>
                </a:solidFill>
                <a:latin typeface="Courier New"/>
                <a:ea typeface="Courier New"/>
                <a:cs typeface="Courier New"/>
                <a:sym typeface="Courier New"/>
              </a:rPr>
              <a:t>OUTPUT LOOKS NORMAL</a:t>
            </a:r>
            <a:endParaRPr b="0" i="0" sz="700" u="none" cap="none" strike="noStrike">
              <a:solidFill>
                <a:schemeClr val="dk1"/>
              </a:solidFill>
              <a:latin typeface="Calibri"/>
              <a:ea typeface="Calibri"/>
              <a:cs typeface="Calibri"/>
              <a:sym typeface="Calibri"/>
            </a:endParaRPr>
          </a:p>
        </p:txBody>
      </p:sp>
      <p:sp>
        <p:nvSpPr>
          <p:cNvPr id="195" name="Google Shape;195;p19"/>
          <p:cNvSpPr/>
          <p:nvPr/>
        </p:nvSpPr>
        <p:spPr>
          <a:xfrm>
            <a:off x="7141464" y="4073652"/>
            <a:ext cx="233172" cy="3703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25456"/>
              </a:buClr>
              <a:buSzPts val="1000"/>
              <a:buFont typeface="Arial"/>
              <a:buNone/>
            </a:pPr>
            <a:r>
              <a:rPr b="0" i="0" lang="en" sz="1000" u="none" cap="none" strike="noStrike">
                <a:solidFill>
                  <a:srgbClr val="B25456"/>
                </a:solidFill>
                <a:latin typeface="Arial"/>
                <a:ea typeface="Arial"/>
                <a:cs typeface="Arial"/>
                <a:sym typeface="Arial"/>
              </a:rPr>
              <a:t>→</a:t>
            </a:r>
            <a:endParaRPr b="0" i="0" sz="1000" u="none" cap="none" strike="noStrike">
              <a:solidFill>
                <a:schemeClr val="dk1"/>
              </a:solidFill>
              <a:latin typeface="Calibri"/>
              <a:ea typeface="Calibri"/>
              <a:cs typeface="Calibri"/>
              <a:sym typeface="Calibri"/>
            </a:endParaRPr>
          </a:p>
        </p:txBody>
      </p:sp>
      <p:sp>
        <p:nvSpPr>
          <p:cNvPr id="196" name="Google Shape;196;p19"/>
          <p:cNvSpPr/>
          <p:nvPr/>
        </p:nvSpPr>
        <p:spPr>
          <a:xfrm>
            <a:off x="7374636" y="4073652"/>
            <a:ext cx="1184148" cy="370332"/>
          </a:xfrm>
          <a:prstGeom prst="roundRect">
            <a:avLst>
              <a:gd fmla="val 18519" name="adj"/>
            </a:avLst>
          </a:prstGeom>
          <a:solidFill>
            <a:srgbClr val="331F25"/>
          </a:solidFill>
          <a:ln cap="flat" cmpd="sng" w="12700">
            <a:solidFill>
              <a:srgbClr val="BD595A"/>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87171"/>
              </a:buClr>
              <a:buSzPts val="700"/>
              <a:buFont typeface="Courier New"/>
              <a:buNone/>
            </a:pPr>
            <a:r>
              <a:rPr b="1" i="0" lang="en" sz="700" u="none" cap="none" strike="noStrike">
                <a:solidFill>
                  <a:srgbClr val="F87171"/>
                </a:solidFill>
                <a:latin typeface="Courier New"/>
                <a:ea typeface="Courier New"/>
                <a:cs typeface="Courier New"/>
                <a:sym typeface="Courier New"/>
              </a:rPr>
              <a:t>AGENT ACTS ON IT</a:t>
            </a:r>
            <a:endParaRPr b="0" i="0" sz="700" u="none" cap="none" strike="noStrike">
              <a:solidFill>
                <a:schemeClr val="dk1"/>
              </a:solidFill>
              <a:latin typeface="Calibri"/>
              <a:ea typeface="Calibri"/>
              <a:cs typeface="Calibri"/>
              <a:sym typeface="Calibri"/>
            </a:endParaRPr>
          </a:p>
        </p:txBody>
      </p:sp>
      <p:sp>
        <p:nvSpPr>
          <p:cNvPr id="197" name="Google Shape;197;p19"/>
          <p:cNvSpPr/>
          <p:nvPr/>
        </p:nvSpPr>
        <p:spPr>
          <a:xfrm>
            <a:off x="425196" y="4814316"/>
            <a:ext cx="54864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4759"/>
              </a:buClr>
              <a:buSzPts val="600"/>
              <a:buFont typeface="Courier New"/>
              <a:buNone/>
            </a:pPr>
            <a:r>
              <a:rPr b="0" i="0" lang="en" sz="600" u="none" cap="none" strike="noStrike">
                <a:solidFill>
                  <a:srgbClr val="3E4759"/>
                </a:solidFill>
                <a:latin typeface="Courier New"/>
                <a:ea typeface="Courier New"/>
                <a:cs typeface="Courier New"/>
                <a:sym typeface="Courier New"/>
              </a:rPr>
              <a:t>OWASP MCP Top 10 · MCP03:2025</a:t>
            </a:r>
            <a:endParaRPr b="0" i="0" sz="6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2" name="Shape 202"/>
        <p:cNvGrpSpPr/>
        <p:nvPr/>
      </p:nvGrpSpPr>
      <p:grpSpPr>
        <a:xfrm>
          <a:off x="0" y="0"/>
          <a:ext cx="0" cy="0"/>
          <a:chOff x="0" y="0"/>
          <a:chExt cx="0" cy="0"/>
        </a:xfrm>
      </p:grpSpPr>
      <p:sp>
        <p:nvSpPr>
          <p:cNvPr id="203" name="Google Shape;203;p20"/>
          <p:cNvSpPr/>
          <p:nvPr/>
        </p:nvSpPr>
        <p:spPr>
          <a:xfrm>
            <a:off x="425196" y="411480"/>
            <a:ext cx="960120" cy="212598"/>
          </a:xfrm>
          <a:prstGeom prst="roundRect">
            <a:avLst>
              <a:gd fmla="val 29032" name="adj"/>
            </a:avLst>
          </a:prstGeom>
          <a:solidFill>
            <a:srgbClr val="272010"/>
          </a:solidFill>
          <a:ln cap="flat" cmpd="sng" w="12700">
            <a:solidFill>
              <a:srgbClr val="8D6D1A"/>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BBF24"/>
              </a:buClr>
              <a:buSzPts val="800"/>
              <a:buFont typeface="Courier New"/>
              <a:buNone/>
            </a:pPr>
            <a:r>
              <a:rPr b="1" i="0" lang="en" sz="800" u="none" cap="none" strike="noStrike">
                <a:solidFill>
                  <a:srgbClr val="FBBF24"/>
                </a:solidFill>
                <a:latin typeface="Courier New"/>
                <a:ea typeface="Courier New"/>
                <a:cs typeface="Courier New"/>
                <a:sym typeface="Courier New"/>
              </a:rPr>
              <a:t>MCP04:2025</a:t>
            </a:r>
            <a:endParaRPr b="0" i="0" sz="800" u="none" cap="none" strike="noStrike">
              <a:solidFill>
                <a:schemeClr val="dk1"/>
              </a:solidFill>
              <a:latin typeface="Calibri"/>
              <a:ea typeface="Calibri"/>
              <a:cs typeface="Calibri"/>
              <a:sym typeface="Calibri"/>
            </a:endParaRPr>
          </a:p>
        </p:txBody>
      </p:sp>
      <p:sp>
        <p:nvSpPr>
          <p:cNvPr id="204" name="Google Shape;204;p20"/>
          <p:cNvSpPr/>
          <p:nvPr/>
        </p:nvSpPr>
        <p:spPr>
          <a:xfrm>
            <a:off x="425196" y="699516"/>
            <a:ext cx="3737610" cy="905256"/>
          </a:xfrm>
          <a:prstGeom prst="rect">
            <a:avLst/>
          </a:prstGeom>
          <a:noFill/>
          <a:ln>
            <a:noFill/>
          </a:ln>
        </p:spPr>
        <p:txBody>
          <a:bodyPr anchorCtr="0" anchor="t" bIns="0" lIns="0" spcFirstLastPara="1" rIns="0" wrap="square" tIns="0">
            <a:noAutofit/>
          </a:bodyPr>
          <a:lstStyle/>
          <a:p>
            <a:pPr indent="0" lvl="0" marL="0" marR="0" rtl="0" algn="l">
              <a:lnSpc>
                <a:spcPct val="92000"/>
              </a:lnSpc>
              <a:spcBef>
                <a:spcPts val="0"/>
              </a:spcBef>
              <a:spcAft>
                <a:spcPts val="0"/>
              </a:spcAft>
              <a:buClr>
                <a:srgbClr val="FFFFFF"/>
              </a:buClr>
              <a:buSzPts val="2100"/>
              <a:buFont typeface="Arial"/>
              <a:buNone/>
            </a:pPr>
            <a:r>
              <a:rPr b="1" i="0" lang="en" sz="2100" u="none" cap="none" strike="noStrike">
                <a:solidFill>
                  <a:srgbClr val="FFFFFF"/>
                </a:solidFill>
                <a:latin typeface="Arial"/>
                <a:ea typeface="Arial"/>
                <a:cs typeface="Arial"/>
                <a:sym typeface="Arial"/>
              </a:rPr>
              <a:t>Supply Chain &amp; </a:t>
            </a:r>
            <a:r>
              <a:rPr b="1" i="0" lang="en" sz="2100" u="none" cap="none" strike="noStrike">
                <a:solidFill>
                  <a:srgbClr val="FBBF24"/>
                </a:solidFill>
                <a:latin typeface="Arial"/>
                <a:ea typeface="Arial"/>
                <a:cs typeface="Arial"/>
                <a:sym typeface="Arial"/>
              </a:rPr>
              <a:t>Dependency Tampering</a:t>
            </a:r>
            <a:endParaRPr b="0" i="0" sz="2100" u="none" cap="none" strike="noStrike">
              <a:solidFill>
                <a:schemeClr val="dk1"/>
              </a:solidFill>
              <a:latin typeface="Calibri"/>
              <a:ea typeface="Calibri"/>
              <a:cs typeface="Calibri"/>
              <a:sym typeface="Calibri"/>
            </a:endParaRPr>
          </a:p>
        </p:txBody>
      </p:sp>
      <p:sp>
        <p:nvSpPr>
          <p:cNvPr id="205" name="Google Shape;205;p20"/>
          <p:cNvSpPr/>
          <p:nvPr/>
        </p:nvSpPr>
        <p:spPr>
          <a:xfrm>
            <a:off x="425196" y="1687068"/>
            <a:ext cx="3566160" cy="45262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93A0B7"/>
              </a:buClr>
              <a:buSzPts val="900"/>
              <a:buFont typeface="Arial"/>
              <a:buNone/>
            </a:pPr>
            <a:r>
              <a:rPr b="0" i="0" lang="en" sz="900" u="none" cap="none" strike="noStrike">
                <a:solidFill>
                  <a:srgbClr val="93A0B7"/>
                </a:solidFill>
                <a:latin typeface="Arial"/>
                <a:ea typeface="Arial"/>
                <a:cs typeface="Arial"/>
                <a:sym typeface="Arial"/>
              </a:rPr>
              <a:t>A compromised package inside the MCP server changes what the agent actually does.</a:t>
            </a:r>
            <a:endParaRPr b="0" i="0" sz="900" u="none" cap="none" strike="noStrike">
              <a:solidFill>
                <a:schemeClr val="dk1"/>
              </a:solidFill>
              <a:latin typeface="Calibri"/>
              <a:ea typeface="Calibri"/>
              <a:cs typeface="Calibri"/>
              <a:sym typeface="Calibri"/>
            </a:endParaRPr>
          </a:p>
        </p:txBody>
      </p:sp>
      <p:sp>
        <p:nvSpPr>
          <p:cNvPr id="206" name="Google Shape;206;p20"/>
          <p:cNvSpPr/>
          <p:nvPr/>
        </p:nvSpPr>
        <p:spPr>
          <a:xfrm>
            <a:off x="425196" y="2441448"/>
            <a:ext cx="3648456" cy="905256"/>
          </a:xfrm>
          <a:prstGeom prst="roundRect">
            <a:avLst>
              <a:gd fmla="val 9848" name="adj"/>
            </a:avLst>
          </a:prstGeom>
          <a:solidFill>
            <a:srgbClr val="0D0F16"/>
          </a:solidFill>
          <a:ln cap="flat" cmpd="sng" w="12700">
            <a:solidFill>
              <a:srgbClr val="4F463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7" name="Google Shape;207;p20"/>
          <p:cNvSpPr/>
          <p:nvPr/>
        </p:nvSpPr>
        <p:spPr>
          <a:xfrm>
            <a:off x="603504" y="2736342"/>
            <a:ext cx="315468" cy="315468"/>
          </a:xfrm>
          <a:prstGeom prst="roundRect">
            <a:avLst>
              <a:gd fmla="val 23913" name="adj"/>
            </a:avLst>
          </a:prstGeom>
          <a:solidFill>
            <a:srgbClr val="332B18"/>
          </a:solidFill>
          <a:ln cap="flat" cmpd="sng" w="12700">
            <a:solidFill>
              <a:srgbClr val="84671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home/claude/art/out/icon-car.png" id="208" name="Google Shape;208;p20"/>
          <p:cNvPicPr preferRelativeResize="0"/>
          <p:nvPr/>
        </p:nvPicPr>
        <p:blipFill rotWithShape="1">
          <a:blip r:embed="rId4">
            <a:alphaModFix/>
          </a:blip>
          <a:srcRect b="0" l="0" r="0" t="0"/>
          <a:stretch/>
        </p:blipFill>
        <p:spPr>
          <a:xfrm>
            <a:off x="654939" y="2787777"/>
            <a:ext cx="212598" cy="212598"/>
          </a:xfrm>
          <a:prstGeom prst="rect">
            <a:avLst/>
          </a:prstGeom>
          <a:noFill/>
          <a:ln>
            <a:noFill/>
          </a:ln>
        </p:spPr>
      </p:pic>
      <p:sp>
        <p:nvSpPr>
          <p:cNvPr id="209" name="Google Shape;209;p20"/>
          <p:cNvSpPr/>
          <p:nvPr/>
        </p:nvSpPr>
        <p:spPr>
          <a:xfrm>
            <a:off x="1056132" y="2558034"/>
            <a:ext cx="2852928"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BBF24"/>
              </a:buClr>
              <a:buSzPts val="700"/>
              <a:buFont typeface="Courier New"/>
              <a:buNone/>
            </a:pPr>
            <a:r>
              <a:rPr b="1" i="0" lang="en" sz="700" u="none" cap="none" strike="noStrike">
                <a:solidFill>
                  <a:srgbClr val="FBBF24"/>
                </a:solidFill>
                <a:latin typeface="Courier New"/>
                <a:ea typeface="Courier New"/>
                <a:cs typeface="Courier New"/>
                <a:sym typeface="Courier New"/>
              </a:rPr>
              <a:t>IN THE CAR</a:t>
            </a:r>
            <a:endParaRPr b="0" i="0" sz="700" u="none" cap="none" strike="noStrike">
              <a:solidFill>
                <a:schemeClr val="dk1"/>
              </a:solidFill>
              <a:latin typeface="Calibri"/>
              <a:ea typeface="Calibri"/>
              <a:cs typeface="Calibri"/>
              <a:sym typeface="Calibri"/>
            </a:endParaRPr>
          </a:p>
        </p:txBody>
      </p:sp>
      <p:sp>
        <p:nvSpPr>
          <p:cNvPr id="210" name="Google Shape;210;p20"/>
          <p:cNvSpPr/>
          <p:nvPr/>
        </p:nvSpPr>
        <p:spPr>
          <a:xfrm>
            <a:off x="1056132" y="2743200"/>
            <a:ext cx="2852928" cy="4937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D7DEEA"/>
              </a:buClr>
              <a:buSzPts val="900"/>
              <a:buFont typeface="Arial"/>
              <a:buNone/>
            </a:pPr>
            <a:r>
              <a:rPr b="0" i="0" lang="en" sz="900" u="none" cap="none" strike="noStrike">
                <a:solidFill>
                  <a:srgbClr val="D7DEEA"/>
                </a:solidFill>
                <a:latin typeface="Arial"/>
                <a:ea typeface="Arial"/>
                <a:cs typeface="Arial"/>
                <a:sym typeface="Arial"/>
              </a:rPr>
              <a:t>The garage fitted a look-alike brake part. Same box, it fails when it matters.</a:t>
            </a:r>
            <a:endParaRPr b="0" i="0" sz="900" u="none" cap="none" strike="noStrike">
              <a:solidFill>
                <a:schemeClr val="dk1"/>
              </a:solidFill>
              <a:latin typeface="Calibri"/>
              <a:ea typeface="Calibri"/>
              <a:cs typeface="Calibri"/>
              <a:sym typeface="Calibri"/>
            </a:endParaRPr>
          </a:p>
        </p:txBody>
      </p:sp>
      <p:sp>
        <p:nvSpPr>
          <p:cNvPr id="211" name="Google Shape;211;p20"/>
          <p:cNvSpPr/>
          <p:nvPr/>
        </p:nvSpPr>
        <p:spPr>
          <a:xfrm>
            <a:off x="425196" y="3483864"/>
            <a:ext cx="3648456" cy="905256"/>
          </a:xfrm>
          <a:prstGeom prst="roundRect">
            <a:avLst>
              <a:gd fmla="val 9848" name="adj"/>
            </a:avLst>
          </a:prstGeom>
          <a:solidFill>
            <a:srgbClr val="0D0F16"/>
          </a:solidFill>
          <a:ln cap="flat" cmpd="sng" w="12700">
            <a:solidFill>
              <a:srgbClr val="234B4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2" name="Google Shape;212;p20"/>
          <p:cNvSpPr/>
          <p:nvPr/>
        </p:nvSpPr>
        <p:spPr>
          <a:xfrm>
            <a:off x="603504" y="3778758"/>
            <a:ext cx="315468" cy="315468"/>
          </a:xfrm>
          <a:prstGeom prst="roundRect">
            <a:avLst>
              <a:gd fmla="val 23913" name="adj"/>
            </a:avLst>
          </a:prstGeom>
          <a:solidFill>
            <a:srgbClr val="132E2B"/>
          </a:solidFill>
          <a:ln cap="flat" cmpd="sng" w="12700">
            <a:solidFill>
              <a:srgbClr val="21715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home/claude/art/out/icon-shield.png" id="213" name="Google Shape;213;p20"/>
          <p:cNvPicPr preferRelativeResize="0"/>
          <p:nvPr/>
        </p:nvPicPr>
        <p:blipFill rotWithShape="1">
          <a:blip r:embed="rId5">
            <a:alphaModFix/>
          </a:blip>
          <a:srcRect b="0" l="0" r="0" t="0"/>
          <a:stretch/>
        </p:blipFill>
        <p:spPr>
          <a:xfrm>
            <a:off x="654939" y="3830193"/>
            <a:ext cx="212598" cy="212598"/>
          </a:xfrm>
          <a:prstGeom prst="rect">
            <a:avLst/>
          </a:prstGeom>
          <a:noFill/>
          <a:ln>
            <a:noFill/>
          </a:ln>
        </p:spPr>
      </p:pic>
      <p:sp>
        <p:nvSpPr>
          <p:cNvPr id="214" name="Google Shape;214;p20"/>
          <p:cNvSpPr/>
          <p:nvPr/>
        </p:nvSpPr>
        <p:spPr>
          <a:xfrm>
            <a:off x="1056132" y="3600450"/>
            <a:ext cx="2852928"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4D399"/>
              </a:buClr>
              <a:buSzPts val="700"/>
              <a:buFont typeface="Courier New"/>
              <a:buNone/>
            </a:pPr>
            <a:r>
              <a:rPr b="1" i="0" lang="en" sz="700" u="none" cap="none" strike="noStrike">
                <a:solidFill>
                  <a:srgbClr val="34D399"/>
                </a:solidFill>
                <a:latin typeface="Courier New"/>
                <a:ea typeface="Courier New"/>
                <a:cs typeface="Courier New"/>
                <a:sym typeface="Courier New"/>
              </a:rPr>
              <a:t>GUARDRAIL</a:t>
            </a:r>
            <a:endParaRPr b="0" i="0" sz="700" u="none" cap="none" strike="noStrike">
              <a:solidFill>
                <a:schemeClr val="dk1"/>
              </a:solidFill>
              <a:latin typeface="Calibri"/>
              <a:ea typeface="Calibri"/>
              <a:cs typeface="Calibri"/>
              <a:sym typeface="Calibri"/>
            </a:endParaRPr>
          </a:p>
        </p:txBody>
      </p:sp>
      <p:sp>
        <p:nvSpPr>
          <p:cNvPr id="215" name="Google Shape;215;p20"/>
          <p:cNvSpPr/>
          <p:nvPr/>
        </p:nvSpPr>
        <p:spPr>
          <a:xfrm>
            <a:off x="1056132" y="3785616"/>
            <a:ext cx="2852928" cy="4937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D7DEEA"/>
              </a:buClr>
              <a:buSzPts val="900"/>
              <a:buFont typeface="Arial"/>
              <a:buNone/>
            </a:pPr>
            <a:r>
              <a:rPr b="0" i="0" lang="en" sz="900" u="none" cap="none" strike="noStrike">
                <a:solidFill>
                  <a:srgbClr val="D7DEEA"/>
                </a:solidFill>
                <a:latin typeface="Arial"/>
                <a:ea typeface="Arial"/>
                <a:cs typeface="Arial"/>
                <a:sym typeface="Arial"/>
              </a:rPr>
              <a:t>Known sources, pinned versions, signatures checked before it goes in.</a:t>
            </a:r>
            <a:endParaRPr b="0" i="0" sz="900" u="none" cap="none" strike="noStrike">
              <a:solidFill>
                <a:schemeClr val="dk1"/>
              </a:solidFill>
              <a:latin typeface="Calibri"/>
              <a:ea typeface="Calibri"/>
              <a:cs typeface="Calibri"/>
              <a:sym typeface="Calibri"/>
            </a:endParaRPr>
          </a:p>
        </p:txBody>
      </p:sp>
      <p:sp>
        <p:nvSpPr>
          <p:cNvPr id="216" name="Google Shape;216;p20"/>
          <p:cNvSpPr/>
          <p:nvPr/>
        </p:nvSpPr>
        <p:spPr>
          <a:xfrm>
            <a:off x="4354830" y="425196"/>
            <a:ext cx="4389120" cy="4293108"/>
          </a:xfrm>
          <a:prstGeom prst="roundRect">
            <a:avLst>
              <a:gd fmla="val 2077" name="adj"/>
            </a:avLst>
          </a:prstGeom>
          <a:solidFill>
            <a:srgbClr val="0D0F16"/>
          </a:solidFill>
          <a:ln cap="flat" cmpd="sng" w="12700">
            <a:solidFill>
              <a:srgbClr val="1E243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7" name="Google Shape;217;p20"/>
          <p:cNvSpPr/>
          <p:nvPr/>
        </p:nvSpPr>
        <p:spPr>
          <a:xfrm>
            <a:off x="4539996" y="548640"/>
            <a:ext cx="40462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8748C"/>
              </a:buClr>
              <a:buSzPts val="700"/>
              <a:buFont typeface="Courier New"/>
              <a:buNone/>
            </a:pPr>
            <a:r>
              <a:rPr b="1" i="0" lang="en" sz="700" u="none" cap="none" strike="noStrike">
                <a:solidFill>
                  <a:srgbClr val="68748C"/>
                </a:solidFill>
                <a:latin typeface="Courier New"/>
                <a:ea typeface="Courier New"/>
                <a:cs typeface="Courier New"/>
                <a:sym typeface="Courier New"/>
              </a:rPr>
              <a:t>ATTACK SCENARIO</a:t>
            </a:r>
            <a:endParaRPr b="0" i="0" sz="700" u="none" cap="none" strike="noStrike">
              <a:solidFill>
                <a:schemeClr val="dk1"/>
              </a:solidFill>
              <a:latin typeface="Calibri"/>
              <a:ea typeface="Calibri"/>
              <a:cs typeface="Calibri"/>
              <a:sym typeface="Calibri"/>
            </a:endParaRPr>
          </a:p>
        </p:txBody>
      </p:sp>
      <p:sp>
        <p:nvSpPr>
          <p:cNvPr id="218" name="Google Shape;218;p20"/>
          <p:cNvSpPr/>
          <p:nvPr/>
        </p:nvSpPr>
        <p:spPr>
          <a:xfrm>
            <a:off x="4539996" y="768096"/>
            <a:ext cx="4018788" cy="7544"/>
          </a:xfrm>
          <a:prstGeom prst="rect">
            <a:avLst/>
          </a:prstGeom>
          <a:solidFill>
            <a:srgbClr val="181D2A"/>
          </a:solidFill>
          <a:ln cap="flat" cmpd="sng" w="12700">
            <a:solidFill>
              <a:srgbClr val="33333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home/claude/art/out/mcp04.png" id="219" name="Google Shape;219;p20"/>
          <p:cNvPicPr preferRelativeResize="0"/>
          <p:nvPr/>
        </p:nvPicPr>
        <p:blipFill rotWithShape="1">
          <a:blip r:embed="rId6">
            <a:alphaModFix/>
          </a:blip>
          <a:srcRect b="0" l="0" r="0" t="0"/>
          <a:stretch/>
        </p:blipFill>
        <p:spPr>
          <a:xfrm>
            <a:off x="4526280" y="918972"/>
            <a:ext cx="4046220" cy="2530602"/>
          </a:xfrm>
          <a:prstGeom prst="rect">
            <a:avLst/>
          </a:prstGeom>
          <a:noFill/>
          <a:ln>
            <a:noFill/>
          </a:ln>
        </p:spPr>
      </p:pic>
      <p:sp>
        <p:nvSpPr>
          <p:cNvPr id="220" name="Google Shape;220;p20"/>
          <p:cNvSpPr/>
          <p:nvPr/>
        </p:nvSpPr>
        <p:spPr>
          <a:xfrm>
            <a:off x="4539996" y="3525012"/>
            <a:ext cx="4018788" cy="2331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7DEEA"/>
              </a:buClr>
              <a:buSzPts val="900"/>
              <a:buFont typeface="Arial"/>
              <a:buNone/>
            </a:pPr>
            <a:r>
              <a:rPr b="0" i="1" lang="en" sz="900" u="none" cap="none" strike="noStrike">
                <a:solidFill>
                  <a:srgbClr val="D7DEEA"/>
                </a:solidFill>
                <a:latin typeface="Arial"/>
                <a:ea typeface="Arial"/>
                <a:cs typeface="Arial"/>
                <a:sym typeface="Arial"/>
              </a:rPr>
              <a:t>The look-alike brake part</a:t>
            </a:r>
            <a:endParaRPr b="0" i="0" sz="900" u="none" cap="none" strike="noStrike">
              <a:solidFill>
                <a:schemeClr val="dk1"/>
              </a:solidFill>
              <a:latin typeface="Calibri"/>
              <a:ea typeface="Calibri"/>
              <a:cs typeface="Calibri"/>
              <a:sym typeface="Calibri"/>
            </a:endParaRPr>
          </a:p>
        </p:txBody>
      </p:sp>
      <p:sp>
        <p:nvSpPr>
          <p:cNvPr id="221" name="Google Shape;221;p20"/>
          <p:cNvSpPr/>
          <p:nvPr/>
        </p:nvSpPr>
        <p:spPr>
          <a:xfrm>
            <a:off x="4539996" y="3854196"/>
            <a:ext cx="40462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8748C"/>
              </a:buClr>
              <a:buSzPts val="700"/>
              <a:buFont typeface="Courier New"/>
              <a:buNone/>
            </a:pPr>
            <a:r>
              <a:rPr b="1" i="0" lang="en" sz="700" u="none" cap="none" strike="noStrike">
                <a:solidFill>
                  <a:srgbClr val="68748C"/>
                </a:solidFill>
                <a:latin typeface="Courier New"/>
                <a:ea typeface="Courier New"/>
                <a:cs typeface="Courier New"/>
                <a:sym typeface="Courier New"/>
              </a:rPr>
              <a:t>HOW IT PLAYS OUT</a:t>
            </a:r>
            <a:endParaRPr b="0" i="0" sz="700" u="none" cap="none" strike="noStrike">
              <a:solidFill>
                <a:schemeClr val="dk1"/>
              </a:solidFill>
              <a:latin typeface="Calibri"/>
              <a:ea typeface="Calibri"/>
              <a:cs typeface="Calibri"/>
              <a:sym typeface="Calibri"/>
            </a:endParaRPr>
          </a:p>
        </p:txBody>
      </p:sp>
      <p:sp>
        <p:nvSpPr>
          <p:cNvPr id="222" name="Google Shape;222;p20"/>
          <p:cNvSpPr/>
          <p:nvPr/>
        </p:nvSpPr>
        <p:spPr>
          <a:xfrm>
            <a:off x="4539996" y="4073652"/>
            <a:ext cx="1184148" cy="370332"/>
          </a:xfrm>
          <a:prstGeom prst="roundRect">
            <a:avLst>
              <a:gd fmla="val 18519" name="adj"/>
            </a:avLst>
          </a:prstGeom>
          <a:solidFill>
            <a:srgbClr val="1E1B17"/>
          </a:solidFill>
          <a:ln cap="flat" cmpd="sng" w="12700">
            <a:solidFill>
              <a:srgbClr val="604D1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D7DEEA"/>
              </a:buClr>
              <a:buSzPts val="700"/>
              <a:buFont typeface="Courier New"/>
              <a:buNone/>
            </a:pPr>
            <a:r>
              <a:rPr b="1" i="0" lang="en" sz="700" u="none" cap="none" strike="noStrike">
                <a:solidFill>
                  <a:srgbClr val="D7DEEA"/>
                </a:solidFill>
                <a:latin typeface="Courier New"/>
                <a:ea typeface="Courier New"/>
                <a:cs typeface="Courier New"/>
                <a:sym typeface="Courier New"/>
              </a:rPr>
              <a:t>UNTRUSTED PART</a:t>
            </a:r>
            <a:endParaRPr b="0" i="0" sz="700" u="none" cap="none" strike="noStrike">
              <a:solidFill>
                <a:schemeClr val="dk1"/>
              </a:solidFill>
              <a:latin typeface="Calibri"/>
              <a:ea typeface="Calibri"/>
              <a:cs typeface="Calibri"/>
              <a:sym typeface="Calibri"/>
            </a:endParaRPr>
          </a:p>
        </p:txBody>
      </p:sp>
      <p:sp>
        <p:nvSpPr>
          <p:cNvPr id="223" name="Google Shape;223;p20"/>
          <p:cNvSpPr/>
          <p:nvPr/>
        </p:nvSpPr>
        <p:spPr>
          <a:xfrm>
            <a:off x="5724144" y="4073652"/>
            <a:ext cx="233172" cy="3703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48A20"/>
              </a:buClr>
              <a:buSzPts val="1000"/>
              <a:buFont typeface="Arial"/>
              <a:buNone/>
            </a:pPr>
            <a:r>
              <a:rPr b="0" i="0" lang="en" sz="1000" u="none" cap="none" strike="noStrike">
                <a:solidFill>
                  <a:srgbClr val="B48A20"/>
                </a:solidFill>
                <a:latin typeface="Arial"/>
                <a:ea typeface="Arial"/>
                <a:cs typeface="Arial"/>
                <a:sym typeface="Arial"/>
              </a:rPr>
              <a:t>→</a:t>
            </a:r>
            <a:endParaRPr b="0" i="0" sz="1000" u="none" cap="none" strike="noStrike">
              <a:solidFill>
                <a:schemeClr val="dk1"/>
              </a:solidFill>
              <a:latin typeface="Calibri"/>
              <a:ea typeface="Calibri"/>
              <a:cs typeface="Calibri"/>
              <a:sym typeface="Calibri"/>
            </a:endParaRPr>
          </a:p>
        </p:txBody>
      </p:sp>
      <p:sp>
        <p:nvSpPr>
          <p:cNvPr id="224" name="Google Shape;224;p20"/>
          <p:cNvSpPr/>
          <p:nvPr/>
        </p:nvSpPr>
        <p:spPr>
          <a:xfrm>
            <a:off x="5957316" y="4073652"/>
            <a:ext cx="1184148" cy="370332"/>
          </a:xfrm>
          <a:prstGeom prst="roundRect">
            <a:avLst>
              <a:gd fmla="val 18519" name="adj"/>
            </a:avLst>
          </a:prstGeom>
          <a:solidFill>
            <a:srgbClr val="1E1B17"/>
          </a:solidFill>
          <a:ln cap="flat" cmpd="sng" w="12700">
            <a:solidFill>
              <a:srgbClr val="604D1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D7DEEA"/>
              </a:buClr>
              <a:buSzPts val="700"/>
              <a:buFont typeface="Courier New"/>
              <a:buNone/>
            </a:pPr>
            <a:r>
              <a:rPr b="1" i="0" lang="en" sz="700" u="none" cap="none" strike="noStrike">
                <a:solidFill>
                  <a:srgbClr val="D7DEEA"/>
                </a:solidFill>
                <a:latin typeface="Courier New"/>
                <a:ea typeface="Courier New"/>
                <a:cs typeface="Courier New"/>
                <a:sym typeface="Courier New"/>
              </a:rPr>
              <a:t>FITS PERFECTLY</a:t>
            </a:r>
            <a:endParaRPr b="0" i="0" sz="700" u="none" cap="none" strike="noStrike">
              <a:solidFill>
                <a:schemeClr val="dk1"/>
              </a:solidFill>
              <a:latin typeface="Calibri"/>
              <a:ea typeface="Calibri"/>
              <a:cs typeface="Calibri"/>
              <a:sym typeface="Calibri"/>
            </a:endParaRPr>
          </a:p>
        </p:txBody>
      </p:sp>
      <p:sp>
        <p:nvSpPr>
          <p:cNvPr id="225" name="Google Shape;225;p20"/>
          <p:cNvSpPr/>
          <p:nvPr/>
        </p:nvSpPr>
        <p:spPr>
          <a:xfrm>
            <a:off x="7141464" y="4073652"/>
            <a:ext cx="233172" cy="3703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48A20"/>
              </a:buClr>
              <a:buSzPts val="1000"/>
              <a:buFont typeface="Arial"/>
              <a:buNone/>
            </a:pPr>
            <a:r>
              <a:rPr b="0" i="0" lang="en" sz="1000" u="none" cap="none" strike="noStrike">
                <a:solidFill>
                  <a:srgbClr val="B48A20"/>
                </a:solidFill>
                <a:latin typeface="Arial"/>
                <a:ea typeface="Arial"/>
                <a:cs typeface="Arial"/>
                <a:sym typeface="Arial"/>
              </a:rPr>
              <a:t>→</a:t>
            </a:r>
            <a:endParaRPr b="0" i="0" sz="1000" u="none" cap="none" strike="noStrike">
              <a:solidFill>
                <a:schemeClr val="dk1"/>
              </a:solidFill>
              <a:latin typeface="Calibri"/>
              <a:ea typeface="Calibri"/>
              <a:cs typeface="Calibri"/>
              <a:sym typeface="Calibri"/>
            </a:endParaRPr>
          </a:p>
        </p:txBody>
      </p:sp>
      <p:sp>
        <p:nvSpPr>
          <p:cNvPr id="226" name="Google Shape;226;p20"/>
          <p:cNvSpPr/>
          <p:nvPr/>
        </p:nvSpPr>
        <p:spPr>
          <a:xfrm>
            <a:off x="7374636" y="4073652"/>
            <a:ext cx="1184148" cy="370332"/>
          </a:xfrm>
          <a:prstGeom prst="roundRect">
            <a:avLst>
              <a:gd fmla="val 18519" name="adj"/>
            </a:avLst>
          </a:prstGeom>
          <a:solidFill>
            <a:srgbClr val="332B18"/>
          </a:solidFill>
          <a:ln cap="flat" cmpd="sng" w="12700">
            <a:solidFill>
              <a:srgbClr val="C09321"/>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BBF24"/>
              </a:buClr>
              <a:buSzPts val="700"/>
              <a:buFont typeface="Courier New"/>
              <a:buNone/>
            </a:pPr>
            <a:r>
              <a:rPr b="1" i="0" lang="en" sz="700" u="none" cap="none" strike="noStrike">
                <a:solidFill>
                  <a:srgbClr val="FBBF24"/>
                </a:solidFill>
                <a:latin typeface="Courier New"/>
                <a:ea typeface="Courier New"/>
                <a:cs typeface="Courier New"/>
                <a:sym typeface="Courier New"/>
              </a:rPr>
              <a:t>FAILS UNDER LOAD</a:t>
            </a:r>
            <a:endParaRPr b="0" i="0" sz="700" u="none" cap="none" strike="noStrike">
              <a:solidFill>
                <a:schemeClr val="dk1"/>
              </a:solidFill>
              <a:latin typeface="Calibri"/>
              <a:ea typeface="Calibri"/>
              <a:cs typeface="Calibri"/>
              <a:sym typeface="Calibri"/>
            </a:endParaRPr>
          </a:p>
        </p:txBody>
      </p:sp>
      <p:sp>
        <p:nvSpPr>
          <p:cNvPr id="227" name="Google Shape;227;p20"/>
          <p:cNvSpPr/>
          <p:nvPr/>
        </p:nvSpPr>
        <p:spPr>
          <a:xfrm>
            <a:off x="425196" y="4814316"/>
            <a:ext cx="54864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4759"/>
              </a:buClr>
              <a:buSzPts val="600"/>
              <a:buFont typeface="Courier New"/>
              <a:buNone/>
            </a:pPr>
            <a:r>
              <a:rPr b="0" i="0" lang="en" sz="600" u="none" cap="none" strike="noStrike">
                <a:solidFill>
                  <a:srgbClr val="3E4759"/>
                </a:solidFill>
                <a:latin typeface="Courier New"/>
                <a:ea typeface="Courier New"/>
                <a:cs typeface="Courier New"/>
                <a:sym typeface="Courier New"/>
              </a:rPr>
              <a:t>OWASP MCP Top 10 · MCP04:2025</a:t>
            </a:r>
            <a:endParaRPr b="0" i="0" sz="6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2" name="Shape 232"/>
        <p:cNvGrpSpPr/>
        <p:nvPr/>
      </p:nvGrpSpPr>
      <p:grpSpPr>
        <a:xfrm>
          <a:off x="0" y="0"/>
          <a:ext cx="0" cy="0"/>
          <a:chOff x="0" y="0"/>
          <a:chExt cx="0" cy="0"/>
        </a:xfrm>
      </p:grpSpPr>
      <p:sp>
        <p:nvSpPr>
          <p:cNvPr id="233" name="Google Shape;233;p21"/>
          <p:cNvSpPr/>
          <p:nvPr/>
        </p:nvSpPr>
        <p:spPr>
          <a:xfrm>
            <a:off x="425196" y="411480"/>
            <a:ext cx="960120" cy="212598"/>
          </a:xfrm>
          <a:prstGeom prst="roundRect">
            <a:avLst>
              <a:gd fmla="val 29032" name="adj"/>
            </a:avLst>
          </a:prstGeom>
          <a:solidFill>
            <a:srgbClr val="26161A"/>
          </a:solidFill>
          <a:ln cap="flat" cmpd="sng" w="12700">
            <a:solidFill>
              <a:srgbClr val="8C4244"/>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87171"/>
              </a:buClr>
              <a:buSzPts val="800"/>
              <a:buFont typeface="Courier New"/>
              <a:buNone/>
            </a:pPr>
            <a:r>
              <a:rPr b="1" i="0" lang="en" sz="800" u="none" cap="none" strike="noStrike">
                <a:solidFill>
                  <a:srgbClr val="F87171"/>
                </a:solidFill>
                <a:latin typeface="Courier New"/>
                <a:ea typeface="Courier New"/>
                <a:cs typeface="Courier New"/>
                <a:sym typeface="Courier New"/>
              </a:rPr>
              <a:t>MCP05:2025</a:t>
            </a:r>
            <a:endParaRPr b="0" i="0" sz="800" u="none" cap="none" strike="noStrike">
              <a:solidFill>
                <a:schemeClr val="dk1"/>
              </a:solidFill>
              <a:latin typeface="Calibri"/>
              <a:ea typeface="Calibri"/>
              <a:cs typeface="Calibri"/>
              <a:sym typeface="Calibri"/>
            </a:endParaRPr>
          </a:p>
        </p:txBody>
      </p:sp>
      <p:sp>
        <p:nvSpPr>
          <p:cNvPr id="234" name="Google Shape;234;p21"/>
          <p:cNvSpPr/>
          <p:nvPr/>
        </p:nvSpPr>
        <p:spPr>
          <a:xfrm>
            <a:off x="425196" y="699516"/>
            <a:ext cx="3737610" cy="905256"/>
          </a:xfrm>
          <a:prstGeom prst="rect">
            <a:avLst/>
          </a:prstGeom>
          <a:noFill/>
          <a:ln>
            <a:noFill/>
          </a:ln>
        </p:spPr>
        <p:txBody>
          <a:bodyPr anchorCtr="0" anchor="t" bIns="0" lIns="0" spcFirstLastPara="1" rIns="0" wrap="square" tIns="0">
            <a:noAutofit/>
          </a:bodyPr>
          <a:lstStyle/>
          <a:p>
            <a:pPr indent="0" lvl="0" marL="0" marR="0" rtl="0" algn="l">
              <a:lnSpc>
                <a:spcPct val="92000"/>
              </a:lnSpc>
              <a:spcBef>
                <a:spcPts val="0"/>
              </a:spcBef>
              <a:spcAft>
                <a:spcPts val="0"/>
              </a:spcAft>
              <a:buClr>
                <a:srgbClr val="FFFFFF"/>
              </a:buClr>
              <a:buSzPts val="2300"/>
              <a:buFont typeface="Arial"/>
              <a:buNone/>
            </a:pPr>
            <a:r>
              <a:rPr b="1" i="0" lang="en" sz="2300" u="none" cap="none" strike="noStrike">
                <a:solidFill>
                  <a:srgbClr val="FFFFFF"/>
                </a:solidFill>
                <a:latin typeface="Arial"/>
                <a:ea typeface="Arial"/>
                <a:cs typeface="Arial"/>
                <a:sym typeface="Arial"/>
              </a:rPr>
              <a:t>Command Injection </a:t>
            </a:r>
            <a:r>
              <a:rPr b="1" i="0" lang="en" sz="2300" u="none" cap="none" strike="noStrike">
                <a:solidFill>
                  <a:srgbClr val="F87171"/>
                </a:solidFill>
                <a:latin typeface="Arial"/>
                <a:ea typeface="Arial"/>
                <a:cs typeface="Arial"/>
                <a:sym typeface="Arial"/>
              </a:rPr>
              <a:t>&amp; Execution</a:t>
            </a:r>
            <a:endParaRPr b="0" i="0" sz="2300" u="none" cap="none" strike="noStrike">
              <a:solidFill>
                <a:schemeClr val="dk1"/>
              </a:solidFill>
              <a:latin typeface="Calibri"/>
              <a:ea typeface="Calibri"/>
              <a:cs typeface="Calibri"/>
              <a:sym typeface="Calibri"/>
            </a:endParaRPr>
          </a:p>
        </p:txBody>
      </p:sp>
      <p:sp>
        <p:nvSpPr>
          <p:cNvPr id="235" name="Google Shape;235;p21"/>
          <p:cNvSpPr/>
          <p:nvPr/>
        </p:nvSpPr>
        <p:spPr>
          <a:xfrm>
            <a:off x="425196" y="1687068"/>
            <a:ext cx="3566160" cy="45262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93A0B7"/>
              </a:buClr>
              <a:buSzPts val="900"/>
              <a:buFont typeface="Arial"/>
              <a:buNone/>
            </a:pPr>
            <a:r>
              <a:rPr b="0" i="0" lang="en" sz="900" u="none" cap="none" strike="noStrike">
                <a:solidFill>
                  <a:srgbClr val="93A0B7"/>
                </a:solidFill>
                <a:latin typeface="Arial"/>
                <a:ea typeface="Arial"/>
                <a:cs typeface="Arial"/>
                <a:sym typeface="Arial"/>
              </a:rPr>
              <a:t>Untrusted text ends up inside a command the server genuinely runs.</a:t>
            </a:r>
            <a:endParaRPr b="0" i="0" sz="900" u="none" cap="none" strike="noStrike">
              <a:solidFill>
                <a:schemeClr val="dk1"/>
              </a:solidFill>
              <a:latin typeface="Calibri"/>
              <a:ea typeface="Calibri"/>
              <a:cs typeface="Calibri"/>
              <a:sym typeface="Calibri"/>
            </a:endParaRPr>
          </a:p>
        </p:txBody>
      </p:sp>
      <p:sp>
        <p:nvSpPr>
          <p:cNvPr id="236" name="Google Shape;236;p21"/>
          <p:cNvSpPr/>
          <p:nvPr/>
        </p:nvSpPr>
        <p:spPr>
          <a:xfrm>
            <a:off x="425196" y="2441448"/>
            <a:ext cx="3648456" cy="905256"/>
          </a:xfrm>
          <a:prstGeom prst="roundRect">
            <a:avLst>
              <a:gd fmla="val 9848" name="adj"/>
            </a:avLst>
          </a:prstGeom>
          <a:solidFill>
            <a:srgbClr val="0D0F16"/>
          </a:solidFill>
          <a:ln cap="flat" cmpd="sng" w="12700">
            <a:solidFill>
              <a:srgbClr val="4E354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7" name="Google Shape;237;p21"/>
          <p:cNvSpPr/>
          <p:nvPr/>
        </p:nvSpPr>
        <p:spPr>
          <a:xfrm>
            <a:off x="603504" y="2736342"/>
            <a:ext cx="315468" cy="315468"/>
          </a:xfrm>
          <a:prstGeom prst="roundRect">
            <a:avLst>
              <a:gd fmla="val 23913" name="adj"/>
            </a:avLst>
          </a:prstGeom>
          <a:solidFill>
            <a:srgbClr val="331F25"/>
          </a:solidFill>
          <a:ln cap="flat" cmpd="sng" w="12700">
            <a:solidFill>
              <a:srgbClr val="83404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home/claude/art/out/icon-car.png" id="238" name="Google Shape;238;p21"/>
          <p:cNvPicPr preferRelativeResize="0"/>
          <p:nvPr/>
        </p:nvPicPr>
        <p:blipFill rotWithShape="1">
          <a:blip r:embed="rId4">
            <a:alphaModFix/>
          </a:blip>
          <a:srcRect b="0" l="0" r="0" t="0"/>
          <a:stretch/>
        </p:blipFill>
        <p:spPr>
          <a:xfrm>
            <a:off x="654939" y="2787777"/>
            <a:ext cx="212598" cy="212598"/>
          </a:xfrm>
          <a:prstGeom prst="rect">
            <a:avLst/>
          </a:prstGeom>
          <a:noFill/>
          <a:ln>
            <a:noFill/>
          </a:ln>
        </p:spPr>
      </p:pic>
      <p:sp>
        <p:nvSpPr>
          <p:cNvPr id="239" name="Google Shape;239;p21"/>
          <p:cNvSpPr/>
          <p:nvPr/>
        </p:nvSpPr>
        <p:spPr>
          <a:xfrm>
            <a:off x="1056132" y="2558034"/>
            <a:ext cx="2852928"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7171"/>
              </a:buClr>
              <a:buSzPts val="700"/>
              <a:buFont typeface="Courier New"/>
              <a:buNone/>
            </a:pPr>
            <a:r>
              <a:rPr b="1" i="0" lang="en" sz="700" u="none" cap="none" strike="noStrike">
                <a:solidFill>
                  <a:srgbClr val="F87171"/>
                </a:solidFill>
                <a:latin typeface="Courier New"/>
                <a:ea typeface="Courier New"/>
                <a:cs typeface="Courier New"/>
                <a:sym typeface="Courier New"/>
              </a:rPr>
              <a:t>IN THE CAR</a:t>
            </a:r>
            <a:endParaRPr b="0" i="0" sz="700" u="none" cap="none" strike="noStrike">
              <a:solidFill>
                <a:schemeClr val="dk1"/>
              </a:solidFill>
              <a:latin typeface="Calibri"/>
              <a:ea typeface="Calibri"/>
              <a:cs typeface="Calibri"/>
              <a:sym typeface="Calibri"/>
            </a:endParaRPr>
          </a:p>
        </p:txBody>
      </p:sp>
      <p:sp>
        <p:nvSpPr>
          <p:cNvPr id="240" name="Google Shape;240;p21"/>
          <p:cNvSpPr/>
          <p:nvPr/>
        </p:nvSpPr>
        <p:spPr>
          <a:xfrm>
            <a:off x="1056132" y="2743200"/>
            <a:ext cx="2852928" cy="4937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D7DEEA"/>
              </a:buClr>
              <a:buSzPts val="900"/>
              <a:buFont typeface="Arial"/>
              <a:buNone/>
            </a:pPr>
            <a:r>
              <a:rPr b="0" i="0" lang="en" sz="900" u="none" cap="none" strike="noStrike">
                <a:solidFill>
                  <a:srgbClr val="D7DEEA"/>
                </a:solidFill>
                <a:latin typeface="Arial"/>
                <a:ea typeface="Arial"/>
                <a:cs typeface="Arial"/>
                <a:sym typeface="Arial"/>
              </a:rPr>
              <a:t>A radio ad hides a spoken command. The car hears "unlock all doors" and obeys.</a:t>
            </a:r>
            <a:endParaRPr b="0" i="0" sz="900" u="none" cap="none" strike="noStrike">
              <a:solidFill>
                <a:schemeClr val="dk1"/>
              </a:solidFill>
              <a:latin typeface="Calibri"/>
              <a:ea typeface="Calibri"/>
              <a:cs typeface="Calibri"/>
              <a:sym typeface="Calibri"/>
            </a:endParaRPr>
          </a:p>
        </p:txBody>
      </p:sp>
      <p:sp>
        <p:nvSpPr>
          <p:cNvPr id="241" name="Google Shape;241;p21"/>
          <p:cNvSpPr/>
          <p:nvPr/>
        </p:nvSpPr>
        <p:spPr>
          <a:xfrm>
            <a:off x="425196" y="3483864"/>
            <a:ext cx="3648456" cy="905256"/>
          </a:xfrm>
          <a:prstGeom prst="roundRect">
            <a:avLst>
              <a:gd fmla="val 9848" name="adj"/>
            </a:avLst>
          </a:prstGeom>
          <a:solidFill>
            <a:srgbClr val="0D0F16"/>
          </a:solidFill>
          <a:ln cap="flat" cmpd="sng" w="12700">
            <a:solidFill>
              <a:srgbClr val="234B4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2" name="Google Shape;242;p21"/>
          <p:cNvSpPr/>
          <p:nvPr/>
        </p:nvSpPr>
        <p:spPr>
          <a:xfrm>
            <a:off x="603504" y="3778758"/>
            <a:ext cx="315468" cy="315468"/>
          </a:xfrm>
          <a:prstGeom prst="roundRect">
            <a:avLst>
              <a:gd fmla="val 23913" name="adj"/>
            </a:avLst>
          </a:prstGeom>
          <a:solidFill>
            <a:srgbClr val="132E2B"/>
          </a:solidFill>
          <a:ln cap="flat" cmpd="sng" w="12700">
            <a:solidFill>
              <a:srgbClr val="21715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home/claude/art/out/icon-shield.png" id="243" name="Google Shape;243;p21"/>
          <p:cNvPicPr preferRelativeResize="0"/>
          <p:nvPr/>
        </p:nvPicPr>
        <p:blipFill rotWithShape="1">
          <a:blip r:embed="rId5">
            <a:alphaModFix/>
          </a:blip>
          <a:srcRect b="0" l="0" r="0" t="0"/>
          <a:stretch/>
        </p:blipFill>
        <p:spPr>
          <a:xfrm>
            <a:off x="654939" y="3830193"/>
            <a:ext cx="212598" cy="212598"/>
          </a:xfrm>
          <a:prstGeom prst="rect">
            <a:avLst/>
          </a:prstGeom>
          <a:noFill/>
          <a:ln>
            <a:noFill/>
          </a:ln>
        </p:spPr>
      </p:pic>
      <p:sp>
        <p:nvSpPr>
          <p:cNvPr id="244" name="Google Shape;244;p21"/>
          <p:cNvSpPr/>
          <p:nvPr/>
        </p:nvSpPr>
        <p:spPr>
          <a:xfrm>
            <a:off x="1056132" y="3600450"/>
            <a:ext cx="2852928"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4D399"/>
              </a:buClr>
              <a:buSzPts val="700"/>
              <a:buFont typeface="Courier New"/>
              <a:buNone/>
            </a:pPr>
            <a:r>
              <a:rPr b="1" i="0" lang="en" sz="700" u="none" cap="none" strike="noStrike">
                <a:solidFill>
                  <a:srgbClr val="34D399"/>
                </a:solidFill>
                <a:latin typeface="Courier New"/>
                <a:ea typeface="Courier New"/>
                <a:cs typeface="Courier New"/>
                <a:sym typeface="Courier New"/>
              </a:rPr>
              <a:t>GUARDRAIL</a:t>
            </a:r>
            <a:endParaRPr b="0" i="0" sz="700" u="none" cap="none" strike="noStrike">
              <a:solidFill>
                <a:schemeClr val="dk1"/>
              </a:solidFill>
              <a:latin typeface="Calibri"/>
              <a:ea typeface="Calibri"/>
              <a:cs typeface="Calibri"/>
              <a:sym typeface="Calibri"/>
            </a:endParaRPr>
          </a:p>
        </p:txBody>
      </p:sp>
      <p:sp>
        <p:nvSpPr>
          <p:cNvPr id="245" name="Google Shape;245;p21"/>
          <p:cNvSpPr/>
          <p:nvPr/>
        </p:nvSpPr>
        <p:spPr>
          <a:xfrm>
            <a:off x="1056132" y="3785616"/>
            <a:ext cx="2852928" cy="4937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D7DEEA"/>
              </a:buClr>
              <a:buSzPts val="900"/>
              <a:buFont typeface="Arial"/>
              <a:buNone/>
            </a:pPr>
            <a:r>
              <a:rPr b="0" i="0" lang="en" sz="900" u="none" cap="none" strike="noStrike">
                <a:solidFill>
                  <a:srgbClr val="D7DEEA"/>
                </a:solidFill>
                <a:latin typeface="Arial"/>
                <a:ea typeface="Arial"/>
                <a:cs typeface="Arial"/>
                <a:sym typeface="Arial"/>
              </a:rPr>
              <a:t>Never build commands from raw input. Allow-lists, no shell.</a:t>
            </a:r>
            <a:endParaRPr b="0" i="0" sz="900" u="none" cap="none" strike="noStrike">
              <a:solidFill>
                <a:schemeClr val="dk1"/>
              </a:solidFill>
              <a:latin typeface="Calibri"/>
              <a:ea typeface="Calibri"/>
              <a:cs typeface="Calibri"/>
              <a:sym typeface="Calibri"/>
            </a:endParaRPr>
          </a:p>
        </p:txBody>
      </p:sp>
      <p:sp>
        <p:nvSpPr>
          <p:cNvPr id="246" name="Google Shape;246;p21"/>
          <p:cNvSpPr/>
          <p:nvPr/>
        </p:nvSpPr>
        <p:spPr>
          <a:xfrm>
            <a:off x="4354830" y="425196"/>
            <a:ext cx="4389120" cy="4293108"/>
          </a:xfrm>
          <a:prstGeom prst="roundRect">
            <a:avLst>
              <a:gd fmla="val 2077" name="adj"/>
            </a:avLst>
          </a:prstGeom>
          <a:solidFill>
            <a:srgbClr val="0D0F16"/>
          </a:solidFill>
          <a:ln cap="flat" cmpd="sng" w="12700">
            <a:solidFill>
              <a:srgbClr val="1E243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7" name="Google Shape;247;p21"/>
          <p:cNvSpPr/>
          <p:nvPr/>
        </p:nvSpPr>
        <p:spPr>
          <a:xfrm>
            <a:off x="4539996" y="548640"/>
            <a:ext cx="40462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8748C"/>
              </a:buClr>
              <a:buSzPts val="700"/>
              <a:buFont typeface="Courier New"/>
              <a:buNone/>
            </a:pPr>
            <a:r>
              <a:rPr b="1" i="0" lang="en" sz="700" u="none" cap="none" strike="noStrike">
                <a:solidFill>
                  <a:srgbClr val="68748C"/>
                </a:solidFill>
                <a:latin typeface="Courier New"/>
                <a:ea typeface="Courier New"/>
                <a:cs typeface="Courier New"/>
                <a:sym typeface="Courier New"/>
              </a:rPr>
              <a:t>ATTACK SCENARIO</a:t>
            </a:r>
            <a:endParaRPr b="0" i="0" sz="700" u="none" cap="none" strike="noStrike">
              <a:solidFill>
                <a:schemeClr val="dk1"/>
              </a:solidFill>
              <a:latin typeface="Calibri"/>
              <a:ea typeface="Calibri"/>
              <a:cs typeface="Calibri"/>
              <a:sym typeface="Calibri"/>
            </a:endParaRPr>
          </a:p>
        </p:txBody>
      </p:sp>
      <p:sp>
        <p:nvSpPr>
          <p:cNvPr id="248" name="Google Shape;248;p21"/>
          <p:cNvSpPr/>
          <p:nvPr/>
        </p:nvSpPr>
        <p:spPr>
          <a:xfrm>
            <a:off x="4539996" y="768096"/>
            <a:ext cx="4018788" cy="7544"/>
          </a:xfrm>
          <a:prstGeom prst="rect">
            <a:avLst/>
          </a:prstGeom>
          <a:solidFill>
            <a:srgbClr val="181D2A"/>
          </a:solidFill>
          <a:ln cap="flat" cmpd="sng" w="12700">
            <a:solidFill>
              <a:srgbClr val="33333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home/claude/art/out/mcp05.png" id="249" name="Google Shape;249;p21"/>
          <p:cNvPicPr preferRelativeResize="0"/>
          <p:nvPr/>
        </p:nvPicPr>
        <p:blipFill rotWithShape="1">
          <a:blip r:embed="rId6">
            <a:alphaModFix/>
          </a:blip>
          <a:srcRect b="0" l="0" r="0" t="0"/>
          <a:stretch/>
        </p:blipFill>
        <p:spPr>
          <a:xfrm>
            <a:off x="4526280" y="918972"/>
            <a:ext cx="4046220" cy="2530602"/>
          </a:xfrm>
          <a:prstGeom prst="rect">
            <a:avLst/>
          </a:prstGeom>
          <a:noFill/>
          <a:ln>
            <a:noFill/>
          </a:ln>
        </p:spPr>
      </p:pic>
      <p:sp>
        <p:nvSpPr>
          <p:cNvPr id="250" name="Google Shape;250;p21"/>
          <p:cNvSpPr/>
          <p:nvPr/>
        </p:nvSpPr>
        <p:spPr>
          <a:xfrm>
            <a:off x="4539996" y="3525012"/>
            <a:ext cx="4018788" cy="2331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7DEEA"/>
              </a:buClr>
              <a:buSzPts val="900"/>
              <a:buFont typeface="Arial"/>
              <a:buNone/>
            </a:pPr>
            <a:r>
              <a:rPr b="0" i="1" lang="en" sz="900" u="none" cap="none" strike="noStrike">
                <a:solidFill>
                  <a:srgbClr val="D7DEEA"/>
                </a:solidFill>
                <a:latin typeface="Arial"/>
                <a:ea typeface="Arial"/>
                <a:cs typeface="Arial"/>
                <a:sym typeface="Arial"/>
              </a:rPr>
              <a:t>The command hidden in a radio ad</a:t>
            </a:r>
            <a:endParaRPr b="0" i="0" sz="900" u="none" cap="none" strike="noStrike">
              <a:solidFill>
                <a:schemeClr val="dk1"/>
              </a:solidFill>
              <a:latin typeface="Calibri"/>
              <a:ea typeface="Calibri"/>
              <a:cs typeface="Calibri"/>
              <a:sym typeface="Calibri"/>
            </a:endParaRPr>
          </a:p>
        </p:txBody>
      </p:sp>
      <p:sp>
        <p:nvSpPr>
          <p:cNvPr id="251" name="Google Shape;251;p21"/>
          <p:cNvSpPr/>
          <p:nvPr/>
        </p:nvSpPr>
        <p:spPr>
          <a:xfrm>
            <a:off x="4539996" y="3854196"/>
            <a:ext cx="40462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8748C"/>
              </a:buClr>
              <a:buSzPts val="700"/>
              <a:buFont typeface="Courier New"/>
              <a:buNone/>
            </a:pPr>
            <a:r>
              <a:rPr b="1" i="0" lang="en" sz="700" u="none" cap="none" strike="noStrike">
                <a:solidFill>
                  <a:srgbClr val="68748C"/>
                </a:solidFill>
                <a:latin typeface="Courier New"/>
                <a:ea typeface="Courier New"/>
                <a:cs typeface="Courier New"/>
                <a:sym typeface="Courier New"/>
              </a:rPr>
              <a:t>HOW IT PLAYS OUT</a:t>
            </a:r>
            <a:endParaRPr b="0" i="0" sz="700" u="none" cap="none" strike="noStrike">
              <a:solidFill>
                <a:schemeClr val="dk1"/>
              </a:solidFill>
              <a:latin typeface="Calibri"/>
              <a:ea typeface="Calibri"/>
              <a:cs typeface="Calibri"/>
              <a:sym typeface="Calibri"/>
            </a:endParaRPr>
          </a:p>
        </p:txBody>
      </p:sp>
      <p:sp>
        <p:nvSpPr>
          <p:cNvPr id="252" name="Google Shape;252;p21"/>
          <p:cNvSpPr/>
          <p:nvPr/>
        </p:nvSpPr>
        <p:spPr>
          <a:xfrm>
            <a:off x="4539996" y="4073652"/>
            <a:ext cx="1184148" cy="370332"/>
          </a:xfrm>
          <a:prstGeom prst="roundRect">
            <a:avLst>
              <a:gd fmla="val 18519" name="adj"/>
            </a:avLst>
          </a:prstGeom>
          <a:solidFill>
            <a:srgbClr val="1D161C"/>
          </a:solidFill>
          <a:ln cap="flat" cmpd="sng" w="12700">
            <a:solidFill>
              <a:srgbClr val="5F3136"/>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D7DEEA"/>
              </a:buClr>
              <a:buSzPts val="700"/>
              <a:buFont typeface="Courier New"/>
              <a:buNone/>
            </a:pPr>
            <a:r>
              <a:rPr b="1" i="0" lang="en" sz="700" u="none" cap="none" strike="noStrike">
                <a:solidFill>
                  <a:srgbClr val="D7DEEA"/>
                </a:solidFill>
                <a:latin typeface="Courier New"/>
                <a:ea typeface="Courier New"/>
                <a:cs typeface="Courier New"/>
                <a:sym typeface="Courier New"/>
              </a:rPr>
              <a:t>HIDDEN WORDS</a:t>
            </a:r>
            <a:endParaRPr b="0" i="0" sz="700" u="none" cap="none" strike="noStrike">
              <a:solidFill>
                <a:schemeClr val="dk1"/>
              </a:solidFill>
              <a:latin typeface="Calibri"/>
              <a:ea typeface="Calibri"/>
              <a:cs typeface="Calibri"/>
              <a:sym typeface="Calibri"/>
            </a:endParaRPr>
          </a:p>
        </p:txBody>
      </p:sp>
      <p:sp>
        <p:nvSpPr>
          <p:cNvPr id="253" name="Google Shape;253;p21"/>
          <p:cNvSpPr/>
          <p:nvPr/>
        </p:nvSpPr>
        <p:spPr>
          <a:xfrm>
            <a:off x="5724144" y="4073652"/>
            <a:ext cx="233172" cy="3703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25456"/>
              </a:buClr>
              <a:buSzPts val="1000"/>
              <a:buFont typeface="Arial"/>
              <a:buNone/>
            </a:pPr>
            <a:r>
              <a:rPr b="0" i="0" lang="en" sz="1000" u="none" cap="none" strike="noStrike">
                <a:solidFill>
                  <a:srgbClr val="B25456"/>
                </a:solidFill>
                <a:latin typeface="Arial"/>
                <a:ea typeface="Arial"/>
                <a:cs typeface="Arial"/>
                <a:sym typeface="Arial"/>
              </a:rPr>
              <a:t>→</a:t>
            </a:r>
            <a:endParaRPr b="0" i="0" sz="1000" u="none" cap="none" strike="noStrike">
              <a:solidFill>
                <a:schemeClr val="dk1"/>
              </a:solidFill>
              <a:latin typeface="Calibri"/>
              <a:ea typeface="Calibri"/>
              <a:cs typeface="Calibri"/>
              <a:sym typeface="Calibri"/>
            </a:endParaRPr>
          </a:p>
        </p:txBody>
      </p:sp>
      <p:sp>
        <p:nvSpPr>
          <p:cNvPr id="254" name="Google Shape;254;p21"/>
          <p:cNvSpPr/>
          <p:nvPr/>
        </p:nvSpPr>
        <p:spPr>
          <a:xfrm>
            <a:off x="5957316" y="4073652"/>
            <a:ext cx="1184148" cy="370332"/>
          </a:xfrm>
          <a:prstGeom prst="roundRect">
            <a:avLst>
              <a:gd fmla="val 18519" name="adj"/>
            </a:avLst>
          </a:prstGeom>
          <a:solidFill>
            <a:srgbClr val="1D161C"/>
          </a:solidFill>
          <a:ln cap="flat" cmpd="sng" w="12700">
            <a:solidFill>
              <a:srgbClr val="5F3136"/>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D7DEEA"/>
              </a:buClr>
              <a:buSzPts val="700"/>
              <a:buFont typeface="Courier New"/>
              <a:buNone/>
            </a:pPr>
            <a:r>
              <a:rPr b="1" i="0" lang="en" sz="700" u="none" cap="none" strike="noStrike">
                <a:solidFill>
                  <a:srgbClr val="D7DEEA"/>
                </a:solidFill>
                <a:latin typeface="Courier New"/>
                <a:ea typeface="Courier New"/>
                <a:cs typeface="Courier New"/>
                <a:sym typeface="Courier New"/>
              </a:rPr>
              <a:t>PASSED STRAIGHT THROUGH</a:t>
            </a:r>
            <a:endParaRPr b="0" i="0" sz="700" u="none" cap="none" strike="noStrike">
              <a:solidFill>
                <a:schemeClr val="dk1"/>
              </a:solidFill>
              <a:latin typeface="Calibri"/>
              <a:ea typeface="Calibri"/>
              <a:cs typeface="Calibri"/>
              <a:sym typeface="Calibri"/>
            </a:endParaRPr>
          </a:p>
        </p:txBody>
      </p:sp>
      <p:sp>
        <p:nvSpPr>
          <p:cNvPr id="255" name="Google Shape;255;p21"/>
          <p:cNvSpPr/>
          <p:nvPr/>
        </p:nvSpPr>
        <p:spPr>
          <a:xfrm>
            <a:off x="7141464" y="4073652"/>
            <a:ext cx="233172" cy="3703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25456"/>
              </a:buClr>
              <a:buSzPts val="1000"/>
              <a:buFont typeface="Arial"/>
              <a:buNone/>
            </a:pPr>
            <a:r>
              <a:rPr b="0" i="0" lang="en" sz="1000" u="none" cap="none" strike="noStrike">
                <a:solidFill>
                  <a:srgbClr val="B25456"/>
                </a:solidFill>
                <a:latin typeface="Arial"/>
                <a:ea typeface="Arial"/>
                <a:cs typeface="Arial"/>
                <a:sym typeface="Arial"/>
              </a:rPr>
              <a:t>→</a:t>
            </a:r>
            <a:endParaRPr b="0" i="0" sz="1000" u="none" cap="none" strike="noStrike">
              <a:solidFill>
                <a:schemeClr val="dk1"/>
              </a:solidFill>
              <a:latin typeface="Calibri"/>
              <a:ea typeface="Calibri"/>
              <a:cs typeface="Calibri"/>
              <a:sym typeface="Calibri"/>
            </a:endParaRPr>
          </a:p>
        </p:txBody>
      </p:sp>
      <p:sp>
        <p:nvSpPr>
          <p:cNvPr id="256" name="Google Shape;256;p21"/>
          <p:cNvSpPr/>
          <p:nvPr/>
        </p:nvSpPr>
        <p:spPr>
          <a:xfrm>
            <a:off x="7374636" y="4073652"/>
            <a:ext cx="1184148" cy="370332"/>
          </a:xfrm>
          <a:prstGeom prst="roundRect">
            <a:avLst>
              <a:gd fmla="val 18519" name="adj"/>
            </a:avLst>
          </a:prstGeom>
          <a:solidFill>
            <a:srgbClr val="331F25"/>
          </a:solidFill>
          <a:ln cap="flat" cmpd="sng" w="12700">
            <a:solidFill>
              <a:srgbClr val="BD595A"/>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87171"/>
              </a:buClr>
              <a:buSzPts val="700"/>
              <a:buFont typeface="Courier New"/>
              <a:buNone/>
            </a:pPr>
            <a:r>
              <a:rPr b="1" i="0" lang="en" sz="700" u="none" cap="none" strike="noStrike">
                <a:solidFill>
                  <a:srgbClr val="F87171"/>
                </a:solidFill>
                <a:latin typeface="Courier New"/>
                <a:ea typeface="Courier New"/>
                <a:cs typeface="Courier New"/>
                <a:sym typeface="Courier New"/>
              </a:rPr>
              <a:t>EXECUTED FOR REAL</a:t>
            </a:r>
            <a:endParaRPr b="0" i="0" sz="700" u="none" cap="none" strike="noStrike">
              <a:solidFill>
                <a:schemeClr val="dk1"/>
              </a:solidFill>
              <a:latin typeface="Calibri"/>
              <a:ea typeface="Calibri"/>
              <a:cs typeface="Calibri"/>
              <a:sym typeface="Calibri"/>
            </a:endParaRPr>
          </a:p>
        </p:txBody>
      </p:sp>
      <p:sp>
        <p:nvSpPr>
          <p:cNvPr id="257" name="Google Shape;257;p21"/>
          <p:cNvSpPr/>
          <p:nvPr/>
        </p:nvSpPr>
        <p:spPr>
          <a:xfrm>
            <a:off x="425196" y="4814316"/>
            <a:ext cx="54864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4759"/>
              </a:buClr>
              <a:buSzPts val="600"/>
              <a:buFont typeface="Courier New"/>
              <a:buNone/>
            </a:pPr>
            <a:r>
              <a:rPr b="0" i="0" lang="en" sz="600" u="none" cap="none" strike="noStrike">
                <a:solidFill>
                  <a:srgbClr val="3E4759"/>
                </a:solidFill>
                <a:latin typeface="Courier New"/>
                <a:ea typeface="Courier New"/>
                <a:cs typeface="Courier New"/>
                <a:sym typeface="Courier New"/>
              </a:rPr>
              <a:t>OWASP MCP Top 10 · MCP05:2025</a:t>
            </a:r>
            <a:endParaRPr b="0" i="0" sz="6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2" name="Shape 262"/>
        <p:cNvGrpSpPr/>
        <p:nvPr/>
      </p:nvGrpSpPr>
      <p:grpSpPr>
        <a:xfrm>
          <a:off x="0" y="0"/>
          <a:ext cx="0" cy="0"/>
          <a:chOff x="0" y="0"/>
          <a:chExt cx="0" cy="0"/>
        </a:xfrm>
      </p:grpSpPr>
      <p:sp>
        <p:nvSpPr>
          <p:cNvPr id="263" name="Google Shape;263;p22"/>
          <p:cNvSpPr/>
          <p:nvPr/>
        </p:nvSpPr>
        <p:spPr>
          <a:xfrm>
            <a:off x="425196" y="411480"/>
            <a:ext cx="960120" cy="212598"/>
          </a:xfrm>
          <a:prstGeom prst="roundRect">
            <a:avLst>
              <a:gd fmla="val 29032" name="adj"/>
            </a:avLst>
          </a:prstGeom>
          <a:solidFill>
            <a:srgbClr val="18172B"/>
          </a:solidFill>
          <a:ln cap="flat" cmpd="sng" w="12700">
            <a:solidFill>
              <a:srgbClr val="50488D"/>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8B7CF6"/>
              </a:buClr>
              <a:buSzPts val="800"/>
              <a:buFont typeface="Courier New"/>
              <a:buNone/>
            </a:pPr>
            <a:r>
              <a:rPr b="1" i="0" lang="en" sz="800" u="none" cap="none" strike="noStrike">
                <a:solidFill>
                  <a:srgbClr val="8B7CF6"/>
                </a:solidFill>
                <a:latin typeface="Courier New"/>
                <a:ea typeface="Courier New"/>
                <a:cs typeface="Courier New"/>
                <a:sym typeface="Courier New"/>
              </a:rPr>
              <a:t>MCP06:2025</a:t>
            </a:r>
            <a:endParaRPr b="0" i="0" sz="800" u="none" cap="none" strike="noStrike">
              <a:solidFill>
                <a:schemeClr val="dk1"/>
              </a:solidFill>
              <a:latin typeface="Calibri"/>
              <a:ea typeface="Calibri"/>
              <a:cs typeface="Calibri"/>
              <a:sym typeface="Calibri"/>
            </a:endParaRPr>
          </a:p>
        </p:txBody>
      </p:sp>
      <p:sp>
        <p:nvSpPr>
          <p:cNvPr id="264" name="Google Shape;264;p22"/>
          <p:cNvSpPr/>
          <p:nvPr/>
        </p:nvSpPr>
        <p:spPr>
          <a:xfrm>
            <a:off x="425196" y="699516"/>
            <a:ext cx="3737610" cy="905256"/>
          </a:xfrm>
          <a:prstGeom prst="rect">
            <a:avLst/>
          </a:prstGeom>
          <a:noFill/>
          <a:ln>
            <a:noFill/>
          </a:ln>
        </p:spPr>
        <p:txBody>
          <a:bodyPr anchorCtr="0" anchor="t" bIns="0" lIns="0" spcFirstLastPara="1" rIns="0" wrap="square" tIns="0">
            <a:noAutofit/>
          </a:bodyPr>
          <a:lstStyle/>
          <a:p>
            <a:pPr indent="0" lvl="0" marL="0" marR="0" rtl="0" algn="l">
              <a:lnSpc>
                <a:spcPct val="92000"/>
              </a:lnSpc>
              <a:spcBef>
                <a:spcPts val="0"/>
              </a:spcBef>
              <a:spcAft>
                <a:spcPts val="0"/>
              </a:spcAft>
              <a:buClr>
                <a:srgbClr val="FFFFFF"/>
              </a:buClr>
              <a:buSzPts val="2500"/>
              <a:buFont typeface="Arial"/>
              <a:buNone/>
            </a:pPr>
            <a:r>
              <a:rPr b="1" i="0" lang="en" sz="2500" u="none" cap="none" strike="noStrike">
                <a:solidFill>
                  <a:srgbClr val="FFFFFF"/>
                </a:solidFill>
                <a:latin typeface="Arial"/>
                <a:ea typeface="Arial"/>
                <a:cs typeface="Arial"/>
                <a:sym typeface="Arial"/>
              </a:rPr>
              <a:t>Intent Flow </a:t>
            </a:r>
            <a:r>
              <a:rPr b="1" i="0" lang="en" sz="2500" u="none" cap="none" strike="noStrike">
                <a:solidFill>
                  <a:srgbClr val="8B7CF6"/>
                </a:solidFill>
                <a:latin typeface="Arial"/>
                <a:ea typeface="Arial"/>
                <a:cs typeface="Arial"/>
                <a:sym typeface="Arial"/>
              </a:rPr>
              <a:t>Subversion</a:t>
            </a:r>
            <a:endParaRPr b="0" i="0" sz="2500" u="none" cap="none" strike="noStrike">
              <a:solidFill>
                <a:schemeClr val="dk1"/>
              </a:solidFill>
              <a:latin typeface="Calibri"/>
              <a:ea typeface="Calibri"/>
              <a:cs typeface="Calibri"/>
              <a:sym typeface="Calibri"/>
            </a:endParaRPr>
          </a:p>
        </p:txBody>
      </p:sp>
      <p:sp>
        <p:nvSpPr>
          <p:cNvPr id="265" name="Google Shape;265;p22"/>
          <p:cNvSpPr/>
          <p:nvPr/>
        </p:nvSpPr>
        <p:spPr>
          <a:xfrm>
            <a:off x="425196" y="1687068"/>
            <a:ext cx="3566160" cy="45262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93A0B7"/>
              </a:buClr>
              <a:buSzPts val="900"/>
              <a:buFont typeface="Arial"/>
              <a:buNone/>
            </a:pPr>
            <a:r>
              <a:rPr b="0" i="0" lang="en" sz="900" u="none" cap="none" strike="noStrike">
                <a:solidFill>
                  <a:srgbClr val="93A0B7"/>
                </a:solidFill>
                <a:latin typeface="Arial"/>
                <a:ea typeface="Arial"/>
                <a:cs typeface="Arial"/>
                <a:sym typeface="Arial"/>
              </a:rPr>
              <a:t>Instructions hidden in fetched content replace the user's goal with the attacker's.</a:t>
            </a:r>
            <a:endParaRPr b="0" i="0" sz="900" u="none" cap="none" strike="noStrike">
              <a:solidFill>
                <a:schemeClr val="dk1"/>
              </a:solidFill>
              <a:latin typeface="Calibri"/>
              <a:ea typeface="Calibri"/>
              <a:cs typeface="Calibri"/>
              <a:sym typeface="Calibri"/>
            </a:endParaRPr>
          </a:p>
        </p:txBody>
      </p:sp>
      <p:sp>
        <p:nvSpPr>
          <p:cNvPr id="266" name="Google Shape;266;p22"/>
          <p:cNvSpPr/>
          <p:nvPr/>
        </p:nvSpPr>
        <p:spPr>
          <a:xfrm>
            <a:off x="425196" y="2180844"/>
            <a:ext cx="3648456"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87F"/>
              </a:buClr>
              <a:buSzPts val="600"/>
              <a:buFont typeface="Courier New"/>
              <a:buNone/>
            </a:pPr>
            <a:r>
              <a:rPr b="1" i="0" lang="en" sz="600" u="none" cap="none" strike="noStrike">
                <a:solidFill>
                  <a:srgbClr val="5C687F"/>
                </a:solidFill>
                <a:latin typeface="Courier New"/>
                <a:ea typeface="Courier New"/>
                <a:cs typeface="Courier New"/>
                <a:sym typeface="Courier New"/>
              </a:rPr>
              <a:t>ALSO LISTED AS  </a:t>
            </a:r>
            <a:r>
              <a:rPr b="1" i="0" lang="en" sz="600" u="none" cap="none" strike="noStrike">
                <a:solidFill>
                  <a:srgbClr val="93A0B7"/>
                </a:solidFill>
                <a:latin typeface="Courier New"/>
                <a:ea typeface="Courier New"/>
                <a:cs typeface="Courier New"/>
                <a:sym typeface="Courier New"/>
              </a:rPr>
              <a:t>PROMPT INJECTION VIA CONTEXTUAL PAYLOADS</a:t>
            </a:r>
            <a:endParaRPr b="0" i="0" sz="600" u="none" cap="none" strike="noStrike">
              <a:solidFill>
                <a:schemeClr val="dk1"/>
              </a:solidFill>
              <a:latin typeface="Calibri"/>
              <a:ea typeface="Calibri"/>
              <a:cs typeface="Calibri"/>
              <a:sym typeface="Calibri"/>
            </a:endParaRPr>
          </a:p>
        </p:txBody>
      </p:sp>
      <p:sp>
        <p:nvSpPr>
          <p:cNvPr id="267" name="Google Shape;267;p22"/>
          <p:cNvSpPr/>
          <p:nvPr/>
        </p:nvSpPr>
        <p:spPr>
          <a:xfrm>
            <a:off x="425196" y="2441448"/>
            <a:ext cx="3648456" cy="905256"/>
          </a:xfrm>
          <a:prstGeom prst="roundRect">
            <a:avLst>
              <a:gd fmla="val 9848" name="adj"/>
            </a:avLst>
          </a:prstGeom>
          <a:solidFill>
            <a:srgbClr val="0D0F16"/>
          </a:solidFill>
          <a:ln cap="flat" cmpd="sng" w="12700">
            <a:solidFill>
              <a:srgbClr val="36375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8" name="Google Shape;268;p22"/>
          <p:cNvSpPr/>
          <p:nvPr/>
        </p:nvSpPr>
        <p:spPr>
          <a:xfrm>
            <a:off x="603504" y="2736342"/>
            <a:ext cx="315468" cy="315468"/>
          </a:xfrm>
          <a:prstGeom prst="roundRect">
            <a:avLst>
              <a:gd fmla="val 23913" name="adj"/>
            </a:avLst>
          </a:prstGeom>
          <a:solidFill>
            <a:srgbClr val="21203A"/>
          </a:solidFill>
          <a:ln cap="flat" cmpd="sng" w="12700">
            <a:solidFill>
              <a:srgbClr val="4C468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home/claude/art/out/icon-car.png" id="269" name="Google Shape;269;p22"/>
          <p:cNvPicPr preferRelativeResize="0"/>
          <p:nvPr/>
        </p:nvPicPr>
        <p:blipFill rotWithShape="1">
          <a:blip r:embed="rId4">
            <a:alphaModFix/>
          </a:blip>
          <a:srcRect b="0" l="0" r="0" t="0"/>
          <a:stretch/>
        </p:blipFill>
        <p:spPr>
          <a:xfrm>
            <a:off x="654939" y="2787777"/>
            <a:ext cx="212598" cy="212598"/>
          </a:xfrm>
          <a:prstGeom prst="rect">
            <a:avLst/>
          </a:prstGeom>
          <a:noFill/>
          <a:ln>
            <a:noFill/>
          </a:ln>
        </p:spPr>
      </p:pic>
      <p:sp>
        <p:nvSpPr>
          <p:cNvPr id="270" name="Google Shape;270;p22"/>
          <p:cNvSpPr/>
          <p:nvPr/>
        </p:nvSpPr>
        <p:spPr>
          <a:xfrm>
            <a:off x="1056132" y="2558034"/>
            <a:ext cx="2852928"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7CF6"/>
              </a:buClr>
              <a:buSzPts val="700"/>
              <a:buFont typeface="Courier New"/>
              <a:buNone/>
            </a:pPr>
            <a:r>
              <a:rPr b="1" i="0" lang="en" sz="700" u="none" cap="none" strike="noStrike">
                <a:solidFill>
                  <a:srgbClr val="8B7CF6"/>
                </a:solidFill>
                <a:latin typeface="Courier New"/>
                <a:ea typeface="Courier New"/>
                <a:cs typeface="Courier New"/>
                <a:sym typeface="Courier New"/>
              </a:rPr>
              <a:t>IN THE CAR</a:t>
            </a:r>
            <a:endParaRPr b="0" i="0" sz="700" u="none" cap="none" strike="noStrike">
              <a:solidFill>
                <a:schemeClr val="dk1"/>
              </a:solidFill>
              <a:latin typeface="Calibri"/>
              <a:ea typeface="Calibri"/>
              <a:cs typeface="Calibri"/>
              <a:sym typeface="Calibri"/>
            </a:endParaRPr>
          </a:p>
        </p:txBody>
      </p:sp>
      <p:sp>
        <p:nvSpPr>
          <p:cNvPr id="271" name="Google Shape;271;p22"/>
          <p:cNvSpPr/>
          <p:nvPr/>
        </p:nvSpPr>
        <p:spPr>
          <a:xfrm>
            <a:off x="1056132" y="2743200"/>
            <a:ext cx="2852928" cy="4937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D7DEEA"/>
              </a:buClr>
              <a:buSzPts val="900"/>
              <a:buFont typeface="Arial"/>
              <a:buNone/>
            </a:pPr>
            <a:r>
              <a:rPr b="0" i="0" lang="en" sz="900" u="none" cap="none" strike="noStrike">
                <a:solidFill>
                  <a:srgbClr val="D7DEEA"/>
                </a:solidFill>
                <a:latin typeface="Arial"/>
                <a:ea typeface="Arial"/>
                <a:cs typeface="Arial"/>
                <a:sym typeface="Arial"/>
              </a:rPr>
              <a:t>The road sign was swapped. The driver feels on track and is heading elsewhere.</a:t>
            </a:r>
            <a:endParaRPr b="0" i="0" sz="900" u="none" cap="none" strike="noStrike">
              <a:solidFill>
                <a:schemeClr val="dk1"/>
              </a:solidFill>
              <a:latin typeface="Calibri"/>
              <a:ea typeface="Calibri"/>
              <a:cs typeface="Calibri"/>
              <a:sym typeface="Calibri"/>
            </a:endParaRPr>
          </a:p>
        </p:txBody>
      </p:sp>
      <p:sp>
        <p:nvSpPr>
          <p:cNvPr id="272" name="Google Shape;272;p22"/>
          <p:cNvSpPr/>
          <p:nvPr/>
        </p:nvSpPr>
        <p:spPr>
          <a:xfrm>
            <a:off x="425196" y="3483864"/>
            <a:ext cx="3648456" cy="905256"/>
          </a:xfrm>
          <a:prstGeom prst="roundRect">
            <a:avLst>
              <a:gd fmla="val 9848" name="adj"/>
            </a:avLst>
          </a:prstGeom>
          <a:solidFill>
            <a:srgbClr val="0D0F16"/>
          </a:solidFill>
          <a:ln cap="flat" cmpd="sng" w="12700">
            <a:solidFill>
              <a:srgbClr val="234B4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3" name="Google Shape;273;p22"/>
          <p:cNvSpPr/>
          <p:nvPr/>
        </p:nvSpPr>
        <p:spPr>
          <a:xfrm>
            <a:off x="603504" y="3778758"/>
            <a:ext cx="315468" cy="315468"/>
          </a:xfrm>
          <a:prstGeom prst="roundRect">
            <a:avLst>
              <a:gd fmla="val 23913" name="adj"/>
            </a:avLst>
          </a:prstGeom>
          <a:solidFill>
            <a:srgbClr val="132E2B"/>
          </a:solidFill>
          <a:ln cap="flat" cmpd="sng" w="12700">
            <a:solidFill>
              <a:srgbClr val="21715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home/claude/art/out/icon-shield.png" id="274" name="Google Shape;274;p22"/>
          <p:cNvPicPr preferRelativeResize="0"/>
          <p:nvPr/>
        </p:nvPicPr>
        <p:blipFill rotWithShape="1">
          <a:blip r:embed="rId5">
            <a:alphaModFix/>
          </a:blip>
          <a:srcRect b="0" l="0" r="0" t="0"/>
          <a:stretch/>
        </p:blipFill>
        <p:spPr>
          <a:xfrm>
            <a:off x="654939" y="3830193"/>
            <a:ext cx="212598" cy="212598"/>
          </a:xfrm>
          <a:prstGeom prst="rect">
            <a:avLst/>
          </a:prstGeom>
          <a:noFill/>
          <a:ln>
            <a:noFill/>
          </a:ln>
        </p:spPr>
      </p:pic>
      <p:sp>
        <p:nvSpPr>
          <p:cNvPr id="275" name="Google Shape;275;p22"/>
          <p:cNvSpPr/>
          <p:nvPr/>
        </p:nvSpPr>
        <p:spPr>
          <a:xfrm>
            <a:off x="1056132" y="3600450"/>
            <a:ext cx="2852928"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4D399"/>
              </a:buClr>
              <a:buSzPts val="700"/>
              <a:buFont typeface="Courier New"/>
              <a:buNone/>
            </a:pPr>
            <a:r>
              <a:rPr b="1" i="0" lang="en" sz="700" u="none" cap="none" strike="noStrike">
                <a:solidFill>
                  <a:srgbClr val="34D399"/>
                </a:solidFill>
                <a:latin typeface="Courier New"/>
                <a:ea typeface="Courier New"/>
                <a:cs typeface="Courier New"/>
                <a:sym typeface="Courier New"/>
              </a:rPr>
              <a:t>GUARDRAIL</a:t>
            </a:r>
            <a:endParaRPr b="0" i="0" sz="700" u="none" cap="none" strike="noStrike">
              <a:solidFill>
                <a:schemeClr val="dk1"/>
              </a:solidFill>
              <a:latin typeface="Calibri"/>
              <a:ea typeface="Calibri"/>
              <a:cs typeface="Calibri"/>
              <a:sym typeface="Calibri"/>
            </a:endParaRPr>
          </a:p>
        </p:txBody>
      </p:sp>
      <p:sp>
        <p:nvSpPr>
          <p:cNvPr id="276" name="Google Shape;276;p22"/>
          <p:cNvSpPr/>
          <p:nvPr/>
        </p:nvSpPr>
        <p:spPr>
          <a:xfrm>
            <a:off x="1056132" y="3785616"/>
            <a:ext cx="2852928" cy="4937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D7DEEA"/>
              </a:buClr>
              <a:buSzPts val="900"/>
              <a:buFont typeface="Arial"/>
              <a:buNone/>
            </a:pPr>
            <a:r>
              <a:rPr b="0" i="0" lang="en" sz="900" u="none" cap="none" strike="noStrike">
                <a:solidFill>
                  <a:srgbClr val="D7DEEA"/>
                </a:solidFill>
                <a:latin typeface="Arial"/>
                <a:ea typeface="Arial"/>
                <a:cs typeface="Arial"/>
                <a:sym typeface="Arial"/>
              </a:rPr>
              <a:t>Treat everything fetched as data, never as orders.</a:t>
            </a:r>
            <a:endParaRPr b="0" i="0" sz="900" u="none" cap="none" strike="noStrike">
              <a:solidFill>
                <a:schemeClr val="dk1"/>
              </a:solidFill>
              <a:latin typeface="Calibri"/>
              <a:ea typeface="Calibri"/>
              <a:cs typeface="Calibri"/>
              <a:sym typeface="Calibri"/>
            </a:endParaRPr>
          </a:p>
        </p:txBody>
      </p:sp>
      <p:sp>
        <p:nvSpPr>
          <p:cNvPr id="277" name="Google Shape;277;p22"/>
          <p:cNvSpPr/>
          <p:nvPr/>
        </p:nvSpPr>
        <p:spPr>
          <a:xfrm>
            <a:off x="4354830" y="425196"/>
            <a:ext cx="4389120" cy="4293108"/>
          </a:xfrm>
          <a:prstGeom prst="roundRect">
            <a:avLst>
              <a:gd fmla="val 2077" name="adj"/>
            </a:avLst>
          </a:prstGeom>
          <a:solidFill>
            <a:srgbClr val="0D0F16"/>
          </a:solidFill>
          <a:ln cap="flat" cmpd="sng" w="12700">
            <a:solidFill>
              <a:srgbClr val="1E243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8" name="Google Shape;278;p22"/>
          <p:cNvSpPr/>
          <p:nvPr/>
        </p:nvSpPr>
        <p:spPr>
          <a:xfrm>
            <a:off x="4539996" y="548640"/>
            <a:ext cx="40462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8748C"/>
              </a:buClr>
              <a:buSzPts val="700"/>
              <a:buFont typeface="Courier New"/>
              <a:buNone/>
            </a:pPr>
            <a:r>
              <a:rPr b="1" i="0" lang="en" sz="700" u="none" cap="none" strike="noStrike">
                <a:solidFill>
                  <a:srgbClr val="68748C"/>
                </a:solidFill>
                <a:latin typeface="Courier New"/>
                <a:ea typeface="Courier New"/>
                <a:cs typeface="Courier New"/>
                <a:sym typeface="Courier New"/>
              </a:rPr>
              <a:t>ATTACK SCENARIO</a:t>
            </a:r>
            <a:endParaRPr b="0" i="0" sz="700" u="none" cap="none" strike="noStrike">
              <a:solidFill>
                <a:schemeClr val="dk1"/>
              </a:solidFill>
              <a:latin typeface="Calibri"/>
              <a:ea typeface="Calibri"/>
              <a:cs typeface="Calibri"/>
              <a:sym typeface="Calibri"/>
            </a:endParaRPr>
          </a:p>
        </p:txBody>
      </p:sp>
      <p:sp>
        <p:nvSpPr>
          <p:cNvPr id="279" name="Google Shape;279;p22"/>
          <p:cNvSpPr/>
          <p:nvPr/>
        </p:nvSpPr>
        <p:spPr>
          <a:xfrm>
            <a:off x="4539996" y="768096"/>
            <a:ext cx="4018788" cy="7544"/>
          </a:xfrm>
          <a:prstGeom prst="rect">
            <a:avLst/>
          </a:prstGeom>
          <a:solidFill>
            <a:srgbClr val="181D2A"/>
          </a:solidFill>
          <a:ln cap="flat" cmpd="sng" w="12700">
            <a:solidFill>
              <a:srgbClr val="33333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home/claude/art/out/mcp06.png" id="280" name="Google Shape;280;p22"/>
          <p:cNvPicPr preferRelativeResize="0"/>
          <p:nvPr/>
        </p:nvPicPr>
        <p:blipFill rotWithShape="1">
          <a:blip r:embed="rId6">
            <a:alphaModFix/>
          </a:blip>
          <a:srcRect b="0" l="0" r="0" t="0"/>
          <a:stretch/>
        </p:blipFill>
        <p:spPr>
          <a:xfrm>
            <a:off x="4526280" y="918972"/>
            <a:ext cx="4046220" cy="2530602"/>
          </a:xfrm>
          <a:prstGeom prst="rect">
            <a:avLst/>
          </a:prstGeom>
          <a:noFill/>
          <a:ln>
            <a:noFill/>
          </a:ln>
        </p:spPr>
      </p:pic>
      <p:sp>
        <p:nvSpPr>
          <p:cNvPr id="281" name="Google Shape;281;p22"/>
          <p:cNvSpPr/>
          <p:nvPr/>
        </p:nvSpPr>
        <p:spPr>
          <a:xfrm>
            <a:off x="4539996" y="3525012"/>
            <a:ext cx="4018788" cy="2331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7DEEA"/>
              </a:buClr>
              <a:buSzPts val="900"/>
              <a:buFont typeface="Arial"/>
              <a:buNone/>
            </a:pPr>
            <a:r>
              <a:rPr b="0" i="1" lang="en" sz="900" u="none" cap="none" strike="noStrike">
                <a:solidFill>
                  <a:srgbClr val="D7DEEA"/>
                </a:solidFill>
                <a:latin typeface="Arial"/>
                <a:ea typeface="Arial"/>
                <a:cs typeface="Arial"/>
                <a:sym typeface="Arial"/>
              </a:rPr>
              <a:t>The road sign somebody swapped</a:t>
            </a:r>
            <a:endParaRPr b="0" i="0" sz="900" u="none" cap="none" strike="noStrike">
              <a:solidFill>
                <a:schemeClr val="dk1"/>
              </a:solidFill>
              <a:latin typeface="Calibri"/>
              <a:ea typeface="Calibri"/>
              <a:cs typeface="Calibri"/>
              <a:sym typeface="Calibri"/>
            </a:endParaRPr>
          </a:p>
        </p:txBody>
      </p:sp>
      <p:sp>
        <p:nvSpPr>
          <p:cNvPr id="282" name="Google Shape;282;p22"/>
          <p:cNvSpPr/>
          <p:nvPr/>
        </p:nvSpPr>
        <p:spPr>
          <a:xfrm>
            <a:off x="4539996" y="3854196"/>
            <a:ext cx="40462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8748C"/>
              </a:buClr>
              <a:buSzPts val="700"/>
              <a:buFont typeface="Courier New"/>
              <a:buNone/>
            </a:pPr>
            <a:r>
              <a:rPr b="1" i="0" lang="en" sz="700" u="none" cap="none" strike="noStrike">
                <a:solidFill>
                  <a:srgbClr val="68748C"/>
                </a:solidFill>
                <a:latin typeface="Courier New"/>
                <a:ea typeface="Courier New"/>
                <a:cs typeface="Courier New"/>
                <a:sym typeface="Courier New"/>
              </a:rPr>
              <a:t>HOW IT PLAYS OUT</a:t>
            </a:r>
            <a:endParaRPr b="0" i="0" sz="700" u="none" cap="none" strike="noStrike">
              <a:solidFill>
                <a:schemeClr val="dk1"/>
              </a:solidFill>
              <a:latin typeface="Calibri"/>
              <a:ea typeface="Calibri"/>
              <a:cs typeface="Calibri"/>
              <a:sym typeface="Calibri"/>
            </a:endParaRPr>
          </a:p>
        </p:txBody>
      </p:sp>
      <p:sp>
        <p:nvSpPr>
          <p:cNvPr id="283" name="Google Shape;283;p22"/>
          <p:cNvSpPr/>
          <p:nvPr/>
        </p:nvSpPr>
        <p:spPr>
          <a:xfrm>
            <a:off x="4539996" y="4073652"/>
            <a:ext cx="1184148" cy="370332"/>
          </a:xfrm>
          <a:prstGeom prst="roundRect">
            <a:avLst>
              <a:gd fmla="val 18519" name="adj"/>
            </a:avLst>
          </a:prstGeom>
          <a:solidFill>
            <a:srgbClr val="161726"/>
          </a:solidFill>
          <a:ln cap="flat" cmpd="sng" w="12700">
            <a:solidFill>
              <a:srgbClr val="393564"/>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D7DEEA"/>
              </a:buClr>
              <a:buSzPts val="700"/>
              <a:buFont typeface="Courier New"/>
              <a:buNone/>
            </a:pPr>
            <a:r>
              <a:rPr b="1" i="0" lang="en" sz="700" u="none" cap="none" strike="noStrike">
                <a:solidFill>
                  <a:srgbClr val="D7DEEA"/>
                </a:solidFill>
                <a:latin typeface="Courier New"/>
                <a:ea typeface="Courier New"/>
                <a:cs typeface="Courier New"/>
                <a:sym typeface="Courier New"/>
              </a:rPr>
              <a:t>HIDDEN INSTRUCTION</a:t>
            </a:r>
            <a:endParaRPr b="0" i="0" sz="700" u="none" cap="none" strike="noStrike">
              <a:solidFill>
                <a:schemeClr val="dk1"/>
              </a:solidFill>
              <a:latin typeface="Calibri"/>
              <a:ea typeface="Calibri"/>
              <a:cs typeface="Calibri"/>
              <a:sym typeface="Calibri"/>
            </a:endParaRPr>
          </a:p>
        </p:txBody>
      </p:sp>
      <p:sp>
        <p:nvSpPr>
          <p:cNvPr id="284" name="Google Shape;284;p22"/>
          <p:cNvSpPr/>
          <p:nvPr/>
        </p:nvSpPr>
        <p:spPr>
          <a:xfrm>
            <a:off x="5724144" y="4073652"/>
            <a:ext cx="233172" cy="3703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55BB3"/>
              </a:buClr>
              <a:buSzPts val="1000"/>
              <a:buFont typeface="Arial"/>
              <a:buNone/>
            </a:pPr>
            <a:r>
              <a:rPr b="0" i="0" lang="en" sz="1000" u="none" cap="none" strike="noStrike">
                <a:solidFill>
                  <a:srgbClr val="655BB3"/>
                </a:solidFill>
                <a:latin typeface="Arial"/>
                <a:ea typeface="Arial"/>
                <a:cs typeface="Arial"/>
                <a:sym typeface="Arial"/>
              </a:rPr>
              <a:t>→</a:t>
            </a:r>
            <a:endParaRPr b="0" i="0" sz="1000" u="none" cap="none" strike="noStrike">
              <a:solidFill>
                <a:schemeClr val="dk1"/>
              </a:solidFill>
              <a:latin typeface="Calibri"/>
              <a:ea typeface="Calibri"/>
              <a:cs typeface="Calibri"/>
              <a:sym typeface="Calibri"/>
            </a:endParaRPr>
          </a:p>
        </p:txBody>
      </p:sp>
      <p:sp>
        <p:nvSpPr>
          <p:cNvPr id="285" name="Google Shape;285;p22"/>
          <p:cNvSpPr/>
          <p:nvPr/>
        </p:nvSpPr>
        <p:spPr>
          <a:xfrm>
            <a:off x="5957316" y="4073652"/>
            <a:ext cx="1184148" cy="370332"/>
          </a:xfrm>
          <a:prstGeom prst="roundRect">
            <a:avLst>
              <a:gd fmla="val 18519" name="adj"/>
            </a:avLst>
          </a:prstGeom>
          <a:solidFill>
            <a:srgbClr val="161726"/>
          </a:solidFill>
          <a:ln cap="flat" cmpd="sng" w="12700">
            <a:solidFill>
              <a:srgbClr val="393564"/>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D7DEEA"/>
              </a:buClr>
              <a:buSzPts val="700"/>
              <a:buFont typeface="Courier New"/>
              <a:buNone/>
            </a:pPr>
            <a:r>
              <a:rPr b="1" i="0" lang="en" sz="700" u="none" cap="none" strike="noStrike">
                <a:solidFill>
                  <a:srgbClr val="D7DEEA"/>
                </a:solidFill>
                <a:latin typeface="Courier New"/>
                <a:ea typeface="Courier New"/>
                <a:cs typeface="Courier New"/>
                <a:sym typeface="Courier New"/>
              </a:rPr>
              <a:t>AGENT ADOPTS IT</a:t>
            </a:r>
            <a:endParaRPr b="0" i="0" sz="700" u="none" cap="none" strike="noStrike">
              <a:solidFill>
                <a:schemeClr val="dk1"/>
              </a:solidFill>
              <a:latin typeface="Calibri"/>
              <a:ea typeface="Calibri"/>
              <a:cs typeface="Calibri"/>
              <a:sym typeface="Calibri"/>
            </a:endParaRPr>
          </a:p>
        </p:txBody>
      </p:sp>
      <p:sp>
        <p:nvSpPr>
          <p:cNvPr id="286" name="Google Shape;286;p22"/>
          <p:cNvSpPr/>
          <p:nvPr/>
        </p:nvSpPr>
        <p:spPr>
          <a:xfrm>
            <a:off x="7141464" y="4073652"/>
            <a:ext cx="233172" cy="3703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55BB3"/>
              </a:buClr>
              <a:buSzPts val="1000"/>
              <a:buFont typeface="Arial"/>
              <a:buNone/>
            </a:pPr>
            <a:r>
              <a:rPr b="0" i="0" lang="en" sz="1000" u="none" cap="none" strike="noStrike">
                <a:solidFill>
                  <a:srgbClr val="655BB3"/>
                </a:solidFill>
                <a:latin typeface="Arial"/>
                <a:ea typeface="Arial"/>
                <a:cs typeface="Arial"/>
                <a:sym typeface="Arial"/>
              </a:rPr>
              <a:t>→</a:t>
            </a:r>
            <a:endParaRPr b="0" i="0" sz="1000" u="none" cap="none" strike="noStrike">
              <a:solidFill>
                <a:schemeClr val="dk1"/>
              </a:solidFill>
              <a:latin typeface="Calibri"/>
              <a:ea typeface="Calibri"/>
              <a:cs typeface="Calibri"/>
              <a:sym typeface="Calibri"/>
            </a:endParaRPr>
          </a:p>
        </p:txBody>
      </p:sp>
      <p:sp>
        <p:nvSpPr>
          <p:cNvPr id="287" name="Google Shape;287;p22"/>
          <p:cNvSpPr/>
          <p:nvPr/>
        </p:nvSpPr>
        <p:spPr>
          <a:xfrm>
            <a:off x="7374636" y="4073652"/>
            <a:ext cx="1184148" cy="370332"/>
          </a:xfrm>
          <a:prstGeom prst="roundRect">
            <a:avLst>
              <a:gd fmla="val 18519" name="adj"/>
            </a:avLst>
          </a:prstGeom>
          <a:solidFill>
            <a:srgbClr val="21203A"/>
          </a:solidFill>
          <a:ln cap="flat" cmpd="sng" w="12700">
            <a:solidFill>
              <a:srgbClr val="6C61BE"/>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8B7CF6"/>
              </a:buClr>
              <a:buSzPts val="700"/>
              <a:buFont typeface="Courier New"/>
              <a:buNone/>
            </a:pPr>
            <a:r>
              <a:rPr b="1" i="0" lang="en" sz="700" u="none" cap="none" strike="noStrike">
                <a:solidFill>
                  <a:srgbClr val="8B7CF6"/>
                </a:solidFill>
                <a:latin typeface="Courier New"/>
                <a:ea typeface="Courier New"/>
                <a:cs typeface="Courier New"/>
                <a:sym typeface="Courier New"/>
              </a:rPr>
              <a:t>NEW DESTINATION</a:t>
            </a:r>
            <a:endParaRPr b="0" i="0" sz="700" u="none" cap="none" strike="noStrike">
              <a:solidFill>
                <a:schemeClr val="dk1"/>
              </a:solidFill>
              <a:latin typeface="Calibri"/>
              <a:ea typeface="Calibri"/>
              <a:cs typeface="Calibri"/>
              <a:sym typeface="Calibri"/>
            </a:endParaRPr>
          </a:p>
        </p:txBody>
      </p:sp>
      <p:sp>
        <p:nvSpPr>
          <p:cNvPr id="288" name="Google Shape;288;p22"/>
          <p:cNvSpPr/>
          <p:nvPr/>
        </p:nvSpPr>
        <p:spPr>
          <a:xfrm>
            <a:off x="425196" y="4814316"/>
            <a:ext cx="54864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4759"/>
              </a:buClr>
              <a:buSzPts val="600"/>
              <a:buFont typeface="Courier New"/>
              <a:buNone/>
            </a:pPr>
            <a:r>
              <a:rPr b="0" i="0" lang="en" sz="600" u="none" cap="none" strike="noStrike">
                <a:solidFill>
                  <a:srgbClr val="3E4759"/>
                </a:solidFill>
                <a:latin typeface="Courier New"/>
                <a:ea typeface="Courier New"/>
                <a:cs typeface="Courier New"/>
                <a:sym typeface="Courier New"/>
              </a:rPr>
              <a:t>OWASP MCP Top 10 · MCP06:2025</a:t>
            </a:r>
            <a:endParaRPr b="0" i="0" sz="6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3" name="Shape 293"/>
        <p:cNvGrpSpPr/>
        <p:nvPr/>
      </p:nvGrpSpPr>
      <p:grpSpPr>
        <a:xfrm>
          <a:off x="0" y="0"/>
          <a:ext cx="0" cy="0"/>
          <a:chOff x="0" y="0"/>
          <a:chExt cx="0" cy="0"/>
        </a:xfrm>
      </p:grpSpPr>
      <p:sp>
        <p:nvSpPr>
          <p:cNvPr id="294" name="Google Shape;294;p23"/>
          <p:cNvSpPr/>
          <p:nvPr/>
        </p:nvSpPr>
        <p:spPr>
          <a:xfrm>
            <a:off x="425196" y="411480"/>
            <a:ext cx="960120" cy="212598"/>
          </a:xfrm>
          <a:prstGeom prst="roundRect">
            <a:avLst>
              <a:gd fmla="val 29032" name="adj"/>
            </a:avLst>
          </a:prstGeom>
          <a:solidFill>
            <a:srgbClr val="26161A"/>
          </a:solidFill>
          <a:ln cap="flat" cmpd="sng" w="12700">
            <a:solidFill>
              <a:srgbClr val="8C4244"/>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87171"/>
              </a:buClr>
              <a:buSzPts val="800"/>
              <a:buFont typeface="Courier New"/>
              <a:buNone/>
            </a:pPr>
            <a:r>
              <a:rPr b="1" i="0" lang="en" sz="800" u="none" cap="none" strike="noStrike">
                <a:solidFill>
                  <a:srgbClr val="F87171"/>
                </a:solidFill>
                <a:latin typeface="Courier New"/>
                <a:ea typeface="Courier New"/>
                <a:cs typeface="Courier New"/>
                <a:sym typeface="Courier New"/>
              </a:rPr>
              <a:t>MCP07:2025</a:t>
            </a:r>
            <a:endParaRPr b="0" i="0" sz="800" u="none" cap="none" strike="noStrike">
              <a:solidFill>
                <a:schemeClr val="dk1"/>
              </a:solidFill>
              <a:latin typeface="Calibri"/>
              <a:ea typeface="Calibri"/>
              <a:cs typeface="Calibri"/>
              <a:sym typeface="Calibri"/>
            </a:endParaRPr>
          </a:p>
        </p:txBody>
      </p:sp>
      <p:sp>
        <p:nvSpPr>
          <p:cNvPr id="295" name="Google Shape;295;p23"/>
          <p:cNvSpPr/>
          <p:nvPr/>
        </p:nvSpPr>
        <p:spPr>
          <a:xfrm>
            <a:off x="425196" y="699516"/>
            <a:ext cx="3737610" cy="905256"/>
          </a:xfrm>
          <a:prstGeom prst="rect">
            <a:avLst/>
          </a:prstGeom>
          <a:noFill/>
          <a:ln>
            <a:noFill/>
          </a:ln>
        </p:spPr>
        <p:txBody>
          <a:bodyPr anchorCtr="0" anchor="t" bIns="0" lIns="0" spcFirstLastPara="1" rIns="0" wrap="square" tIns="0">
            <a:noAutofit/>
          </a:bodyPr>
          <a:lstStyle/>
          <a:p>
            <a:pPr indent="0" lvl="0" marL="0" marR="0" rtl="0" algn="l">
              <a:lnSpc>
                <a:spcPct val="92000"/>
              </a:lnSpc>
              <a:spcBef>
                <a:spcPts val="0"/>
              </a:spcBef>
              <a:spcAft>
                <a:spcPts val="0"/>
              </a:spcAft>
              <a:buClr>
                <a:srgbClr val="FFFFFF"/>
              </a:buClr>
              <a:buSzPts val="2300"/>
              <a:buFont typeface="Arial"/>
              <a:buNone/>
            </a:pPr>
            <a:r>
              <a:rPr b="1" i="0" lang="en" sz="2300" u="none" cap="none" strike="noStrike">
                <a:solidFill>
                  <a:srgbClr val="FFFFFF"/>
                </a:solidFill>
                <a:latin typeface="Arial"/>
                <a:ea typeface="Arial"/>
                <a:cs typeface="Arial"/>
                <a:sym typeface="Arial"/>
              </a:rPr>
              <a:t>Insufficient Auth &amp; </a:t>
            </a:r>
            <a:r>
              <a:rPr b="1" i="0" lang="en" sz="2300" u="none" cap="none" strike="noStrike">
                <a:solidFill>
                  <a:srgbClr val="F87171"/>
                </a:solidFill>
                <a:latin typeface="Arial"/>
                <a:ea typeface="Arial"/>
                <a:cs typeface="Arial"/>
                <a:sym typeface="Arial"/>
              </a:rPr>
              <a:t>Authorization</a:t>
            </a:r>
            <a:endParaRPr b="0" i="0" sz="2300" u="none" cap="none" strike="noStrike">
              <a:solidFill>
                <a:schemeClr val="dk1"/>
              </a:solidFill>
              <a:latin typeface="Calibri"/>
              <a:ea typeface="Calibri"/>
              <a:cs typeface="Calibri"/>
              <a:sym typeface="Calibri"/>
            </a:endParaRPr>
          </a:p>
        </p:txBody>
      </p:sp>
      <p:sp>
        <p:nvSpPr>
          <p:cNvPr id="296" name="Google Shape;296;p23"/>
          <p:cNvSpPr/>
          <p:nvPr/>
        </p:nvSpPr>
        <p:spPr>
          <a:xfrm>
            <a:off x="425196" y="1687068"/>
            <a:ext cx="3566160" cy="45262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93A0B7"/>
              </a:buClr>
              <a:buSzPts val="900"/>
              <a:buFont typeface="Arial"/>
              <a:buNone/>
            </a:pPr>
            <a:r>
              <a:rPr b="0" i="0" lang="en" sz="900" u="none" cap="none" strike="noStrike">
                <a:solidFill>
                  <a:srgbClr val="93A0B7"/>
                </a:solidFill>
                <a:latin typeface="Arial"/>
                <a:ea typeface="Arial"/>
                <a:cs typeface="Arial"/>
                <a:sym typeface="Arial"/>
              </a:rPr>
              <a:t>The server never properly checks who is calling, or what that caller may do.</a:t>
            </a:r>
            <a:endParaRPr b="0" i="0" sz="900" u="none" cap="none" strike="noStrike">
              <a:solidFill>
                <a:schemeClr val="dk1"/>
              </a:solidFill>
              <a:latin typeface="Calibri"/>
              <a:ea typeface="Calibri"/>
              <a:cs typeface="Calibri"/>
              <a:sym typeface="Calibri"/>
            </a:endParaRPr>
          </a:p>
        </p:txBody>
      </p:sp>
      <p:sp>
        <p:nvSpPr>
          <p:cNvPr id="297" name="Google Shape;297;p23"/>
          <p:cNvSpPr/>
          <p:nvPr/>
        </p:nvSpPr>
        <p:spPr>
          <a:xfrm>
            <a:off x="425196" y="2441448"/>
            <a:ext cx="3648456" cy="905256"/>
          </a:xfrm>
          <a:prstGeom prst="roundRect">
            <a:avLst>
              <a:gd fmla="val 9848" name="adj"/>
            </a:avLst>
          </a:prstGeom>
          <a:solidFill>
            <a:srgbClr val="0D0F16"/>
          </a:solidFill>
          <a:ln cap="flat" cmpd="sng" w="12700">
            <a:solidFill>
              <a:srgbClr val="4E354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8" name="Google Shape;298;p23"/>
          <p:cNvSpPr/>
          <p:nvPr/>
        </p:nvSpPr>
        <p:spPr>
          <a:xfrm>
            <a:off x="603504" y="2736342"/>
            <a:ext cx="315468" cy="315468"/>
          </a:xfrm>
          <a:prstGeom prst="roundRect">
            <a:avLst>
              <a:gd fmla="val 23913" name="adj"/>
            </a:avLst>
          </a:prstGeom>
          <a:solidFill>
            <a:srgbClr val="331F25"/>
          </a:solidFill>
          <a:ln cap="flat" cmpd="sng" w="12700">
            <a:solidFill>
              <a:srgbClr val="83404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home/claude/art/out/icon-car.png" id="299" name="Google Shape;299;p23"/>
          <p:cNvPicPr preferRelativeResize="0"/>
          <p:nvPr/>
        </p:nvPicPr>
        <p:blipFill rotWithShape="1">
          <a:blip r:embed="rId4">
            <a:alphaModFix/>
          </a:blip>
          <a:srcRect b="0" l="0" r="0" t="0"/>
          <a:stretch/>
        </p:blipFill>
        <p:spPr>
          <a:xfrm>
            <a:off x="654939" y="2787777"/>
            <a:ext cx="212598" cy="212598"/>
          </a:xfrm>
          <a:prstGeom prst="rect">
            <a:avLst/>
          </a:prstGeom>
          <a:noFill/>
          <a:ln>
            <a:noFill/>
          </a:ln>
        </p:spPr>
      </p:pic>
      <p:sp>
        <p:nvSpPr>
          <p:cNvPr id="300" name="Google Shape;300;p23"/>
          <p:cNvSpPr/>
          <p:nvPr/>
        </p:nvSpPr>
        <p:spPr>
          <a:xfrm>
            <a:off x="1056132" y="2558034"/>
            <a:ext cx="2852928"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7171"/>
              </a:buClr>
              <a:buSzPts val="700"/>
              <a:buFont typeface="Courier New"/>
              <a:buNone/>
            </a:pPr>
            <a:r>
              <a:rPr b="1" i="0" lang="en" sz="700" u="none" cap="none" strike="noStrike">
                <a:solidFill>
                  <a:srgbClr val="F87171"/>
                </a:solidFill>
                <a:latin typeface="Courier New"/>
                <a:ea typeface="Courier New"/>
                <a:cs typeface="Courier New"/>
                <a:sym typeface="Courier New"/>
              </a:rPr>
              <a:t>IN THE CAR</a:t>
            </a:r>
            <a:endParaRPr b="0" i="0" sz="700" u="none" cap="none" strike="noStrike">
              <a:solidFill>
                <a:schemeClr val="dk1"/>
              </a:solidFill>
              <a:latin typeface="Calibri"/>
              <a:ea typeface="Calibri"/>
              <a:cs typeface="Calibri"/>
              <a:sym typeface="Calibri"/>
            </a:endParaRPr>
          </a:p>
        </p:txBody>
      </p:sp>
      <p:sp>
        <p:nvSpPr>
          <p:cNvPr id="301" name="Google Shape;301;p23"/>
          <p:cNvSpPr/>
          <p:nvPr/>
        </p:nvSpPr>
        <p:spPr>
          <a:xfrm>
            <a:off x="1056132" y="2743200"/>
            <a:ext cx="2852928" cy="4937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D7DEEA"/>
              </a:buClr>
              <a:buSzPts val="900"/>
              <a:buFont typeface="Arial"/>
              <a:buNone/>
            </a:pPr>
            <a:r>
              <a:rPr b="0" i="0" lang="en" sz="900" u="none" cap="none" strike="noStrike">
                <a:solidFill>
                  <a:srgbClr val="D7DEEA"/>
                </a:solidFill>
                <a:latin typeface="Arial"/>
                <a:ea typeface="Arial"/>
                <a:cs typeface="Arial"/>
                <a:sym typeface="Arial"/>
              </a:rPr>
              <a:t>The car never asks who is holding the key. Anyone gets in and drives off.</a:t>
            </a:r>
            <a:endParaRPr b="0" i="0" sz="900" u="none" cap="none" strike="noStrike">
              <a:solidFill>
                <a:schemeClr val="dk1"/>
              </a:solidFill>
              <a:latin typeface="Calibri"/>
              <a:ea typeface="Calibri"/>
              <a:cs typeface="Calibri"/>
              <a:sym typeface="Calibri"/>
            </a:endParaRPr>
          </a:p>
        </p:txBody>
      </p:sp>
      <p:sp>
        <p:nvSpPr>
          <p:cNvPr id="302" name="Google Shape;302;p23"/>
          <p:cNvSpPr/>
          <p:nvPr/>
        </p:nvSpPr>
        <p:spPr>
          <a:xfrm>
            <a:off x="425196" y="3483864"/>
            <a:ext cx="3648456" cy="905256"/>
          </a:xfrm>
          <a:prstGeom prst="roundRect">
            <a:avLst>
              <a:gd fmla="val 9848" name="adj"/>
            </a:avLst>
          </a:prstGeom>
          <a:solidFill>
            <a:srgbClr val="0D0F16"/>
          </a:solidFill>
          <a:ln cap="flat" cmpd="sng" w="12700">
            <a:solidFill>
              <a:srgbClr val="234B4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3" name="Google Shape;303;p23"/>
          <p:cNvSpPr/>
          <p:nvPr/>
        </p:nvSpPr>
        <p:spPr>
          <a:xfrm>
            <a:off x="603504" y="3778758"/>
            <a:ext cx="315468" cy="315468"/>
          </a:xfrm>
          <a:prstGeom prst="roundRect">
            <a:avLst>
              <a:gd fmla="val 23913" name="adj"/>
            </a:avLst>
          </a:prstGeom>
          <a:solidFill>
            <a:srgbClr val="132E2B"/>
          </a:solidFill>
          <a:ln cap="flat" cmpd="sng" w="12700">
            <a:solidFill>
              <a:srgbClr val="21715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home/claude/art/out/icon-shield.png" id="304" name="Google Shape;304;p23"/>
          <p:cNvPicPr preferRelativeResize="0"/>
          <p:nvPr/>
        </p:nvPicPr>
        <p:blipFill rotWithShape="1">
          <a:blip r:embed="rId5">
            <a:alphaModFix/>
          </a:blip>
          <a:srcRect b="0" l="0" r="0" t="0"/>
          <a:stretch/>
        </p:blipFill>
        <p:spPr>
          <a:xfrm>
            <a:off x="654939" y="3830193"/>
            <a:ext cx="212598" cy="212598"/>
          </a:xfrm>
          <a:prstGeom prst="rect">
            <a:avLst/>
          </a:prstGeom>
          <a:noFill/>
          <a:ln>
            <a:noFill/>
          </a:ln>
        </p:spPr>
      </p:pic>
      <p:sp>
        <p:nvSpPr>
          <p:cNvPr id="305" name="Google Shape;305;p23"/>
          <p:cNvSpPr/>
          <p:nvPr/>
        </p:nvSpPr>
        <p:spPr>
          <a:xfrm>
            <a:off x="1056132" y="3600450"/>
            <a:ext cx="2852928"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4D399"/>
              </a:buClr>
              <a:buSzPts val="700"/>
              <a:buFont typeface="Courier New"/>
              <a:buNone/>
            </a:pPr>
            <a:r>
              <a:rPr b="1" i="0" lang="en" sz="700" u="none" cap="none" strike="noStrike">
                <a:solidFill>
                  <a:srgbClr val="34D399"/>
                </a:solidFill>
                <a:latin typeface="Courier New"/>
                <a:ea typeface="Courier New"/>
                <a:cs typeface="Courier New"/>
                <a:sym typeface="Courier New"/>
              </a:rPr>
              <a:t>GUARDRAIL</a:t>
            </a:r>
            <a:endParaRPr b="0" i="0" sz="700" u="none" cap="none" strike="noStrike">
              <a:solidFill>
                <a:schemeClr val="dk1"/>
              </a:solidFill>
              <a:latin typeface="Calibri"/>
              <a:ea typeface="Calibri"/>
              <a:cs typeface="Calibri"/>
              <a:sym typeface="Calibri"/>
            </a:endParaRPr>
          </a:p>
        </p:txBody>
      </p:sp>
      <p:sp>
        <p:nvSpPr>
          <p:cNvPr id="306" name="Google Shape;306;p23"/>
          <p:cNvSpPr/>
          <p:nvPr/>
        </p:nvSpPr>
        <p:spPr>
          <a:xfrm>
            <a:off x="1056132" y="3785616"/>
            <a:ext cx="2852928" cy="4937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D7DEEA"/>
              </a:buClr>
              <a:buSzPts val="900"/>
              <a:buFont typeface="Arial"/>
              <a:buNone/>
            </a:pPr>
            <a:r>
              <a:rPr b="0" i="0" lang="en" sz="900" u="none" cap="none" strike="noStrike">
                <a:solidFill>
                  <a:srgbClr val="D7DEEA"/>
                </a:solidFill>
                <a:latin typeface="Arial"/>
                <a:ea typeface="Arial"/>
                <a:cs typeface="Arial"/>
                <a:sym typeface="Arial"/>
              </a:rPr>
              <a:t>Authenticate every call. Authorise every single tool.</a:t>
            </a:r>
            <a:endParaRPr b="0" i="0" sz="900" u="none" cap="none" strike="noStrike">
              <a:solidFill>
                <a:schemeClr val="dk1"/>
              </a:solidFill>
              <a:latin typeface="Calibri"/>
              <a:ea typeface="Calibri"/>
              <a:cs typeface="Calibri"/>
              <a:sym typeface="Calibri"/>
            </a:endParaRPr>
          </a:p>
        </p:txBody>
      </p:sp>
      <p:sp>
        <p:nvSpPr>
          <p:cNvPr id="307" name="Google Shape;307;p23"/>
          <p:cNvSpPr/>
          <p:nvPr/>
        </p:nvSpPr>
        <p:spPr>
          <a:xfrm>
            <a:off x="4354830" y="425196"/>
            <a:ext cx="4389120" cy="4293108"/>
          </a:xfrm>
          <a:prstGeom prst="roundRect">
            <a:avLst>
              <a:gd fmla="val 2077" name="adj"/>
            </a:avLst>
          </a:prstGeom>
          <a:solidFill>
            <a:srgbClr val="0D0F16"/>
          </a:solidFill>
          <a:ln cap="flat" cmpd="sng" w="12700">
            <a:solidFill>
              <a:srgbClr val="1E243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8" name="Google Shape;308;p23"/>
          <p:cNvSpPr/>
          <p:nvPr/>
        </p:nvSpPr>
        <p:spPr>
          <a:xfrm>
            <a:off x="4539996" y="548640"/>
            <a:ext cx="40462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8748C"/>
              </a:buClr>
              <a:buSzPts val="700"/>
              <a:buFont typeface="Courier New"/>
              <a:buNone/>
            </a:pPr>
            <a:r>
              <a:rPr b="1" i="0" lang="en" sz="700" u="none" cap="none" strike="noStrike">
                <a:solidFill>
                  <a:srgbClr val="68748C"/>
                </a:solidFill>
                <a:latin typeface="Courier New"/>
                <a:ea typeface="Courier New"/>
                <a:cs typeface="Courier New"/>
                <a:sym typeface="Courier New"/>
              </a:rPr>
              <a:t>ATTACK SCENARIO</a:t>
            </a:r>
            <a:endParaRPr b="0" i="0" sz="700" u="none" cap="none" strike="noStrike">
              <a:solidFill>
                <a:schemeClr val="dk1"/>
              </a:solidFill>
              <a:latin typeface="Calibri"/>
              <a:ea typeface="Calibri"/>
              <a:cs typeface="Calibri"/>
              <a:sym typeface="Calibri"/>
            </a:endParaRPr>
          </a:p>
        </p:txBody>
      </p:sp>
      <p:sp>
        <p:nvSpPr>
          <p:cNvPr id="309" name="Google Shape;309;p23"/>
          <p:cNvSpPr/>
          <p:nvPr/>
        </p:nvSpPr>
        <p:spPr>
          <a:xfrm>
            <a:off x="4539996" y="768096"/>
            <a:ext cx="4018788" cy="7544"/>
          </a:xfrm>
          <a:prstGeom prst="rect">
            <a:avLst/>
          </a:prstGeom>
          <a:solidFill>
            <a:srgbClr val="181D2A"/>
          </a:solidFill>
          <a:ln cap="flat" cmpd="sng" w="12700">
            <a:solidFill>
              <a:srgbClr val="33333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home/claude/art/out/mcp07.png" id="310" name="Google Shape;310;p23"/>
          <p:cNvPicPr preferRelativeResize="0"/>
          <p:nvPr/>
        </p:nvPicPr>
        <p:blipFill rotWithShape="1">
          <a:blip r:embed="rId6">
            <a:alphaModFix/>
          </a:blip>
          <a:srcRect b="0" l="0" r="0" t="0"/>
          <a:stretch/>
        </p:blipFill>
        <p:spPr>
          <a:xfrm>
            <a:off x="4526280" y="918972"/>
            <a:ext cx="4046220" cy="2530602"/>
          </a:xfrm>
          <a:prstGeom prst="rect">
            <a:avLst/>
          </a:prstGeom>
          <a:noFill/>
          <a:ln>
            <a:noFill/>
          </a:ln>
        </p:spPr>
      </p:pic>
      <p:sp>
        <p:nvSpPr>
          <p:cNvPr id="311" name="Google Shape;311;p23"/>
          <p:cNvSpPr/>
          <p:nvPr/>
        </p:nvSpPr>
        <p:spPr>
          <a:xfrm>
            <a:off x="4539996" y="3525012"/>
            <a:ext cx="4018788" cy="2331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7DEEA"/>
              </a:buClr>
              <a:buSzPts val="900"/>
              <a:buFont typeface="Arial"/>
              <a:buNone/>
            </a:pPr>
            <a:r>
              <a:rPr b="0" i="1" lang="en" sz="900" u="none" cap="none" strike="noStrike">
                <a:solidFill>
                  <a:srgbClr val="D7DEEA"/>
                </a:solidFill>
                <a:latin typeface="Arial"/>
                <a:ea typeface="Arial"/>
                <a:cs typeface="Arial"/>
                <a:sym typeface="Arial"/>
              </a:rPr>
              <a:t>The car that never asks who you are</a:t>
            </a:r>
            <a:endParaRPr b="0" i="0" sz="900" u="none" cap="none" strike="noStrike">
              <a:solidFill>
                <a:schemeClr val="dk1"/>
              </a:solidFill>
              <a:latin typeface="Calibri"/>
              <a:ea typeface="Calibri"/>
              <a:cs typeface="Calibri"/>
              <a:sym typeface="Calibri"/>
            </a:endParaRPr>
          </a:p>
        </p:txBody>
      </p:sp>
      <p:sp>
        <p:nvSpPr>
          <p:cNvPr id="312" name="Google Shape;312;p23"/>
          <p:cNvSpPr/>
          <p:nvPr/>
        </p:nvSpPr>
        <p:spPr>
          <a:xfrm>
            <a:off x="4539996" y="3854196"/>
            <a:ext cx="40462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8748C"/>
              </a:buClr>
              <a:buSzPts val="700"/>
              <a:buFont typeface="Courier New"/>
              <a:buNone/>
            </a:pPr>
            <a:r>
              <a:rPr b="1" i="0" lang="en" sz="700" u="none" cap="none" strike="noStrike">
                <a:solidFill>
                  <a:srgbClr val="68748C"/>
                </a:solidFill>
                <a:latin typeface="Courier New"/>
                <a:ea typeface="Courier New"/>
                <a:cs typeface="Courier New"/>
                <a:sym typeface="Courier New"/>
              </a:rPr>
              <a:t>HOW IT PLAYS OUT</a:t>
            </a:r>
            <a:endParaRPr b="0" i="0" sz="700" u="none" cap="none" strike="noStrike">
              <a:solidFill>
                <a:schemeClr val="dk1"/>
              </a:solidFill>
              <a:latin typeface="Calibri"/>
              <a:ea typeface="Calibri"/>
              <a:cs typeface="Calibri"/>
              <a:sym typeface="Calibri"/>
            </a:endParaRPr>
          </a:p>
        </p:txBody>
      </p:sp>
      <p:sp>
        <p:nvSpPr>
          <p:cNvPr id="313" name="Google Shape;313;p23"/>
          <p:cNvSpPr/>
          <p:nvPr/>
        </p:nvSpPr>
        <p:spPr>
          <a:xfrm>
            <a:off x="4539996" y="4073652"/>
            <a:ext cx="1184148" cy="370332"/>
          </a:xfrm>
          <a:prstGeom prst="roundRect">
            <a:avLst>
              <a:gd fmla="val 18519" name="adj"/>
            </a:avLst>
          </a:prstGeom>
          <a:solidFill>
            <a:srgbClr val="1D161C"/>
          </a:solidFill>
          <a:ln cap="flat" cmpd="sng" w="12700">
            <a:solidFill>
              <a:srgbClr val="5F3136"/>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D7DEEA"/>
              </a:buClr>
              <a:buSzPts val="700"/>
              <a:buFont typeface="Courier New"/>
              <a:buNone/>
            </a:pPr>
            <a:r>
              <a:rPr b="1" i="0" lang="en" sz="700" u="none" cap="none" strike="noStrike">
                <a:solidFill>
                  <a:srgbClr val="D7DEEA"/>
                </a:solidFill>
                <a:latin typeface="Courier New"/>
                <a:ea typeface="Courier New"/>
                <a:cs typeface="Courier New"/>
                <a:sym typeface="Courier New"/>
              </a:rPr>
              <a:t>NO IDENTITY CHECK</a:t>
            </a:r>
            <a:endParaRPr b="0" i="0" sz="700" u="none" cap="none" strike="noStrike">
              <a:solidFill>
                <a:schemeClr val="dk1"/>
              </a:solidFill>
              <a:latin typeface="Calibri"/>
              <a:ea typeface="Calibri"/>
              <a:cs typeface="Calibri"/>
              <a:sym typeface="Calibri"/>
            </a:endParaRPr>
          </a:p>
        </p:txBody>
      </p:sp>
      <p:sp>
        <p:nvSpPr>
          <p:cNvPr id="314" name="Google Shape;314;p23"/>
          <p:cNvSpPr/>
          <p:nvPr/>
        </p:nvSpPr>
        <p:spPr>
          <a:xfrm>
            <a:off x="5724144" y="4073652"/>
            <a:ext cx="233172" cy="3703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25456"/>
              </a:buClr>
              <a:buSzPts val="1000"/>
              <a:buFont typeface="Arial"/>
              <a:buNone/>
            </a:pPr>
            <a:r>
              <a:rPr b="0" i="0" lang="en" sz="1000" u="none" cap="none" strike="noStrike">
                <a:solidFill>
                  <a:srgbClr val="B25456"/>
                </a:solidFill>
                <a:latin typeface="Arial"/>
                <a:ea typeface="Arial"/>
                <a:cs typeface="Arial"/>
                <a:sym typeface="Arial"/>
              </a:rPr>
              <a:t>→</a:t>
            </a:r>
            <a:endParaRPr b="0" i="0" sz="1000" u="none" cap="none" strike="noStrike">
              <a:solidFill>
                <a:schemeClr val="dk1"/>
              </a:solidFill>
              <a:latin typeface="Calibri"/>
              <a:ea typeface="Calibri"/>
              <a:cs typeface="Calibri"/>
              <a:sym typeface="Calibri"/>
            </a:endParaRPr>
          </a:p>
        </p:txBody>
      </p:sp>
      <p:sp>
        <p:nvSpPr>
          <p:cNvPr id="315" name="Google Shape;315;p23"/>
          <p:cNvSpPr/>
          <p:nvPr/>
        </p:nvSpPr>
        <p:spPr>
          <a:xfrm>
            <a:off x="5957316" y="4073652"/>
            <a:ext cx="1184148" cy="370332"/>
          </a:xfrm>
          <a:prstGeom prst="roundRect">
            <a:avLst>
              <a:gd fmla="val 18519" name="adj"/>
            </a:avLst>
          </a:prstGeom>
          <a:solidFill>
            <a:srgbClr val="1D161C"/>
          </a:solidFill>
          <a:ln cap="flat" cmpd="sng" w="12700">
            <a:solidFill>
              <a:srgbClr val="5F3136"/>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D7DEEA"/>
              </a:buClr>
              <a:buSzPts val="700"/>
              <a:buFont typeface="Courier New"/>
              <a:buNone/>
            </a:pPr>
            <a:r>
              <a:rPr b="1" i="0" lang="en" sz="700" u="none" cap="none" strike="noStrike">
                <a:solidFill>
                  <a:srgbClr val="D7DEEA"/>
                </a:solidFill>
                <a:latin typeface="Courier New"/>
                <a:ea typeface="Courier New"/>
                <a:cs typeface="Courier New"/>
                <a:sym typeface="Courier New"/>
              </a:rPr>
              <a:t>ANYONE CONNECTS</a:t>
            </a:r>
            <a:endParaRPr b="0" i="0" sz="700" u="none" cap="none" strike="noStrike">
              <a:solidFill>
                <a:schemeClr val="dk1"/>
              </a:solidFill>
              <a:latin typeface="Calibri"/>
              <a:ea typeface="Calibri"/>
              <a:cs typeface="Calibri"/>
              <a:sym typeface="Calibri"/>
            </a:endParaRPr>
          </a:p>
        </p:txBody>
      </p:sp>
      <p:sp>
        <p:nvSpPr>
          <p:cNvPr id="316" name="Google Shape;316;p23"/>
          <p:cNvSpPr/>
          <p:nvPr/>
        </p:nvSpPr>
        <p:spPr>
          <a:xfrm>
            <a:off x="7141464" y="4073652"/>
            <a:ext cx="233172" cy="3703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25456"/>
              </a:buClr>
              <a:buSzPts val="1000"/>
              <a:buFont typeface="Arial"/>
              <a:buNone/>
            </a:pPr>
            <a:r>
              <a:rPr b="0" i="0" lang="en" sz="1000" u="none" cap="none" strike="noStrike">
                <a:solidFill>
                  <a:srgbClr val="B25456"/>
                </a:solidFill>
                <a:latin typeface="Arial"/>
                <a:ea typeface="Arial"/>
                <a:cs typeface="Arial"/>
                <a:sym typeface="Arial"/>
              </a:rPr>
              <a:t>→</a:t>
            </a:r>
            <a:endParaRPr b="0" i="0" sz="1000" u="none" cap="none" strike="noStrike">
              <a:solidFill>
                <a:schemeClr val="dk1"/>
              </a:solidFill>
              <a:latin typeface="Calibri"/>
              <a:ea typeface="Calibri"/>
              <a:cs typeface="Calibri"/>
              <a:sym typeface="Calibri"/>
            </a:endParaRPr>
          </a:p>
        </p:txBody>
      </p:sp>
      <p:sp>
        <p:nvSpPr>
          <p:cNvPr id="317" name="Google Shape;317;p23"/>
          <p:cNvSpPr/>
          <p:nvPr/>
        </p:nvSpPr>
        <p:spPr>
          <a:xfrm>
            <a:off x="7374636" y="4073652"/>
            <a:ext cx="1184148" cy="370332"/>
          </a:xfrm>
          <a:prstGeom prst="roundRect">
            <a:avLst>
              <a:gd fmla="val 18519" name="adj"/>
            </a:avLst>
          </a:prstGeom>
          <a:solidFill>
            <a:srgbClr val="331F25"/>
          </a:solidFill>
          <a:ln cap="flat" cmpd="sng" w="12700">
            <a:solidFill>
              <a:srgbClr val="BD595A"/>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87171"/>
              </a:buClr>
              <a:buSzPts val="700"/>
              <a:buFont typeface="Courier New"/>
              <a:buNone/>
            </a:pPr>
            <a:r>
              <a:rPr b="1" i="0" lang="en" sz="700" u="none" cap="none" strike="noStrike">
                <a:solidFill>
                  <a:srgbClr val="F87171"/>
                </a:solidFill>
                <a:latin typeface="Courier New"/>
                <a:ea typeface="Courier New"/>
                <a:cs typeface="Courier New"/>
                <a:sym typeface="Courier New"/>
              </a:rPr>
              <a:t>ANYTHING RUNS</a:t>
            </a:r>
            <a:endParaRPr b="0" i="0" sz="700" u="none" cap="none" strike="noStrike">
              <a:solidFill>
                <a:schemeClr val="dk1"/>
              </a:solidFill>
              <a:latin typeface="Calibri"/>
              <a:ea typeface="Calibri"/>
              <a:cs typeface="Calibri"/>
              <a:sym typeface="Calibri"/>
            </a:endParaRPr>
          </a:p>
        </p:txBody>
      </p:sp>
      <p:sp>
        <p:nvSpPr>
          <p:cNvPr id="318" name="Google Shape;318;p23"/>
          <p:cNvSpPr/>
          <p:nvPr/>
        </p:nvSpPr>
        <p:spPr>
          <a:xfrm>
            <a:off x="425196" y="4814316"/>
            <a:ext cx="54864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4759"/>
              </a:buClr>
              <a:buSzPts val="600"/>
              <a:buFont typeface="Courier New"/>
              <a:buNone/>
            </a:pPr>
            <a:r>
              <a:rPr b="0" i="0" lang="en" sz="600" u="none" cap="none" strike="noStrike">
                <a:solidFill>
                  <a:srgbClr val="3E4759"/>
                </a:solidFill>
                <a:latin typeface="Courier New"/>
                <a:ea typeface="Courier New"/>
                <a:cs typeface="Courier New"/>
                <a:sym typeface="Courier New"/>
              </a:rPr>
              <a:t>OWASP MCP Top 10 · MCP07:2025</a:t>
            </a:r>
            <a:endParaRPr b="0" i="0" sz="6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3" name="Shape 323"/>
        <p:cNvGrpSpPr/>
        <p:nvPr/>
      </p:nvGrpSpPr>
      <p:grpSpPr>
        <a:xfrm>
          <a:off x="0" y="0"/>
          <a:ext cx="0" cy="0"/>
          <a:chOff x="0" y="0"/>
          <a:chExt cx="0" cy="0"/>
        </a:xfrm>
      </p:grpSpPr>
      <p:sp>
        <p:nvSpPr>
          <p:cNvPr id="324" name="Google Shape;324;p24"/>
          <p:cNvSpPr/>
          <p:nvPr/>
        </p:nvSpPr>
        <p:spPr>
          <a:xfrm>
            <a:off x="425196" y="411480"/>
            <a:ext cx="960120" cy="212598"/>
          </a:xfrm>
          <a:prstGeom prst="roundRect">
            <a:avLst>
              <a:gd fmla="val 29032" name="adj"/>
            </a:avLst>
          </a:prstGeom>
          <a:solidFill>
            <a:srgbClr val="10192B"/>
          </a:solidFill>
          <a:ln cap="flat" cmpd="sng" w="12700">
            <a:solidFill>
              <a:srgbClr val="2D518D"/>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4C8DF6"/>
              </a:buClr>
              <a:buSzPts val="800"/>
              <a:buFont typeface="Courier New"/>
              <a:buNone/>
            </a:pPr>
            <a:r>
              <a:rPr b="1" i="0" lang="en" sz="800" u="none" cap="none" strike="noStrike">
                <a:solidFill>
                  <a:srgbClr val="4C8DF6"/>
                </a:solidFill>
                <a:latin typeface="Courier New"/>
                <a:ea typeface="Courier New"/>
                <a:cs typeface="Courier New"/>
                <a:sym typeface="Courier New"/>
              </a:rPr>
              <a:t>MCP08:2025</a:t>
            </a:r>
            <a:endParaRPr b="0" i="0" sz="800" u="none" cap="none" strike="noStrike">
              <a:solidFill>
                <a:schemeClr val="dk1"/>
              </a:solidFill>
              <a:latin typeface="Calibri"/>
              <a:ea typeface="Calibri"/>
              <a:cs typeface="Calibri"/>
              <a:sym typeface="Calibri"/>
            </a:endParaRPr>
          </a:p>
        </p:txBody>
      </p:sp>
      <p:sp>
        <p:nvSpPr>
          <p:cNvPr id="325" name="Google Shape;325;p24"/>
          <p:cNvSpPr/>
          <p:nvPr/>
        </p:nvSpPr>
        <p:spPr>
          <a:xfrm>
            <a:off x="425196" y="699516"/>
            <a:ext cx="3737610" cy="905256"/>
          </a:xfrm>
          <a:prstGeom prst="rect">
            <a:avLst/>
          </a:prstGeom>
          <a:noFill/>
          <a:ln>
            <a:noFill/>
          </a:ln>
        </p:spPr>
        <p:txBody>
          <a:bodyPr anchorCtr="0" anchor="t" bIns="0" lIns="0" spcFirstLastPara="1" rIns="0" wrap="square" tIns="0">
            <a:noAutofit/>
          </a:bodyPr>
          <a:lstStyle/>
          <a:p>
            <a:pPr indent="0" lvl="0" marL="0" marR="0" rtl="0" algn="l">
              <a:lnSpc>
                <a:spcPct val="92000"/>
              </a:lnSpc>
              <a:spcBef>
                <a:spcPts val="0"/>
              </a:spcBef>
              <a:spcAft>
                <a:spcPts val="0"/>
              </a:spcAft>
              <a:buClr>
                <a:srgbClr val="FFFFFF"/>
              </a:buClr>
              <a:buSzPts val="2400"/>
              <a:buFont typeface="Arial"/>
              <a:buNone/>
            </a:pPr>
            <a:r>
              <a:rPr b="1" i="0" lang="en" sz="2400" u="none" cap="none" strike="noStrike">
                <a:solidFill>
                  <a:srgbClr val="FFFFFF"/>
                </a:solidFill>
                <a:latin typeface="Arial"/>
                <a:ea typeface="Arial"/>
                <a:cs typeface="Arial"/>
                <a:sym typeface="Arial"/>
              </a:rPr>
              <a:t>Lack of Audit </a:t>
            </a:r>
            <a:r>
              <a:rPr b="1" i="0" lang="en" sz="2400" u="none" cap="none" strike="noStrike">
                <a:solidFill>
                  <a:srgbClr val="4C8DF6"/>
                </a:solidFill>
                <a:latin typeface="Arial"/>
                <a:ea typeface="Arial"/>
                <a:cs typeface="Arial"/>
                <a:sym typeface="Arial"/>
              </a:rPr>
              <a:t>&amp; Telemetry</a:t>
            </a:r>
            <a:endParaRPr b="0" i="0" sz="2400" u="none" cap="none" strike="noStrike">
              <a:solidFill>
                <a:schemeClr val="dk1"/>
              </a:solidFill>
              <a:latin typeface="Calibri"/>
              <a:ea typeface="Calibri"/>
              <a:cs typeface="Calibri"/>
              <a:sym typeface="Calibri"/>
            </a:endParaRPr>
          </a:p>
        </p:txBody>
      </p:sp>
      <p:sp>
        <p:nvSpPr>
          <p:cNvPr id="326" name="Google Shape;326;p24"/>
          <p:cNvSpPr/>
          <p:nvPr/>
        </p:nvSpPr>
        <p:spPr>
          <a:xfrm>
            <a:off x="425196" y="1687068"/>
            <a:ext cx="3566160" cy="45262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93A0B7"/>
              </a:buClr>
              <a:buSzPts val="900"/>
              <a:buFont typeface="Arial"/>
              <a:buNone/>
            </a:pPr>
            <a:r>
              <a:rPr b="0" i="0" lang="en" sz="900" u="none" cap="none" strike="noStrike">
                <a:solidFill>
                  <a:srgbClr val="93A0B7"/>
                </a:solidFill>
                <a:latin typeface="Arial"/>
                <a:ea typeface="Arial"/>
                <a:cs typeface="Arial"/>
                <a:sym typeface="Arial"/>
              </a:rPr>
              <a:t>Tool calls and context changes go unlogged, so nothing can be reconstructed afterwards.</a:t>
            </a:r>
            <a:endParaRPr b="0" i="0" sz="900" u="none" cap="none" strike="noStrike">
              <a:solidFill>
                <a:schemeClr val="dk1"/>
              </a:solidFill>
              <a:latin typeface="Calibri"/>
              <a:ea typeface="Calibri"/>
              <a:cs typeface="Calibri"/>
              <a:sym typeface="Calibri"/>
            </a:endParaRPr>
          </a:p>
        </p:txBody>
      </p:sp>
      <p:sp>
        <p:nvSpPr>
          <p:cNvPr id="327" name="Google Shape;327;p24"/>
          <p:cNvSpPr/>
          <p:nvPr/>
        </p:nvSpPr>
        <p:spPr>
          <a:xfrm>
            <a:off x="425196" y="2441448"/>
            <a:ext cx="3648456" cy="905256"/>
          </a:xfrm>
          <a:prstGeom prst="roundRect">
            <a:avLst>
              <a:gd fmla="val 9848" name="adj"/>
            </a:avLst>
          </a:prstGeom>
          <a:solidFill>
            <a:srgbClr val="0D0F16"/>
          </a:solidFill>
          <a:ln cap="flat" cmpd="sng" w="12700">
            <a:solidFill>
              <a:srgbClr val="283B5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8" name="Google Shape;328;p24"/>
          <p:cNvSpPr/>
          <p:nvPr/>
        </p:nvSpPr>
        <p:spPr>
          <a:xfrm>
            <a:off x="603504" y="2736342"/>
            <a:ext cx="315468" cy="315468"/>
          </a:xfrm>
          <a:prstGeom prst="roundRect">
            <a:avLst>
              <a:gd fmla="val 23913" name="adj"/>
            </a:avLst>
          </a:prstGeom>
          <a:solidFill>
            <a:srgbClr val="17233A"/>
          </a:solidFill>
          <a:ln cap="flat" cmpd="sng" w="12700">
            <a:solidFill>
              <a:srgbClr val="2D4E8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home/claude/art/out/icon-car.png" id="329" name="Google Shape;329;p24"/>
          <p:cNvPicPr preferRelativeResize="0"/>
          <p:nvPr/>
        </p:nvPicPr>
        <p:blipFill rotWithShape="1">
          <a:blip r:embed="rId4">
            <a:alphaModFix/>
          </a:blip>
          <a:srcRect b="0" l="0" r="0" t="0"/>
          <a:stretch/>
        </p:blipFill>
        <p:spPr>
          <a:xfrm>
            <a:off x="654939" y="2787777"/>
            <a:ext cx="212598" cy="212598"/>
          </a:xfrm>
          <a:prstGeom prst="rect">
            <a:avLst/>
          </a:prstGeom>
          <a:noFill/>
          <a:ln>
            <a:noFill/>
          </a:ln>
        </p:spPr>
      </p:pic>
      <p:sp>
        <p:nvSpPr>
          <p:cNvPr id="330" name="Google Shape;330;p24"/>
          <p:cNvSpPr/>
          <p:nvPr/>
        </p:nvSpPr>
        <p:spPr>
          <a:xfrm>
            <a:off x="1056132" y="2558034"/>
            <a:ext cx="2852928"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C8DF6"/>
              </a:buClr>
              <a:buSzPts val="700"/>
              <a:buFont typeface="Courier New"/>
              <a:buNone/>
            </a:pPr>
            <a:r>
              <a:rPr b="1" i="0" lang="en" sz="700" u="none" cap="none" strike="noStrike">
                <a:solidFill>
                  <a:srgbClr val="4C8DF6"/>
                </a:solidFill>
                <a:latin typeface="Courier New"/>
                <a:ea typeface="Courier New"/>
                <a:cs typeface="Courier New"/>
                <a:sym typeface="Courier New"/>
              </a:rPr>
              <a:t>IN THE CAR</a:t>
            </a:r>
            <a:endParaRPr b="0" i="0" sz="700" u="none" cap="none" strike="noStrike">
              <a:solidFill>
                <a:schemeClr val="dk1"/>
              </a:solidFill>
              <a:latin typeface="Calibri"/>
              <a:ea typeface="Calibri"/>
              <a:cs typeface="Calibri"/>
              <a:sym typeface="Calibri"/>
            </a:endParaRPr>
          </a:p>
        </p:txBody>
      </p:sp>
      <p:sp>
        <p:nvSpPr>
          <p:cNvPr id="331" name="Google Shape;331;p24"/>
          <p:cNvSpPr/>
          <p:nvPr/>
        </p:nvSpPr>
        <p:spPr>
          <a:xfrm>
            <a:off x="1056132" y="2743200"/>
            <a:ext cx="2852928" cy="4937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D7DEEA"/>
              </a:buClr>
              <a:buSzPts val="900"/>
              <a:buFont typeface="Arial"/>
              <a:buNone/>
            </a:pPr>
            <a:r>
              <a:rPr b="0" i="0" lang="en" sz="900" u="none" cap="none" strike="noStrike">
                <a:solidFill>
                  <a:srgbClr val="D7DEEA"/>
                </a:solidFill>
                <a:latin typeface="Arial"/>
                <a:ea typeface="Arial"/>
                <a:cs typeface="Arial"/>
                <a:sym typeface="Arial"/>
              </a:rPr>
              <a:t>No dashcam, no trip log. Something happened</a:t>
            </a:r>
            <a:r>
              <a:rPr lang="en" sz="900">
                <a:solidFill>
                  <a:srgbClr val="D7DEEA"/>
                </a:solidFill>
              </a:rPr>
              <a:t>,</a:t>
            </a:r>
            <a:r>
              <a:rPr b="0" i="0" lang="en" sz="900" u="none" cap="none" strike="noStrike">
                <a:solidFill>
                  <a:srgbClr val="D7DEEA"/>
                </a:solidFill>
                <a:latin typeface="Arial"/>
                <a:ea typeface="Arial"/>
                <a:cs typeface="Arial"/>
                <a:sym typeface="Arial"/>
              </a:rPr>
              <a:t> nobody can say what, or who.</a:t>
            </a:r>
            <a:endParaRPr b="0" i="0" sz="900" u="none" cap="none" strike="noStrike">
              <a:solidFill>
                <a:schemeClr val="dk1"/>
              </a:solidFill>
              <a:latin typeface="Calibri"/>
              <a:ea typeface="Calibri"/>
              <a:cs typeface="Calibri"/>
              <a:sym typeface="Calibri"/>
            </a:endParaRPr>
          </a:p>
        </p:txBody>
      </p:sp>
      <p:sp>
        <p:nvSpPr>
          <p:cNvPr id="332" name="Google Shape;332;p24"/>
          <p:cNvSpPr/>
          <p:nvPr/>
        </p:nvSpPr>
        <p:spPr>
          <a:xfrm>
            <a:off x="425196" y="3483864"/>
            <a:ext cx="3648456" cy="905256"/>
          </a:xfrm>
          <a:prstGeom prst="roundRect">
            <a:avLst>
              <a:gd fmla="val 9848" name="adj"/>
            </a:avLst>
          </a:prstGeom>
          <a:solidFill>
            <a:srgbClr val="0D0F16"/>
          </a:solidFill>
          <a:ln cap="flat" cmpd="sng" w="12700">
            <a:solidFill>
              <a:srgbClr val="234B4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3" name="Google Shape;333;p24"/>
          <p:cNvSpPr/>
          <p:nvPr/>
        </p:nvSpPr>
        <p:spPr>
          <a:xfrm>
            <a:off x="603504" y="3778758"/>
            <a:ext cx="315468" cy="315468"/>
          </a:xfrm>
          <a:prstGeom prst="roundRect">
            <a:avLst>
              <a:gd fmla="val 23913" name="adj"/>
            </a:avLst>
          </a:prstGeom>
          <a:solidFill>
            <a:srgbClr val="132E2B"/>
          </a:solidFill>
          <a:ln cap="flat" cmpd="sng" w="12700">
            <a:solidFill>
              <a:srgbClr val="21715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home/claude/art/out/icon-shield.png" id="334" name="Google Shape;334;p24"/>
          <p:cNvPicPr preferRelativeResize="0"/>
          <p:nvPr/>
        </p:nvPicPr>
        <p:blipFill rotWithShape="1">
          <a:blip r:embed="rId5">
            <a:alphaModFix/>
          </a:blip>
          <a:srcRect b="0" l="0" r="0" t="0"/>
          <a:stretch/>
        </p:blipFill>
        <p:spPr>
          <a:xfrm>
            <a:off x="654939" y="3830193"/>
            <a:ext cx="212598" cy="212598"/>
          </a:xfrm>
          <a:prstGeom prst="rect">
            <a:avLst/>
          </a:prstGeom>
          <a:noFill/>
          <a:ln>
            <a:noFill/>
          </a:ln>
        </p:spPr>
      </p:pic>
      <p:sp>
        <p:nvSpPr>
          <p:cNvPr id="335" name="Google Shape;335;p24"/>
          <p:cNvSpPr/>
          <p:nvPr/>
        </p:nvSpPr>
        <p:spPr>
          <a:xfrm>
            <a:off x="1056132" y="3600450"/>
            <a:ext cx="2852928"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4D399"/>
              </a:buClr>
              <a:buSzPts val="700"/>
              <a:buFont typeface="Courier New"/>
              <a:buNone/>
            </a:pPr>
            <a:r>
              <a:rPr b="1" i="0" lang="en" sz="700" u="none" cap="none" strike="noStrike">
                <a:solidFill>
                  <a:srgbClr val="34D399"/>
                </a:solidFill>
                <a:latin typeface="Courier New"/>
                <a:ea typeface="Courier New"/>
                <a:cs typeface="Courier New"/>
                <a:sym typeface="Courier New"/>
              </a:rPr>
              <a:t>GUARDRAIL</a:t>
            </a:r>
            <a:endParaRPr b="0" i="0" sz="700" u="none" cap="none" strike="noStrike">
              <a:solidFill>
                <a:schemeClr val="dk1"/>
              </a:solidFill>
              <a:latin typeface="Calibri"/>
              <a:ea typeface="Calibri"/>
              <a:cs typeface="Calibri"/>
              <a:sym typeface="Calibri"/>
            </a:endParaRPr>
          </a:p>
        </p:txBody>
      </p:sp>
      <p:sp>
        <p:nvSpPr>
          <p:cNvPr id="336" name="Google Shape;336;p24"/>
          <p:cNvSpPr/>
          <p:nvPr/>
        </p:nvSpPr>
        <p:spPr>
          <a:xfrm>
            <a:off x="1056132" y="3785616"/>
            <a:ext cx="2852928" cy="4937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D7DEEA"/>
              </a:buClr>
              <a:buSzPts val="900"/>
              <a:buFont typeface="Arial"/>
              <a:buNone/>
            </a:pPr>
            <a:r>
              <a:rPr b="0" i="0" lang="en" sz="900" u="none" cap="none" strike="noStrike">
                <a:solidFill>
                  <a:srgbClr val="D7DEEA"/>
                </a:solidFill>
                <a:latin typeface="Arial"/>
                <a:ea typeface="Arial"/>
                <a:cs typeface="Arial"/>
                <a:sym typeface="Arial"/>
              </a:rPr>
              <a:t>Log every call. Keep the trail immutable and reviewed.</a:t>
            </a:r>
            <a:endParaRPr b="0" i="0" sz="900" u="none" cap="none" strike="noStrike">
              <a:solidFill>
                <a:schemeClr val="dk1"/>
              </a:solidFill>
              <a:latin typeface="Calibri"/>
              <a:ea typeface="Calibri"/>
              <a:cs typeface="Calibri"/>
              <a:sym typeface="Calibri"/>
            </a:endParaRPr>
          </a:p>
        </p:txBody>
      </p:sp>
      <p:sp>
        <p:nvSpPr>
          <p:cNvPr id="337" name="Google Shape;337;p24"/>
          <p:cNvSpPr/>
          <p:nvPr/>
        </p:nvSpPr>
        <p:spPr>
          <a:xfrm>
            <a:off x="4354830" y="425196"/>
            <a:ext cx="4389120" cy="4293108"/>
          </a:xfrm>
          <a:prstGeom prst="roundRect">
            <a:avLst>
              <a:gd fmla="val 2077" name="adj"/>
            </a:avLst>
          </a:prstGeom>
          <a:solidFill>
            <a:srgbClr val="0D0F16"/>
          </a:solidFill>
          <a:ln cap="flat" cmpd="sng" w="12700">
            <a:solidFill>
              <a:srgbClr val="1E243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8" name="Google Shape;338;p24"/>
          <p:cNvSpPr/>
          <p:nvPr/>
        </p:nvSpPr>
        <p:spPr>
          <a:xfrm>
            <a:off x="4539996" y="548640"/>
            <a:ext cx="40462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8748C"/>
              </a:buClr>
              <a:buSzPts val="700"/>
              <a:buFont typeface="Courier New"/>
              <a:buNone/>
            </a:pPr>
            <a:r>
              <a:rPr b="1" i="0" lang="en" sz="700" u="none" cap="none" strike="noStrike">
                <a:solidFill>
                  <a:srgbClr val="68748C"/>
                </a:solidFill>
                <a:latin typeface="Courier New"/>
                <a:ea typeface="Courier New"/>
                <a:cs typeface="Courier New"/>
                <a:sym typeface="Courier New"/>
              </a:rPr>
              <a:t>ATTACK SCENARIO</a:t>
            </a:r>
            <a:endParaRPr b="0" i="0" sz="700" u="none" cap="none" strike="noStrike">
              <a:solidFill>
                <a:schemeClr val="dk1"/>
              </a:solidFill>
              <a:latin typeface="Calibri"/>
              <a:ea typeface="Calibri"/>
              <a:cs typeface="Calibri"/>
              <a:sym typeface="Calibri"/>
            </a:endParaRPr>
          </a:p>
        </p:txBody>
      </p:sp>
      <p:sp>
        <p:nvSpPr>
          <p:cNvPr id="339" name="Google Shape;339;p24"/>
          <p:cNvSpPr/>
          <p:nvPr/>
        </p:nvSpPr>
        <p:spPr>
          <a:xfrm>
            <a:off x="4539996" y="768096"/>
            <a:ext cx="4018788" cy="7544"/>
          </a:xfrm>
          <a:prstGeom prst="rect">
            <a:avLst/>
          </a:prstGeom>
          <a:solidFill>
            <a:srgbClr val="181D2A"/>
          </a:solidFill>
          <a:ln cap="flat" cmpd="sng" w="12700">
            <a:solidFill>
              <a:srgbClr val="33333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home/claude/art/out/mcp08.png" id="340" name="Google Shape;340;p24"/>
          <p:cNvPicPr preferRelativeResize="0"/>
          <p:nvPr/>
        </p:nvPicPr>
        <p:blipFill rotWithShape="1">
          <a:blip r:embed="rId6">
            <a:alphaModFix/>
          </a:blip>
          <a:srcRect b="0" l="0" r="0" t="0"/>
          <a:stretch/>
        </p:blipFill>
        <p:spPr>
          <a:xfrm>
            <a:off x="4526280" y="918972"/>
            <a:ext cx="4046220" cy="2530602"/>
          </a:xfrm>
          <a:prstGeom prst="rect">
            <a:avLst/>
          </a:prstGeom>
          <a:noFill/>
          <a:ln>
            <a:noFill/>
          </a:ln>
        </p:spPr>
      </p:pic>
      <p:sp>
        <p:nvSpPr>
          <p:cNvPr id="341" name="Google Shape;341;p24"/>
          <p:cNvSpPr/>
          <p:nvPr/>
        </p:nvSpPr>
        <p:spPr>
          <a:xfrm>
            <a:off x="4539996" y="3525012"/>
            <a:ext cx="4018788" cy="2331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7DEEA"/>
              </a:buClr>
              <a:buSzPts val="900"/>
              <a:buFont typeface="Arial"/>
              <a:buNone/>
            </a:pPr>
            <a:r>
              <a:rPr b="0" i="1" lang="en" sz="900" u="none" cap="none" strike="noStrike">
                <a:solidFill>
                  <a:srgbClr val="D7DEEA"/>
                </a:solidFill>
                <a:latin typeface="Arial"/>
                <a:ea typeface="Arial"/>
                <a:cs typeface="Arial"/>
                <a:sym typeface="Arial"/>
              </a:rPr>
              <a:t>No dashcam, no trip log</a:t>
            </a:r>
            <a:endParaRPr b="0" i="0" sz="900" u="none" cap="none" strike="noStrike">
              <a:solidFill>
                <a:schemeClr val="dk1"/>
              </a:solidFill>
              <a:latin typeface="Calibri"/>
              <a:ea typeface="Calibri"/>
              <a:cs typeface="Calibri"/>
              <a:sym typeface="Calibri"/>
            </a:endParaRPr>
          </a:p>
        </p:txBody>
      </p:sp>
      <p:sp>
        <p:nvSpPr>
          <p:cNvPr id="342" name="Google Shape;342;p24"/>
          <p:cNvSpPr/>
          <p:nvPr/>
        </p:nvSpPr>
        <p:spPr>
          <a:xfrm>
            <a:off x="4539996" y="3854196"/>
            <a:ext cx="40462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8748C"/>
              </a:buClr>
              <a:buSzPts val="700"/>
              <a:buFont typeface="Courier New"/>
              <a:buNone/>
            </a:pPr>
            <a:r>
              <a:rPr b="1" i="0" lang="en" sz="700" u="none" cap="none" strike="noStrike">
                <a:solidFill>
                  <a:srgbClr val="68748C"/>
                </a:solidFill>
                <a:latin typeface="Courier New"/>
                <a:ea typeface="Courier New"/>
                <a:cs typeface="Courier New"/>
                <a:sym typeface="Courier New"/>
              </a:rPr>
              <a:t>HOW IT PLAYS OUT</a:t>
            </a:r>
            <a:endParaRPr b="0" i="0" sz="700" u="none" cap="none" strike="noStrike">
              <a:solidFill>
                <a:schemeClr val="dk1"/>
              </a:solidFill>
              <a:latin typeface="Calibri"/>
              <a:ea typeface="Calibri"/>
              <a:cs typeface="Calibri"/>
              <a:sym typeface="Calibri"/>
            </a:endParaRPr>
          </a:p>
        </p:txBody>
      </p:sp>
      <p:sp>
        <p:nvSpPr>
          <p:cNvPr id="343" name="Google Shape;343;p24"/>
          <p:cNvSpPr/>
          <p:nvPr/>
        </p:nvSpPr>
        <p:spPr>
          <a:xfrm>
            <a:off x="4539996" y="4073652"/>
            <a:ext cx="1184148" cy="370332"/>
          </a:xfrm>
          <a:prstGeom prst="roundRect">
            <a:avLst>
              <a:gd fmla="val 18519" name="adj"/>
            </a:avLst>
          </a:prstGeom>
          <a:solidFill>
            <a:srgbClr val="111826"/>
          </a:solidFill>
          <a:ln cap="flat" cmpd="sng" w="12700">
            <a:solidFill>
              <a:srgbClr val="233B64"/>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D7DEEA"/>
              </a:buClr>
              <a:buSzPts val="700"/>
              <a:buFont typeface="Courier New"/>
              <a:buNone/>
            </a:pPr>
            <a:r>
              <a:rPr b="1" i="0" lang="en" sz="700" u="none" cap="none" strike="noStrike">
                <a:solidFill>
                  <a:srgbClr val="D7DEEA"/>
                </a:solidFill>
                <a:latin typeface="Courier New"/>
                <a:ea typeface="Courier New"/>
                <a:cs typeface="Courier New"/>
                <a:sym typeface="Courier New"/>
              </a:rPr>
              <a:t>NOTHING LOGGED</a:t>
            </a:r>
            <a:endParaRPr b="0" i="0" sz="700" u="none" cap="none" strike="noStrike">
              <a:solidFill>
                <a:schemeClr val="dk1"/>
              </a:solidFill>
              <a:latin typeface="Calibri"/>
              <a:ea typeface="Calibri"/>
              <a:cs typeface="Calibri"/>
              <a:sym typeface="Calibri"/>
            </a:endParaRPr>
          </a:p>
        </p:txBody>
      </p:sp>
      <p:sp>
        <p:nvSpPr>
          <p:cNvPr id="344" name="Google Shape;344;p24"/>
          <p:cNvSpPr/>
          <p:nvPr/>
        </p:nvSpPr>
        <p:spPr>
          <a:xfrm>
            <a:off x="5724144" y="4073652"/>
            <a:ext cx="233172" cy="3703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967B3"/>
              </a:buClr>
              <a:buSzPts val="1000"/>
              <a:buFont typeface="Arial"/>
              <a:buNone/>
            </a:pPr>
            <a:r>
              <a:rPr b="0" i="0" lang="en" sz="1000" u="none" cap="none" strike="noStrike">
                <a:solidFill>
                  <a:srgbClr val="3967B3"/>
                </a:solidFill>
                <a:latin typeface="Arial"/>
                <a:ea typeface="Arial"/>
                <a:cs typeface="Arial"/>
                <a:sym typeface="Arial"/>
              </a:rPr>
              <a:t>→</a:t>
            </a:r>
            <a:endParaRPr b="0" i="0" sz="1000" u="none" cap="none" strike="noStrike">
              <a:solidFill>
                <a:schemeClr val="dk1"/>
              </a:solidFill>
              <a:latin typeface="Calibri"/>
              <a:ea typeface="Calibri"/>
              <a:cs typeface="Calibri"/>
              <a:sym typeface="Calibri"/>
            </a:endParaRPr>
          </a:p>
        </p:txBody>
      </p:sp>
      <p:sp>
        <p:nvSpPr>
          <p:cNvPr id="345" name="Google Shape;345;p24"/>
          <p:cNvSpPr/>
          <p:nvPr/>
        </p:nvSpPr>
        <p:spPr>
          <a:xfrm>
            <a:off x="5957316" y="4073652"/>
            <a:ext cx="1184148" cy="370332"/>
          </a:xfrm>
          <a:prstGeom prst="roundRect">
            <a:avLst>
              <a:gd fmla="val 18519" name="adj"/>
            </a:avLst>
          </a:prstGeom>
          <a:solidFill>
            <a:srgbClr val="111826"/>
          </a:solidFill>
          <a:ln cap="flat" cmpd="sng" w="12700">
            <a:solidFill>
              <a:srgbClr val="233B64"/>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D7DEEA"/>
              </a:buClr>
              <a:buSzPts val="700"/>
              <a:buFont typeface="Courier New"/>
              <a:buNone/>
            </a:pPr>
            <a:r>
              <a:rPr b="1" i="0" lang="en" sz="700" u="none" cap="none" strike="noStrike">
                <a:solidFill>
                  <a:srgbClr val="D7DEEA"/>
                </a:solidFill>
                <a:latin typeface="Courier New"/>
                <a:ea typeface="Courier New"/>
                <a:cs typeface="Courier New"/>
                <a:sym typeface="Courier New"/>
              </a:rPr>
              <a:t>INCIDENT HAPPENS</a:t>
            </a:r>
            <a:endParaRPr b="0" i="0" sz="700" u="none" cap="none" strike="noStrike">
              <a:solidFill>
                <a:schemeClr val="dk1"/>
              </a:solidFill>
              <a:latin typeface="Calibri"/>
              <a:ea typeface="Calibri"/>
              <a:cs typeface="Calibri"/>
              <a:sym typeface="Calibri"/>
            </a:endParaRPr>
          </a:p>
        </p:txBody>
      </p:sp>
      <p:sp>
        <p:nvSpPr>
          <p:cNvPr id="346" name="Google Shape;346;p24"/>
          <p:cNvSpPr/>
          <p:nvPr/>
        </p:nvSpPr>
        <p:spPr>
          <a:xfrm>
            <a:off x="7141464" y="4073652"/>
            <a:ext cx="233172" cy="3703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967B3"/>
              </a:buClr>
              <a:buSzPts val="1000"/>
              <a:buFont typeface="Arial"/>
              <a:buNone/>
            </a:pPr>
            <a:r>
              <a:rPr b="0" i="0" lang="en" sz="1000" u="none" cap="none" strike="noStrike">
                <a:solidFill>
                  <a:srgbClr val="3967B3"/>
                </a:solidFill>
                <a:latin typeface="Arial"/>
                <a:ea typeface="Arial"/>
                <a:cs typeface="Arial"/>
                <a:sym typeface="Arial"/>
              </a:rPr>
              <a:t>→</a:t>
            </a:r>
            <a:endParaRPr b="0" i="0" sz="1000" u="none" cap="none" strike="noStrike">
              <a:solidFill>
                <a:schemeClr val="dk1"/>
              </a:solidFill>
              <a:latin typeface="Calibri"/>
              <a:ea typeface="Calibri"/>
              <a:cs typeface="Calibri"/>
              <a:sym typeface="Calibri"/>
            </a:endParaRPr>
          </a:p>
        </p:txBody>
      </p:sp>
      <p:sp>
        <p:nvSpPr>
          <p:cNvPr id="347" name="Google Shape;347;p24"/>
          <p:cNvSpPr/>
          <p:nvPr/>
        </p:nvSpPr>
        <p:spPr>
          <a:xfrm>
            <a:off x="7374636" y="4073652"/>
            <a:ext cx="1184148" cy="370332"/>
          </a:xfrm>
          <a:prstGeom prst="roundRect">
            <a:avLst>
              <a:gd fmla="val 18519" name="adj"/>
            </a:avLst>
          </a:prstGeom>
          <a:solidFill>
            <a:srgbClr val="17233A"/>
          </a:solidFill>
          <a:ln cap="flat" cmpd="sng" w="12700">
            <a:solidFill>
              <a:srgbClr val="3C6EBE"/>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4C8DF6"/>
              </a:buClr>
              <a:buSzPts val="700"/>
              <a:buFont typeface="Courier New"/>
              <a:buNone/>
            </a:pPr>
            <a:r>
              <a:rPr b="1" i="0" lang="en" sz="700" u="none" cap="none" strike="noStrike">
                <a:solidFill>
                  <a:srgbClr val="4C8DF6"/>
                </a:solidFill>
                <a:latin typeface="Courier New"/>
                <a:ea typeface="Courier New"/>
                <a:cs typeface="Courier New"/>
                <a:sym typeface="Courier New"/>
              </a:rPr>
              <a:t>NO ANSWERS</a:t>
            </a:r>
            <a:endParaRPr b="0" i="0" sz="700" u="none" cap="none" strike="noStrike">
              <a:solidFill>
                <a:schemeClr val="dk1"/>
              </a:solidFill>
              <a:latin typeface="Calibri"/>
              <a:ea typeface="Calibri"/>
              <a:cs typeface="Calibri"/>
              <a:sym typeface="Calibri"/>
            </a:endParaRPr>
          </a:p>
        </p:txBody>
      </p:sp>
      <p:sp>
        <p:nvSpPr>
          <p:cNvPr id="348" name="Google Shape;348;p24"/>
          <p:cNvSpPr/>
          <p:nvPr/>
        </p:nvSpPr>
        <p:spPr>
          <a:xfrm>
            <a:off x="425196" y="4814316"/>
            <a:ext cx="54864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4759"/>
              </a:buClr>
              <a:buSzPts val="600"/>
              <a:buFont typeface="Courier New"/>
              <a:buNone/>
            </a:pPr>
            <a:r>
              <a:rPr b="0" i="0" lang="en" sz="600" u="none" cap="none" strike="noStrike">
                <a:solidFill>
                  <a:srgbClr val="3E4759"/>
                </a:solidFill>
                <a:latin typeface="Courier New"/>
                <a:ea typeface="Courier New"/>
                <a:cs typeface="Courier New"/>
                <a:sym typeface="Courier New"/>
              </a:rPr>
              <a:t>OWASP MCP Top 10 · MCP08:2025</a:t>
            </a:r>
            <a:endParaRPr b="0" i="0" sz="6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53" name="Shape 353"/>
        <p:cNvGrpSpPr/>
        <p:nvPr/>
      </p:nvGrpSpPr>
      <p:grpSpPr>
        <a:xfrm>
          <a:off x="0" y="0"/>
          <a:ext cx="0" cy="0"/>
          <a:chOff x="0" y="0"/>
          <a:chExt cx="0" cy="0"/>
        </a:xfrm>
      </p:grpSpPr>
      <p:sp>
        <p:nvSpPr>
          <p:cNvPr id="354" name="Google Shape;354;p25"/>
          <p:cNvSpPr/>
          <p:nvPr/>
        </p:nvSpPr>
        <p:spPr>
          <a:xfrm>
            <a:off x="425196" y="411480"/>
            <a:ext cx="960120" cy="212598"/>
          </a:xfrm>
          <a:prstGeom prst="roundRect">
            <a:avLst>
              <a:gd fmla="val 29032" name="adj"/>
            </a:avLst>
          </a:prstGeom>
          <a:solidFill>
            <a:srgbClr val="18172B"/>
          </a:solidFill>
          <a:ln cap="flat" cmpd="sng" w="12700">
            <a:solidFill>
              <a:srgbClr val="50488D"/>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8B7CF6"/>
              </a:buClr>
              <a:buSzPts val="800"/>
              <a:buFont typeface="Courier New"/>
              <a:buNone/>
            </a:pPr>
            <a:r>
              <a:rPr b="1" i="0" lang="en" sz="800" u="none" cap="none" strike="noStrike">
                <a:solidFill>
                  <a:srgbClr val="8B7CF6"/>
                </a:solidFill>
                <a:latin typeface="Courier New"/>
                <a:ea typeface="Courier New"/>
                <a:cs typeface="Courier New"/>
                <a:sym typeface="Courier New"/>
              </a:rPr>
              <a:t>MCP09:2025</a:t>
            </a:r>
            <a:endParaRPr b="0" i="0" sz="800" u="none" cap="none" strike="noStrike">
              <a:solidFill>
                <a:schemeClr val="dk1"/>
              </a:solidFill>
              <a:latin typeface="Calibri"/>
              <a:ea typeface="Calibri"/>
              <a:cs typeface="Calibri"/>
              <a:sym typeface="Calibri"/>
            </a:endParaRPr>
          </a:p>
        </p:txBody>
      </p:sp>
      <p:sp>
        <p:nvSpPr>
          <p:cNvPr id="355" name="Google Shape;355;p25"/>
          <p:cNvSpPr/>
          <p:nvPr/>
        </p:nvSpPr>
        <p:spPr>
          <a:xfrm>
            <a:off x="425196" y="699516"/>
            <a:ext cx="3737610" cy="905256"/>
          </a:xfrm>
          <a:prstGeom prst="rect">
            <a:avLst/>
          </a:prstGeom>
          <a:noFill/>
          <a:ln>
            <a:noFill/>
          </a:ln>
        </p:spPr>
        <p:txBody>
          <a:bodyPr anchorCtr="0" anchor="t" bIns="0" lIns="0" spcFirstLastPara="1" rIns="0" wrap="square" tIns="0">
            <a:noAutofit/>
          </a:bodyPr>
          <a:lstStyle/>
          <a:p>
            <a:pPr indent="0" lvl="0" marL="0" marR="0" rtl="0" algn="l">
              <a:lnSpc>
                <a:spcPct val="92000"/>
              </a:lnSpc>
              <a:spcBef>
                <a:spcPts val="0"/>
              </a:spcBef>
              <a:spcAft>
                <a:spcPts val="0"/>
              </a:spcAft>
              <a:buClr>
                <a:srgbClr val="FFFFFF"/>
              </a:buClr>
              <a:buSzPts val="2600"/>
              <a:buFont typeface="Arial"/>
              <a:buNone/>
            </a:pPr>
            <a:r>
              <a:rPr b="1" i="0" lang="en" sz="2600" u="none" cap="none" strike="noStrike">
                <a:solidFill>
                  <a:srgbClr val="FFFFFF"/>
                </a:solidFill>
                <a:latin typeface="Arial"/>
                <a:ea typeface="Arial"/>
                <a:cs typeface="Arial"/>
                <a:sym typeface="Arial"/>
              </a:rPr>
              <a:t>Shadow </a:t>
            </a:r>
            <a:r>
              <a:rPr b="1" i="0" lang="en" sz="2600" u="none" cap="none" strike="noStrike">
                <a:solidFill>
                  <a:srgbClr val="8B7CF6"/>
                </a:solidFill>
                <a:latin typeface="Arial"/>
                <a:ea typeface="Arial"/>
                <a:cs typeface="Arial"/>
                <a:sym typeface="Arial"/>
              </a:rPr>
              <a:t>MCP Servers</a:t>
            </a:r>
            <a:endParaRPr b="0" i="0" sz="2600" u="none" cap="none" strike="noStrike">
              <a:solidFill>
                <a:schemeClr val="dk1"/>
              </a:solidFill>
              <a:latin typeface="Calibri"/>
              <a:ea typeface="Calibri"/>
              <a:cs typeface="Calibri"/>
              <a:sym typeface="Calibri"/>
            </a:endParaRPr>
          </a:p>
        </p:txBody>
      </p:sp>
      <p:sp>
        <p:nvSpPr>
          <p:cNvPr id="356" name="Google Shape;356;p25"/>
          <p:cNvSpPr/>
          <p:nvPr/>
        </p:nvSpPr>
        <p:spPr>
          <a:xfrm>
            <a:off x="425196" y="1687068"/>
            <a:ext cx="3566160" cy="45262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93A0B7"/>
              </a:buClr>
              <a:buSzPts val="900"/>
              <a:buFont typeface="Arial"/>
              <a:buNone/>
            </a:pPr>
            <a:r>
              <a:rPr b="0" i="0" lang="en" sz="900" u="none" cap="none" strike="noStrike">
                <a:solidFill>
                  <a:srgbClr val="93A0B7"/>
                </a:solidFill>
                <a:latin typeface="Arial"/>
                <a:ea typeface="Arial"/>
                <a:cs typeface="Arial"/>
                <a:sym typeface="Arial"/>
              </a:rPr>
              <a:t>Unapproved MCP servers spun up for convenience, running outside all governance.</a:t>
            </a:r>
            <a:endParaRPr b="0" i="0" sz="900" u="none" cap="none" strike="noStrike">
              <a:solidFill>
                <a:schemeClr val="dk1"/>
              </a:solidFill>
              <a:latin typeface="Calibri"/>
              <a:ea typeface="Calibri"/>
              <a:cs typeface="Calibri"/>
              <a:sym typeface="Calibri"/>
            </a:endParaRPr>
          </a:p>
        </p:txBody>
      </p:sp>
      <p:sp>
        <p:nvSpPr>
          <p:cNvPr id="357" name="Google Shape;357;p25"/>
          <p:cNvSpPr/>
          <p:nvPr/>
        </p:nvSpPr>
        <p:spPr>
          <a:xfrm>
            <a:off x="425196" y="2441448"/>
            <a:ext cx="3648456" cy="905256"/>
          </a:xfrm>
          <a:prstGeom prst="roundRect">
            <a:avLst>
              <a:gd fmla="val 9848" name="adj"/>
            </a:avLst>
          </a:prstGeom>
          <a:solidFill>
            <a:srgbClr val="0D0F16"/>
          </a:solidFill>
          <a:ln cap="flat" cmpd="sng" w="12700">
            <a:solidFill>
              <a:srgbClr val="36375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8" name="Google Shape;358;p25"/>
          <p:cNvSpPr/>
          <p:nvPr/>
        </p:nvSpPr>
        <p:spPr>
          <a:xfrm>
            <a:off x="603504" y="2736342"/>
            <a:ext cx="315468" cy="315468"/>
          </a:xfrm>
          <a:prstGeom prst="roundRect">
            <a:avLst>
              <a:gd fmla="val 23913" name="adj"/>
            </a:avLst>
          </a:prstGeom>
          <a:solidFill>
            <a:srgbClr val="21203A"/>
          </a:solidFill>
          <a:ln cap="flat" cmpd="sng" w="12700">
            <a:solidFill>
              <a:srgbClr val="4C468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home/claude/art/out/icon-car.png" id="359" name="Google Shape;359;p25"/>
          <p:cNvPicPr preferRelativeResize="0"/>
          <p:nvPr/>
        </p:nvPicPr>
        <p:blipFill rotWithShape="1">
          <a:blip r:embed="rId4">
            <a:alphaModFix/>
          </a:blip>
          <a:srcRect b="0" l="0" r="0" t="0"/>
          <a:stretch/>
        </p:blipFill>
        <p:spPr>
          <a:xfrm>
            <a:off x="654939" y="2787777"/>
            <a:ext cx="212598" cy="212598"/>
          </a:xfrm>
          <a:prstGeom prst="rect">
            <a:avLst/>
          </a:prstGeom>
          <a:noFill/>
          <a:ln>
            <a:noFill/>
          </a:ln>
        </p:spPr>
      </p:pic>
      <p:sp>
        <p:nvSpPr>
          <p:cNvPr id="360" name="Google Shape;360;p25"/>
          <p:cNvSpPr/>
          <p:nvPr/>
        </p:nvSpPr>
        <p:spPr>
          <a:xfrm>
            <a:off x="1056132" y="2558034"/>
            <a:ext cx="2852928"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7CF6"/>
              </a:buClr>
              <a:buSzPts val="700"/>
              <a:buFont typeface="Courier New"/>
              <a:buNone/>
            </a:pPr>
            <a:r>
              <a:rPr b="1" i="0" lang="en" sz="700" u="none" cap="none" strike="noStrike">
                <a:solidFill>
                  <a:srgbClr val="8B7CF6"/>
                </a:solidFill>
                <a:latin typeface="Courier New"/>
                <a:ea typeface="Courier New"/>
                <a:cs typeface="Courier New"/>
                <a:sym typeface="Courier New"/>
              </a:rPr>
              <a:t>IN THE CAR</a:t>
            </a:r>
            <a:endParaRPr b="0" i="0" sz="700" u="none" cap="none" strike="noStrike">
              <a:solidFill>
                <a:schemeClr val="dk1"/>
              </a:solidFill>
              <a:latin typeface="Calibri"/>
              <a:ea typeface="Calibri"/>
              <a:cs typeface="Calibri"/>
              <a:sym typeface="Calibri"/>
            </a:endParaRPr>
          </a:p>
        </p:txBody>
      </p:sp>
      <p:sp>
        <p:nvSpPr>
          <p:cNvPr id="361" name="Google Shape;361;p25"/>
          <p:cNvSpPr/>
          <p:nvPr/>
        </p:nvSpPr>
        <p:spPr>
          <a:xfrm>
            <a:off x="1056132" y="2743200"/>
            <a:ext cx="2852928" cy="4937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D7DEEA"/>
              </a:buClr>
              <a:buSzPts val="900"/>
              <a:buFont typeface="Arial"/>
              <a:buNone/>
            </a:pPr>
            <a:r>
              <a:rPr b="0" i="0" lang="en" sz="900" u="none" cap="none" strike="noStrike">
                <a:solidFill>
                  <a:srgbClr val="D7DEEA"/>
                </a:solidFill>
                <a:latin typeface="Arial"/>
                <a:ea typeface="Arial"/>
                <a:cs typeface="Arial"/>
                <a:sym typeface="Arial"/>
              </a:rPr>
              <a:t>A tracker was fitted for one test and never removed. It is still transmitting.</a:t>
            </a:r>
            <a:endParaRPr b="0" i="0" sz="900" u="none" cap="none" strike="noStrike">
              <a:solidFill>
                <a:schemeClr val="dk1"/>
              </a:solidFill>
              <a:latin typeface="Calibri"/>
              <a:ea typeface="Calibri"/>
              <a:cs typeface="Calibri"/>
              <a:sym typeface="Calibri"/>
            </a:endParaRPr>
          </a:p>
        </p:txBody>
      </p:sp>
      <p:sp>
        <p:nvSpPr>
          <p:cNvPr id="362" name="Google Shape;362;p25"/>
          <p:cNvSpPr/>
          <p:nvPr/>
        </p:nvSpPr>
        <p:spPr>
          <a:xfrm>
            <a:off x="425196" y="3483864"/>
            <a:ext cx="3648456" cy="905256"/>
          </a:xfrm>
          <a:prstGeom prst="roundRect">
            <a:avLst>
              <a:gd fmla="val 9848" name="adj"/>
            </a:avLst>
          </a:prstGeom>
          <a:solidFill>
            <a:srgbClr val="0D0F16"/>
          </a:solidFill>
          <a:ln cap="flat" cmpd="sng" w="12700">
            <a:solidFill>
              <a:srgbClr val="234B4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3" name="Google Shape;363;p25"/>
          <p:cNvSpPr/>
          <p:nvPr/>
        </p:nvSpPr>
        <p:spPr>
          <a:xfrm>
            <a:off x="603504" y="3778758"/>
            <a:ext cx="315468" cy="315468"/>
          </a:xfrm>
          <a:prstGeom prst="roundRect">
            <a:avLst>
              <a:gd fmla="val 23913" name="adj"/>
            </a:avLst>
          </a:prstGeom>
          <a:solidFill>
            <a:srgbClr val="132E2B"/>
          </a:solidFill>
          <a:ln cap="flat" cmpd="sng" w="12700">
            <a:solidFill>
              <a:srgbClr val="21715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home/claude/art/out/icon-shield.png" id="364" name="Google Shape;364;p25"/>
          <p:cNvPicPr preferRelativeResize="0"/>
          <p:nvPr/>
        </p:nvPicPr>
        <p:blipFill rotWithShape="1">
          <a:blip r:embed="rId5">
            <a:alphaModFix/>
          </a:blip>
          <a:srcRect b="0" l="0" r="0" t="0"/>
          <a:stretch/>
        </p:blipFill>
        <p:spPr>
          <a:xfrm>
            <a:off x="654939" y="3830193"/>
            <a:ext cx="212598" cy="212598"/>
          </a:xfrm>
          <a:prstGeom prst="rect">
            <a:avLst/>
          </a:prstGeom>
          <a:noFill/>
          <a:ln>
            <a:noFill/>
          </a:ln>
        </p:spPr>
      </p:pic>
      <p:sp>
        <p:nvSpPr>
          <p:cNvPr id="365" name="Google Shape;365;p25"/>
          <p:cNvSpPr/>
          <p:nvPr/>
        </p:nvSpPr>
        <p:spPr>
          <a:xfrm>
            <a:off x="1056132" y="3600450"/>
            <a:ext cx="2852928"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4D399"/>
              </a:buClr>
              <a:buSzPts val="700"/>
              <a:buFont typeface="Courier New"/>
              <a:buNone/>
            </a:pPr>
            <a:r>
              <a:rPr b="1" i="0" lang="en" sz="700" u="none" cap="none" strike="noStrike">
                <a:solidFill>
                  <a:srgbClr val="34D399"/>
                </a:solidFill>
                <a:latin typeface="Courier New"/>
                <a:ea typeface="Courier New"/>
                <a:cs typeface="Courier New"/>
                <a:sym typeface="Courier New"/>
              </a:rPr>
              <a:t>GUARDRAIL</a:t>
            </a:r>
            <a:endParaRPr b="0" i="0" sz="700" u="none" cap="none" strike="noStrike">
              <a:solidFill>
                <a:schemeClr val="dk1"/>
              </a:solidFill>
              <a:latin typeface="Calibri"/>
              <a:ea typeface="Calibri"/>
              <a:cs typeface="Calibri"/>
              <a:sym typeface="Calibri"/>
            </a:endParaRPr>
          </a:p>
        </p:txBody>
      </p:sp>
      <p:sp>
        <p:nvSpPr>
          <p:cNvPr id="366" name="Google Shape;366;p25"/>
          <p:cNvSpPr/>
          <p:nvPr/>
        </p:nvSpPr>
        <p:spPr>
          <a:xfrm>
            <a:off x="1056132" y="3785616"/>
            <a:ext cx="2852928" cy="4937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D7DEEA"/>
              </a:buClr>
              <a:buSzPts val="900"/>
              <a:buFont typeface="Arial"/>
              <a:buNone/>
            </a:pPr>
            <a:r>
              <a:rPr b="0" i="0" lang="en" sz="900" u="none" cap="none" strike="noStrike">
                <a:solidFill>
                  <a:srgbClr val="D7DEEA"/>
                </a:solidFill>
                <a:latin typeface="Arial"/>
                <a:ea typeface="Arial"/>
                <a:cs typeface="Arial"/>
                <a:sym typeface="Arial"/>
              </a:rPr>
              <a:t>Keep a register. If it is not on the list, unplug it.</a:t>
            </a:r>
            <a:endParaRPr b="0" i="0" sz="900" u="none" cap="none" strike="noStrike">
              <a:solidFill>
                <a:schemeClr val="dk1"/>
              </a:solidFill>
              <a:latin typeface="Calibri"/>
              <a:ea typeface="Calibri"/>
              <a:cs typeface="Calibri"/>
              <a:sym typeface="Calibri"/>
            </a:endParaRPr>
          </a:p>
        </p:txBody>
      </p:sp>
      <p:sp>
        <p:nvSpPr>
          <p:cNvPr id="367" name="Google Shape;367;p25"/>
          <p:cNvSpPr/>
          <p:nvPr/>
        </p:nvSpPr>
        <p:spPr>
          <a:xfrm>
            <a:off x="4354830" y="425196"/>
            <a:ext cx="4389120" cy="4293108"/>
          </a:xfrm>
          <a:prstGeom prst="roundRect">
            <a:avLst>
              <a:gd fmla="val 2077" name="adj"/>
            </a:avLst>
          </a:prstGeom>
          <a:solidFill>
            <a:srgbClr val="0D0F16"/>
          </a:solidFill>
          <a:ln cap="flat" cmpd="sng" w="12700">
            <a:solidFill>
              <a:srgbClr val="1E243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8" name="Google Shape;368;p25"/>
          <p:cNvSpPr/>
          <p:nvPr/>
        </p:nvSpPr>
        <p:spPr>
          <a:xfrm>
            <a:off x="4539996" y="548640"/>
            <a:ext cx="40462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8748C"/>
              </a:buClr>
              <a:buSzPts val="700"/>
              <a:buFont typeface="Courier New"/>
              <a:buNone/>
            </a:pPr>
            <a:r>
              <a:rPr b="1" i="0" lang="en" sz="700" u="none" cap="none" strike="noStrike">
                <a:solidFill>
                  <a:srgbClr val="68748C"/>
                </a:solidFill>
                <a:latin typeface="Courier New"/>
                <a:ea typeface="Courier New"/>
                <a:cs typeface="Courier New"/>
                <a:sym typeface="Courier New"/>
              </a:rPr>
              <a:t>ATTACK SCENARIO</a:t>
            </a:r>
            <a:endParaRPr b="0" i="0" sz="700" u="none" cap="none" strike="noStrike">
              <a:solidFill>
                <a:schemeClr val="dk1"/>
              </a:solidFill>
              <a:latin typeface="Calibri"/>
              <a:ea typeface="Calibri"/>
              <a:cs typeface="Calibri"/>
              <a:sym typeface="Calibri"/>
            </a:endParaRPr>
          </a:p>
        </p:txBody>
      </p:sp>
      <p:sp>
        <p:nvSpPr>
          <p:cNvPr id="369" name="Google Shape;369;p25"/>
          <p:cNvSpPr/>
          <p:nvPr/>
        </p:nvSpPr>
        <p:spPr>
          <a:xfrm>
            <a:off x="4539996" y="768096"/>
            <a:ext cx="4018788" cy="7544"/>
          </a:xfrm>
          <a:prstGeom prst="rect">
            <a:avLst/>
          </a:prstGeom>
          <a:solidFill>
            <a:srgbClr val="181D2A"/>
          </a:solidFill>
          <a:ln cap="flat" cmpd="sng" w="12700">
            <a:solidFill>
              <a:srgbClr val="33333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home/claude/art/out/mcp09.png" id="370" name="Google Shape;370;p25"/>
          <p:cNvPicPr preferRelativeResize="0"/>
          <p:nvPr/>
        </p:nvPicPr>
        <p:blipFill rotWithShape="1">
          <a:blip r:embed="rId6">
            <a:alphaModFix/>
          </a:blip>
          <a:srcRect b="0" l="0" r="0" t="0"/>
          <a:stretch/>
        </p:blipFill>
        <p:spPr>
          <a:xfrm>
            <a:off x="4526280" y="918972"/>
            <a:ext cx="4046220" cy="2530602"/>
          </a:xfrm>
          <a:prstGeom prst="rect">
            <a:avLst/>
          </a:prstGeom>
          <a:noFill/>
          <a:ln>
            <a:noFill/>
          </a:ln>
        </p:spPr>
      </p:pic>
      <p:sp>
        <p:nvSpPr>
          <p:cNvPr id="371" name="Google Shape;371;p25"/>
          <p:cNvSpPr/>
          <p:nvPr/>
        </p:nvSpPr>
        <p:spPr>
          <a:xfrm>
            <a:off x="4539996" y="3525012"/>
            <a:ext cx="4018788" cy="2331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7DEEA"/>
              </a:buClr>
              <a:buSzPts val="900"/>
              <a:buFont typeface="Arial"/>
              <a:buNone/>
            </a:pPr>
            <a:r>
              <a:rPr b="0" i="1" lang="en" sz="900" u="none" cap="none" strike="noStrike">
                <a:solidFill>
                  <a:srgbClr val="D7DEEA"/>
                </a:solidFill>
                <a:latin typeface="Arial"/>
                <a:ea typeface="Arial"/>
                <a:cs typeface="Arial"/>
                <a:sym typeface="Arial"/>
              </a:rPr>
              <a:t>The tracker nobody took off</a:t>
            </a:r>
            <a:endParaRPr b="0" i="0" sz="900" u="none" cap="none" strike="noStrike">
              <a:solidFill>
                <a:schemeClr val="dk1"/>
              </a:solidFill>
              <a:latin typeface="Calibri"/>
              <a:ea typeface="Calibri"/>
              <a:cs typeface="Calibri"/>
              <a:sym typeface="Calibri"/>
            </a:endParaRPr>
          </a:p>
        </p:txBody>
      </p:sp>
      <p:sp>
        <p:nvSpPr>
          <p:cNvPr id="372" name="Google Shape;372;p25"/>
          <p:cNvSpPr/>
          <p:nvPr/>
        </p:nvSpPr>
        <p:spPr>
          <a:xfrm>
            <a:off x="4539996" y="3854196"/>
            <a:ext cx="40462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8748C"/>
              </a:buClr>
              <a:buSzPts val="700"/>
              <a:buFont typeface="Courier New"/>
              <a:buNone/>
            </a:pPr>
            <a:r>
              <a:rPr b="1" i="0" lang="en" sz="700" u="none" cap="none" strike="noStrike">
                <a:solidFill>
                  <a:srgbClr val="68748C"/>
                </a:solidFill>
                <a:latin typeface="Courier New"/>
                <a:ea typeface="Courier New"/>
                <a:cs typeface="Courier New"/>
                <a:sym typeface="Courier New"/>
              </a:rPr>
              <a:t>HOW IT PLAYS OUT</a:t>
            </a:r>
            <a:endParaRPr b="0" i="0" sz="700" u="none" cap="none" strike="noStrike">
              <a:solidFill>
                <a:schemeClr val="dk1"/>
              </a:solidFill>
              <a:latin typeface="Calibri"/>
              <a:ea typeface="Calibri"/>
              <a:cs typeface="Calibri"/>
              <a:sym typeface="Calibri"/>
            </a:endParaRPr>
          </a:p>
        </p:txBody>
      </p:sp>
      <p:sp>
        <p:nvSpPr>
          <p:cNvPr id="373" name="Google Shape;373;p25"/>
          <p:cNvSpPr/>
          <p:nvPr/>
        </p:nvSpPr>
        <p:spPr>
          <a:xfrm>
            <a:off x="4539996" y="4073652"/>
            <a:ext cx="1184148" cy="370332"/>
          </a:xfrm>
          <a:prstGeom prst="roundRect">
            <a:avLst>
              <a:gd fmla="val 18519" name="adj"/>
            </a:avLst>
          </a:prstGeom>
          <a:solidFill>
            <a:srgbClr val="161726"/>
          </a:solidFill>
          <a:ln cap="flat" cmpd="sng" w="12700">
            <a:solidFill>
              <a:srgbClr val="393564"/>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D7DEEA"/>
              </a:buClr>
              <a:buSzPts val="700"/>
              <a:buFont typeface="Courier New"/>
              <a:buNone/>
            </a:pPr>
            <a:r>
              <a:rPr b="1" i="0" lang="en" sz="700" u="none" cap="none" strike="noStrike">
                <a:solidFill>
                  <a:srgbClr val="D7DEEA"/>
                </a:solidFill>
                <a:latin typeface="Courier New"/>
                <a:ea typeface="Courier New"/>
                <a:cs typeface="Courier New"/>
                <a:sym typeface="Courier New"/>
              </a:rPr>
              <a:t>SPUN UP FOR A TEST</a:t>
            </a:r>
            <a:endParaRPr b="0" i="0" sz="700" u="none" cap="none" strike="noStrike">
              <a:solidFill>
                <a:schemeClr val="dk1"/>
              </a:solidFill>
              <a:latin typeface="Calibri"/>
              <a:ea typeface="Calibri"/>
              <a:cs typeface="Calibri"/>
              <a:sym typeface="Calibri"/>
            </a:endParaRPr>
          </a:p>
        </p:txBody>
      </p:sp>
      <p:sp>
        <p:nvSpPr>
          <p:cNvPr id="374" name="Google Shape;374;p25"/>
          <p:cNvSpPr/>
          <p:nvPr/>
        </p:nvSpPr>
        <p:spPr>
          <a:xfrm>
            <a:off x="5724144" y="4073652"/>
            <a:ext cx="233172" cy="3703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55BB3"/>
              </a:buClr>
              <a:buSzPts val="1000"/>
              <a:buFont typeface="Arial"/>
              <a:buNone/>
            </a:pPr>
            <a:r>
              <a:rPr b="0" i="0" lang="en" sz="1000" u="none" cap="none" strike="noStrike">
                <a:solidFill>
                  <a:srgbClr val="655BB3"/>
                </a:solidFill>
                <a:latin typeface="Arial"/>
                <a:ea typeface="Arial"/>
                <a:cs typeface="Arial"/>
                <a:sym typeface="Arial"/>
              </a:rPr>
              <a:t>→</a:t>
            </a:r>
            <a:endParaRPr b="0" i="0" sz="1000" u="none" cap="none" strike="noStrike">
              <a:solidFill>
                <a:schemeClr val="dk1"/>
              </a:solidFill>
              <a:latin typeface="Calibri"/>
              <a:ea typeface="Calibri"/>
              <a:cs typeface="Calibri"/>
              <a:sym typeface="Calibri"/>
            </a:endParaRPr>
          </a:p>
        </p:txBody>
      </p:sp>
      <p:sp>
        <p:nvSpPr>
          <p:cNvPr id="375" name="Google Shape;375;p25"/>
          <p:cNvSpPr/>
          <p:nvPr/>
        </p:nvSpPr>
        <p:spPr>
          <a:xfrm>
            <a:off x="5957316" y="4073652"/>
            <a:ext cx="1184148" cy="370332"/>
          </a:xfrm>
          <a:prstGeom prst="roundRect">
            <a:avLst>
              <a:gd fmla="val 18519" name="adj"/>
            </a:avLst>
          </a:prstGeom>
          <a:solidFill>
            <a:srgbClr val="161726"/>
          </a:solidFill>
          <a:ln cap="flat" cmpd="sng" w="12700">
            <a:solidFill>
              <a:srgbClr val="393564"/>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D7DEEA"/>
              </a:buClr>
              <a:buSzPts val="700"/>
              <a:buFont typeface="Courier New"/>
              <a:buNone/>
            </a:pPr>
            <a:r>
              <a:rPr b="1" i="0" lang="en" sz="700" u="none" cap="none" strike="noStrike">
                <a:solidFill>
                  <a:srgbClr val="D7DEEA"/>
                </a:solidFill>
                <a:latin typeface="Courier New"/>
                <a:ea typeface="Courier New"/>
                <a:cs typeface="Courier New"/>
                <a:sym typeface="Courier New"/>
              </a:rPr>
              <a:t>FORGOTTEN</a:t>
            </a:r>
            <a:endParaRPr b="0" i="0" sz="700" u="none" cap="none" strike="noStrike">
              <a:solidFill>
                <a:schemeClr val="dk1"/>
              </a:solidFill>
              <a:latin typeface="Calibri"/>
              <a:ea typeface="Calibri"/>
              <a:cs typeface="Calibri"/>
              <a:sym typeface="Calibri"/>
            </a:endParaRPr>
          </a:p>
        </p:txBody>
      </p:sp>
      <p:sp>
        <p:nvSpPr>
          <p:cNvPr id="376" name="Google Shape;376;p25"/>
          <p:cNvSpPr/>
          <p:nvPr/>
        </p:nvSpPr>
        <p:spPr>
          <a:xfrm>
            <a:off x="7141464" y="4073652"/>
            <a:ext cx="233172" cy="3703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55BB3"/>
              </a:buClr>
              <a:buSzPts val="1000"/>
              <a:buFont typeface="Arial"/>
              <a:buNone/>
            </a:pPr>
            <a:r>
              <a:rPr b="0" i="0" lang="en" sz="1000" u="none" cap="none" strike="noStrike">
                <a:solidFill>
                  <a:srgbClr val="655BB3"/>
                </a:solidFill>
                <a:latin typeface="Arial"/>
                <a:ea typeface="Arial"/>
                <a:cs typeface="Arial"/>
                <a:sym typeface="Arial"/>
              </a:rPr>
              <a:t>→</a:t>
            </a:r>
            <a:endParaRPr b="0" i="0" sz="1000" u="none" cap="none" strike="noStrike">
              <a:solidFill>
                <a:schemeClr val="dk1"/>
              </a:solidFill>
              <a:latin typeface="Calibri"/>
              <a:ea typeface="Calibri"/>
              <a:cs typeface="Calibri"/>
              <a:sym typeface="Calibri"/>
            </a:endParaRPr>
          </a:p>
        </p:txBody>
      </p:sp>
      <p:sp>
        <p:nvSpPr>
          <p:cNvPr id="377" name="Google Shape;377;p25"/>
          <p:cNvSpPr/>
          <p:nvPr/>
        </p:nvSpPr>
        <p:spPr>
          <a:xfrm>
            <a:off x="7374636" y="4073652"/>
            <a:ext cx="1184148" cy="370332"/>
          </a:xfrm>
          <a:prstGeom prst="roundRect">
            <a:avLst>
              <a:gd fmla="val 18519" name="adj"/>
            </a:avLst>
          </a:prstGeom>
          <a:solidFill>
            <a:srgbClr val="21203A"/>
          </a:solidFill>
          <a:ln cap="flat" cmpd="sng" w="12700">
            <a:solidFill>
              <a:srgbClr val="6C61BE"/>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8B7CF6"/>
              </a:buClr>
              <a:buSzPts val="700"/>
              <a:buFont typeface="Courier New"/>
              <a:buNone/>
            </a:pPr>
            <a:r>
              <a:rPr b="1" i="0" lang="en" sz="700" u="none" cap="none" strike="noStrike">
                <a:solidFill>
                  <a:srgbClr val="8B7CF6"/>
                </a:solidFill>
                <a:latin typeface="Courier New"/>
                <a:ea typeface="Courier New"/>
                <a:cs typeface="Courier New"/>
                <a:sym typeface="Courier New"/>
              </a:rPr>
              <a:t>STILL REACHABLE</a:t>
            </a:r>
            <a:endParaRPr b="0" i="0" sz="700" u="none" cap="none" strike="noStrike">
              <a:solidFill>
                <a:schemeClr val="dk1"/>
              </a:solidFill>
              <a:latin typeface="Calibri"/>
              <a:ea typeface="Calibri"/>
              <a:cs typeface="Calibri"/>
              <a:sym typeface="Calibri"/>
            </a:endParaRPr>
          </a:p>
        </p:txBody>
      </p:sp>
      <p:sp>
        <p:nvSpPr>
          <p:cNvPr id="378" name="Google Shape;378;p25"/>
          <p:cNvSpPr/>
          <p:nvPr/>
        </p:nvSpPr>
        <p:spPr>
          <a:xfrm>
            <a:off x="425196" y="4814316"/>
            <a:ext cx="54864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4759"/>
              </a:buClr>
              <a:buSzPts val="600"/>
              <a:buFont typeface="Courier New"/>
              <a:buNone/>
            </a:pPr>
            <a:r>
              <a:rPr b="0" i="0" lang="en" sz="600" u="none" cap="none" strike="noStrike">
                <a:solidFill>
                  <a:srgbClr val="3E4759"/>
                </a:solidFill>
                <a:latin typeface="Courier New"/>
                <a:ea typeface="Courier New"/>
                <a:cs typeface="Courier New"/>
                <a:sym typeface="Courier New"/>
              </a:rPr>
              <a:t>OWASP MCP Top 10 · MCP09:2025</a:t>
            </a:r>
            <a:endParaRPr b="0" i="0" sz="6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83" name="Shape 383"/>
        <p:cNvGrpSpPr/>
        <p:nvPr/>
      </p:nvGrpSpPr>
      <p:grpSpPr>
        <a:xfrm>
          <a:off x="0" y="0"/>
          <a:ext cx="0" cy="0"/>
          <a:chOff x="0" y="0"/>
          <a:chExt cx="0" cy="0"/>
        </a:xfrm>
      </p:grpSpPr>
      <p:sp>
        <p:nvSpPr>
          <p:cNvPr id="384" name="Google Shape;384;p26"/>
          <p:cNvSpPr/>
          <p:nvPr/>
        </p:nvSpPr>
        <p:spPr>
          <a:xfrm>
            <a:off x="425196" y="411480"/>
            <a:ext cx="960120" cy="212598"/>
          </a:xfrm>
          <a:prstGeom prst="roundRect">
            <a:avLst>
              <a:gd fmla="val 29032" name="adj"/>
            </a:avLst>
          </a:prstGeom>
          <a:solidFill>
            <a:srgbClr val="272010"/>
          </a:solidFill>
          <a:ln cap="flat" cmpd="sng" w="12700">
            <a:solidFill>
              <a:srgbClr val="8D6D1A"/>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BBF24"/>
              </a:buClr>
              <a:buSzPts val="800"/>
              <a:buFont typeface="Courier New"/>
              <a:buNone/>
            </a:pPr>
            <a:r>
              <a:rPr b="1" i="0" lang="en" sz="800" u="none" cap="none" strike="noStrike">
                <a:solidFill>
                  <a:srgbClr val="FBBF24"/>
                </a:solidFill>
                <a:latin typeface="Courier New"/>
                <a:ea typeface="Courier New"/>
                <a:cs typeface="Courier New"/>
                <a:sym typeface="Courier New"/>
              </a:rPr>
              <a:t>MCP10:2025</a:t>
            </a:r>
            <a:endParaRPr b="0" i="0" sz="800" u="none" cap="none" strike="noStrike">
              <a:solidFill>
                <a:schemeClr val="dk1"/>
              </a:solidFill>
              <a:latin typeface="Calibri"/>
              <a:ea typeface="Calibri"/>
              <a:cs typeface="Calibri"/>
              <a:sym typeface="Calibri"/>
            </a:endParaRPr>
          </a:p>
        </p:txBody>
      </p:sp>
      <p:sp>
        <p:nvSpPr>
          <p:cNvPr id="385" name="Google Shape;385;p26"/>
          <p:cNvSpPr/>
          <p:nvPr/>
        </p:nvSpPr>
        <p:spPr>
          <a:xfrm>
            <a:off x="425196" y="699516"/>
            <a:ext cx="3737610" cy="905256"/>
          </a:xfrm>
          <a:prstGeom prst="rect">
            <a:avLst/>
          </a:prstGeom>
          <a:noFill/>
          <a:ln>
            <a:noFill/>
          </a:ln>
        </p:spPr>
        <p:txBody>
          <a:bodyPr anchorCtr="0" anchor="t" bIns="0" lIns="0" spcFirstLastPara="1" rIns="0" wrap="square" tIns="0">
            <a:noAutofit/>
          </a:bodyPr>
          <a:lstStyle/>
          <a:p>
            <a:pPr indent="0" lvl="0" marL="0" marR="0" rtl="0" algn="l">
              <a:lnSpc>
                <a:spcPct val="92000"/>
              </a:lnSpc>
              <a:spcBef>
                <a:spcPts val="0"/>
              </a:spcBef>
              <a:spcAft>
                <a:spcPts val="0"/>
              </a:spcAft>
              <a:buClr>
                <a:srgbClr val="FFFFFF"/>
              </a:buClr>
              <a:buSzPts val="2300"/>
              <a:buFont typeface="Arial"/>
              <a:buNone/>
            </a:pPr>
            <a:r>
              <a:rPr b="1" i="0" lang="en" sz="2300" u="none" cap="none" strike="noStrike">
                <a:solidFill>
                  <a:srgbClr val="FFFFFF"/>
                </a:solidFill>
                <a:latin typeface="Arial"/>
                <a:ea typeface="Arial"/>
                <a:cs typeface="Arial"/>
                <a:sym typeface="Arial"/>
              </a:rPr>
              <a:t>Context Injection </a:t>
            </a:r>
            <a:r>
              <a:rPr b="1" i="0" lang="en" sz="2300" u="none" cap="none" strike="noStrike">
                <a:solidFill>
                  <a:srgbClr val="FBBF24"/>
                </a:solidFill>
                <a:latin typeface="Arial"/>
                <a:ea typeface="Arial"/>
                <a:cs typeface="Arial"/>
                <a:sym typeface="Arial"/>
              </a:rPr>
              <a:t>&amp; Over-Sharing</a:t>
            </a:r>
            <a:endParaRPr b="0" i="0" sz="2300" u="none" cap="none" strike="noStrike">
              <a:solidFill>
                <a:schemeClr val="dk1"/>
              </a:solidFill>
              <a:latin typeface="Calibri"/>
              <a:ea typeface="Calibri"/>
              <a:cs typeface="Calibri"/>
              <a:sym typeface="Calibri"/>
            </a:endParaRPr>
          </a:p>
        </p:txBody>
      </p:sp>
      <p:sp>
        <p:nvSpPr>
          <p:cNvPr id="386" name="Google Shape;386;p26"/>
          <p:cNvSpPr/>
          <p:nvPr/>
        </p:nvSpPr>
        <p:spPr>
          <a:xfrm>
            <a:off x="425196" y="1687068"/>
            <a:ext cx="3566160" cy="45262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93A0B7"/>
              </a:buClr>
              <a:buSzPts val="900"/>
              <a:buFont typeface="Arial"/>
              <a:buNone/>
            </a:pPr>
            <a:r>
              <a:rPr b="0" i="0" lang="en" sz="900" u="none" cap="none" strike="noStrike">
                <a:solidFill>
                  <a:srgbClr val="93A0B7"/>
                </a:solidFill>
                <a:latin typeface="Arial"/>
                <a:ea typeface="Arial"/>
                <a:cs typeface="Arial"/>
                <a:sym typeface="Arial"/>
              </a:rPr>
              <a:t>Shared or persistent context leaks one user's data straight into another's session.</a:t>
            </a:r>
            <a:endParaRPr b="0" i="0" sz="900" u="none" cap="none" strike="noStrike">
              <a:solidFill>
                <a:schemeClr val="dk1"/>
              </a:solidFill>
              <a:latin typeface="Calibri"/>
              <a:ea typeface="Calibri"/>
              <a:cs typeface="Calibri"/>
              <a:sym typeface="Calibri"/>
            </a:endParaRPr>
          </a:p>
        </p:txBody>
      </p:sp>
      <p:sp>
        <p:nvSpPr>
          <p:cNvPr id="387" name="Google Shape;387;p26"/>
          <p:cNvSpPr/>
          <p:nvPr/>
        </p:nvSpPr>
        <p:spPr>
          <a:xfrm>
            <a:off x="425196" y="2441448"/>
            <a:ext cx="3648456" cy="905256"/>
          </a:xfrm>
          <a:prstGeom prst="roundRect">
            <a:avLst>
              <a:gd fmla="val 9848" name="adj"/>
            </a:avLst>
          </a:prstGeom>
          <a:solidFill>
            <a:srgbClr val="0D0F16"/>
          </a:solidFill>
          <a:ln cap="flat" cmpd="sng" w="12700">
            <a:solidFill>
              <a:srgbClr val="4F463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8" name="Google Shape;388;p26"/>
          <p:cNvSpPr/>
          <p:nvPr/>
        </p:nvSpPr>
        <p:spPr>
          <a:xfrm>
            <a:off x="603504" y="2736342"/>
            <a:ext cx="315468" cy="315468"/>
          </a:xfrm>
          <a:prstGeom prst="roundRect">
            <a:avLst>
              <a:gd fmla="val 23913" name="adj"/>
            </a:avLst>
          </a:prstGeom>
          <a:solidFill>
            <a:srgbClr val="332B18"/>
          </a:solidFill>
          <a:ln cap="flat" cmpd="sng" w="12700">
            <a:solidFill>
              <a:srgbClr val="84671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home/claude/art/out/icon-car.png" id="389" name="Google Shape;389;p26"/>
          <p:cNvPicPr preferRelativeResize="0"/>
          <p:nvPr/>
        </p:nvPicPr>
        <p:blipFill rotWithShape="1">
          <a:blip r:embed="rId4">
            <a:alphaModFix/>
          </a:blip>
          <a:srcRect b="0" l="0" r="0" t="0"/>
          <a:stretch/>
        </p:blipFill>
        <p:spPr>
          <a:xfrm>
            <a:off x="654939" y="2787777"/>
            <a:ext cx="212598" cy="212598"/>
          </a:xfrm>
          <a:prstGeom prst="rect">
            <a:avLst/>
          </a:prstGeom>
          <a:noFill/>
          <a:ln>
            <a:noFill/>
          </a:ln>
        </p:spPr>
      </p:pic>
      <p:sp>
        <p:nvSpPr>
          <p:cNvPr id="390" name="Google Shape;390;p26"/>
          <p:cNvSpPr/>
          <p:nvPr/>
        </p:nvSpPr>
        <p:spPr>
          <a:xfrm>
            <a:off x="1056132" y="2558034"/>
            <a:ext cx="2852928"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BBF24"/>
              </a:buClr>
              <a:buSzPts val="700"/>
              <a:buFont typeface="Courier New"/>
              <a:buNone/>
            </a:pPr>
            <a:r>
              <a:rPr b="1" i="0" lang="en" sz="700" u="none" cap="none" strike="noStrike">
                <a:solidFill>
                  <a:srgbClr val="FBBF24"/>
                </a:solidFill>
                <a:latin typeface="Courier New"/>
                <a:ea typeface="Courier New"/>
                <a:cs typeface="Courier New"/>
                <a:sym typeface="Courier New"/>
              </a:rPr>
              <a:t>IN THE CAR</a:t>
            </a:r>
            <a:endParaRPr b="0" i="0" sz="700" u="none" cap="none" strike="noStrike">
              <a:solidFill>
                <a:schemeClr val="dk1"/>
              </a:solidFill>
              <a:latin typeface="Calibri"/>
              <a:ea typeface="Calibri"/>
              <a:cs typeface="Calibri"/>
              <a:sym typeface="Calibri"/>
            </a:endParaRPr>
          </a:p>
        </p:txBody>
      </p:sp>
      <p:sp>
        <p:nvSpPr>
          <p:cNvPr id="391" name="Google Shape;391;p26"/>
          <p:cNvSpPr/>
          <p:nvPr/>
        </p:nvSpPr>
        <p:spPr>
          <a:xfrm>
            <a:off x="1056132" y="2743200"/>
            <a:ext cx="2852928" cy="4937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D7DEEA"/>
              </a:buClr>
              <a:buSzPts val="900"/>
              <a:buFont typeface="Arial"/>
              <a:buNone/>
            </a:pPr>
            <a:r>
              <a:rPr b="0" i="0" lang="en" sz="900" u="none" cap="none" strike="noStrike">
                <a:solidFill>
                  <a:srgbClr val="D7DEEA"/>
                </a:solidFill>
                <a:latin typeface="Arial"/>
                <a:ea typeface="Arial"/>
                <a:cs typeface="Arial"/>
                <a:sym typeface="Arial"/>
              </a:rPr>
              <a:t>A shared rental still holds the last driver's home address and gate code.</a:t>
            </a:r>
            <a:endParaRPr b="0" i="0" sz="900" u="none" cap="none" strike="noStrike">
              <a:solidFill>
                <a:schemeClr val="dk1"/>
              </a:solidFill>
              <a:latin typeface="Calibri"/>
              <a:ea typeface="Calibri"/>
              <a:cs typeface="Calibri"/>
              <a:sym typeface="Calibri"/>
            </a:endParaRPr>
          </a:p>
        </p:txBody>
      </p:sp>
      <p:sp>
        <p:nvSpPr>
          <p:cNvPr id="392" name="Google Shape;392;p26"/>
          <p:cNvSpPr/>
          <p:nvPr/>
        </p:nvSpPr>
        <p:spPr>
          <a:xfrm>
            <a:off x="425196" y="3483864"/>
            <a:ext cx="3648456" cy="905256"/>
          </a:xfrm>
          <a:prstGeom prst="roundRect">
            <a:avLst>
              <a:gd fmla="val 9848" name="adj"/>
            </a:avLst>
          </a:prstGeom>
          <a:solidFill>
            <a:srgbClr val="0D0F16"/>
          </a:solidFill>
          <a:ln cap="flat" cmpd="sng" w="12700">
            <a:solidFill>
              <a:srgbClr val="234B4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3" name="Google Shape;393;p26"/>
          <p:cNvSpPr/>
          <p:nvPr/>
        </p:nvSpPr>
        <p:spPr>
          <a:xfrm>
            <a:off x="603504" y="3778758"/>
            <a:ext cx="315468" cy="315468"/>
          </a:xfrm>
          <a:prstGeom prst="roundRect">
            <a:avLst>
              <a:gd fmla="val 23913" name="adj"/>
            </a:avLst>
          </a:prstGeom>
          <a:solidFill>
            <a:srgbClr val="132E2B"/>
          </a:solidFill>
          <a:ln cap="flat" cmpd="sng" w="12700">
            <a:solidFill>
              <a:srgbClr val="21715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home/claude/art/out/icon-shield.png" id="394" name="Google Shape;394;p26"/>
          <p:cNvPicPr preferRelativeResize="0"/>
          <p:nvPr/>
        </p:nvPicPr>
        <p:blipFill rotWithShape="1">
          <a:blip r:embed="rId5">
            <a:alphaModFix/>
          </a:blip>
          <a:srcRect b="0" l="0" r="0" t="0"/>
          <a:stretch/>
        </p:blipFill>
        <p:spPr>
          <a:xfrm>
            <a:off x="654939" y="3830193"/>
            <a:ext cx="212598" cy="212598"/>
          </a:xfrm>
          <a:prstGeom prst="rect">
            <a:avLst/>
          </a:prstGeom>
          <a:noFill/>
          <a:ln>
            <a:noFill/>
          </a:ln>
        </p:spPr>
      </p:pic>
      <p:sp>
        <p:nvSpPr>
          <p:cNvPr id="395" name="Google Shape;395;p26"/>
          <p:cNvSpPr/>
          <p:nvPr/>
        </p:nvSpPr>
        <p:spPr>
          <a:xfrm>
            <a:off x="1056132" y="3600450"/>
            <a:ext cx="2852928"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4D399"/>
              </a:buClr>
              <a:buSzPts val="700"/>
              <a:buFont typeface="Courier New"/>
              <a:buNone/>
            </a:pPr>
            <a:r>
              <a:rPr b="1" i="0" lang="en" sz="700" u="none" cap="none" strike="noStrike">
                <a:solidFill>
                  <a:srgbClr val="34D399"/>
                </a:solidFill>
                <a:latin typeface="Courier New"/>
                <a:ea typeface="Courier New"/>
                <a:cs typeface="Courier New"/>
                <a:sym typeface="Courier New"/>
              </a:rPr>
              <a:t>GUARDRAIL</a:t>
            </a:r>
            <a:endParaRPr b="0" i="0" sz="700" u="none" cap="none" strike="noStrike">
              <a:solidFill>
                <a:schemeClr val="dk1"/>
              </a:solidFill>
              <a:latin typeface="Calibri"/>
              <a:ea typeface="Calibri"/>
              <a:cs typeface="Calibri"/>
              <a:sym typeface="Calibri"/>
            </a:endParaRPr>
          </a:p>
        </p:txBody>
      </p:sp>
      <p:sp>
        <p:nvSpPr>
          <p:cNvPr id="396" name="Google Shape;396;p26"/>
          <p:cNvSpPr/>
          <p:nvPr/>
        </p:nvSpPr>
        <p:spPr>
          <a:xfrm>
            <a:off x="1056132" y="3785616"/>
            <a:ext cx="2852928" cy="4937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D7DEEA"/>
              </a:buClr>
              <a:buSzPts val="900"/>
              <a:buFont typeface="Arial"/>
              <a:buNone/>
            </a:pPr>
            <a:r>
              <a:rPr b="0" i="0" lang="en" sz="900" u="none" cap="none" strike="noStrike">
                <a:solidFill>
                  <a:srgbClr val="D7DEEA"/>
                </a:solidFill>
                <a:latin typeface="Arial"/>
                <a:ea typeface="Arial"/>
                <a:cs typeface="Arial"/>
                <a:sym typeface="Arial"/>
              </a:rPr>
              <a:t>One session per user. Wipe the screen between trips.</a:t>
            </a:r>
            <a:endParaRPr b="0" i="0" sz="900" u="none" cap="none" strike="noStrike">
              <a:solidFill>
                <a:schemeClr val="dk1"/>
              </a:solidFill>
              <a:latin typeface="Calibri"/>
              <a:ea typeface="Calibri"/>
              <a:cs typeface="Calibri"/>
              <a:sym typeface="Calibri"/>
            </a:endParaRPr>
          </a:p>
        </p:txBody>
      </p:sp>
      <p:sp>
        <p:nvSpPr>
          <p:cNvPr id="397" name="Google Shape;397;p26"/>
          <p:cNvSpPr/>
          <p:nvPr/>
        </p:nvSpPr>
        <p:spPr>
          <a:xfrm>
            <a:off x="4354830" y="425196"/>
            <a:ext cx="4389120" cy="4293108"/>
          </a:xfrm>
          <a:prstGeom prst="roundRect">
            <a:avLst>
              <a:gd fmla="val 2077" name="adj"/>
            </a:avLst>
          </a:prstGeom>
          <a:solidFill>
            <a:srgbClr val="0D0F16"/>
          </a:solidFill>
          <a:ln cap="flat" cmpd="sng" w="12700">
            <a:solidFill>
              <a:srgbClr val="1E243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8" name="Google Shape;398;p26"/>
          <p:cNvSpPr/>
          <p:nvPr/>
        </p:nvSpPr>
        <p:spPr>
          <a:xfrm>
            <a:off x="4539996" y="548640"/>
            <a:ext cx="40462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8748C"/>
              </a:buClr>
              <a:buSzPts val="700"/>
              <a:buFont typeface="Courier New"/>
              <a:buNone/>
            </a:pPr>
            <a:r>
              <a:rPr b="1" i="0" lang="en" sz="700" u="none" cap="none" strike="noStrike">
                <a:solidFill>
                  <a:srgbClr val="68748C"/>
                </a:solidFill>
                <a:latin typeface="Courier New"/>
                <a:ea typeface="Courier New"/>
                <a:cs typeface="Courier New"/>
                <a:sym typeface="Courier New"/>
              </a:rPr>
              <a:t>ATTACK SCENARIO</a:t>
            </a:r>
            <a:endParaRPr b="0" i="0" sz="700" u="none" cap="none" strike="noStrike">
              <a:solidFill>
                <a:schemeClr val="dk1"/>
              </a:solidFill>
              <a:latin typeface="Calibri"/>
              <a:ea typeface="Calibri"/>
              <a:cs typeface="Calibri"/>
              <a:sym typeface="Calibri"/>
            </a:endParaRPr>
          </a:p>
        </p:txBody>
      </p:sp>
      <p:sp>
        <p:nvSpPr>
          <p:cNvPr id="399" name="Google Shape;399;p26"/>
          <p:cNvSpPr/>
          <p:nvPr/>
        </p:nvSpPr>
        <p:spPr>
          <a:xfrm>
            <a:off x="4539996" y="768096"/>
            <a:ext cx="4018788" cy="7544"/>
          </a:xfrm>
          <a:prstGeom prst="rect">
            <a:avLst/>
          </a:prstGeom>
          <a:solidFill>
            <a:srgbClr val="181D2A"/>
          </a:solidFill>
          <a:ln cap="flat" cmpd="sng" w="12700">
            <a:solidFill>
              <a:srgbClr val="33333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home/claude/art/out/mcp10.png" id="400" name="Google Shape;400;p26"/>
          <p:cNvPicPr preferRelativeResize="0"/>
          <p:nvPr/>
        </p:nvPicPr>
        <p:blipFill rotWithShape="1">
          <a:blip r:embed="rId6">
            <a:alphaModFix/>
          </a:blip>
          <a:srcRect b="0" l="0" r="0" t="0"/>
          <a:stretch/>
        </p:blipFill>
        <p:spPr>
          <a:xfrm>
            <a:off x="4526280" y="918972"/>
            <a:ext cx="4046220" cy="2530602"/>
          </a:xfrm>
          <a:prstGeom prst="rect">
            <a:avLst/>
          </a:prstGeom>
          <a:noFill/>
          <a:ln>
            <a:noFill/>
          </a:ln>
        </p:spPr>
      </p:pic>
      <p:sp>
        <p:nvSpPr>
          <p:cNvPr id="401" name="Google Shape;401;p26"/>
          <p:cNvSpPr/>
          <p:nvPr/>
        </p:nvSpPr>
        <p:spPr>
          <a:xfrm>
            <a:off x="4539996" y="3525012"/>
            <a:ext cx="4018788" cy="2331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7DEEA"/>
              </a:buClr>
              <a:buSzPts val="900"/>
              <a:buFont typeface="Arial"/>
              <a:buNone/>
            </a:pPr>
            <a:r>
              <a:rPr b="0" i="1" lang="en" sz="900" u="none" cap="none" strike="noStrike">
                <a:solidFill>
                  <a:srgbClr val="D7DEEA"/>
                </a:solidFill>
                <a:latin typeface="Arial"/>
                <a:ea typeface="Arial"/>
                <a:cs typeface="Arial"/>
                <a:sym typeface="Arial"/>
              </a:rPr>
              <a:t>The rental car that remembers the last driver</a:t>
            </a:r>
            <a:endParaRPr b="0" i="0" sz="900" u="none" cap="none" strike="noStrike">
              <a:solidFill>
                <a:schemeClr val="dk1"/>
              </a:solidFill>
              <a:latin typeface="Calibri"/>
              <a:ea typeface="Calibri"/>
              <a:cs typeface="Calibri"/>
              <a:sym typeface="Calibri"/>
            </a:endParaRPr>
          </a:p>
        </p:txBody>
      </p:sp>
      <p:sp>
        <p:nvSpPr>
          <p:cNvPr id="402" name="Google Shape;402;p26"/>
          <p:cNvSpPr/>
          <p:nvPr/>
        </p:nvSpPr>
        <p:spPr>
          <a:xfrm>
            <a:off x="4539996" y="3854196"/>
            <a:ext cx="40462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8748C"/>
              </a:buClr>
              <a:buSzPts val="700"/>
              <a:buFont typeface="Courier New"/>
              <a:buNone/>
            </a:pPr>
            <a:r>
              <a:rPr b="1" i="0" lang="en" sz="700" u="none" cap="none" strike="noStrike">
                <a:solidFill>
                  <a:srgbClr val="68748C"/>
                </a:solidFill>
                <a:latin typeface="Courier New"/>
                <a:ea typeface="Courier New"/>
                <a:cs typeface="Courier New"/>
                <a:sym typeface="Courier New"/>
              </a:rPr>
              <a:t>HOW IT PLAYS OUT</a:t>
            </a:r>
            <a:endParaRPr b="0" i="0" sz="700" u="none" cap="none" strike="noStrike">
              <a:solidFill>
                <a:schemeClr val="dk1"/>
              </a:solidFill>
              <a:latin typeface="Calibri"/>
              <a:ea typeface="Calibri"/>
              <a:cs typeface="Calibri"/>
              <a:sym typeface="Calibri"/>
            </a:endParaRPr>
          </a:p>
        </p:txBody>
      </p:sp>
      <p:sp>
        <p:nvSpPr>
          <p:cNvPr id="403" name="Google Shape;403;p26"/>
          <p:cNvSpPr/>
          <p:nvPr/>
        </p:nvSpPr>
        <p:spPr>
          <a:xfrm>
            <a:off x="4539996" y="4073652"/>
            <a:ext cx="1184148" cy="370332"/>
          </a:xfrm>
          <a:prstGeom prst="roundRect">
            <a:avLst>
              <a:gd fmla="val 18519" name="adj"/>
            </a:avLst>
          </a:prstGeom>
          <a:solidFill>
            <a:srgbClr val="1E1B17"/>
          </a:solidFill>
          <a:ln cap="flat" cmpd="sng" w="12700">
            <a:solidFill>
              <a:srgbClr val="604D1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D7DEEA"/>
              </a:buClr>
              <a:buSzPts val="700"/>
              <a:buFont typeface="Courier New"/>
              <a:buNone/>
            </a:pPr>
            <a:r>
              <a:rPr b="1" i="0" lang="en" sz="700" u="none" cap="none" strike="noStrike">
                <a:solidFill>
                  <a:srgbClr val="D7DEEA"/>
                </a:solidFill>
                <a:latin typeface="Courier New"/>
                <a:ea typeface="Courier New"/>
                <a:cs typeface="Courier New"/>
                <a:sym typeface="Courier New"/>
              </a:rPr>
              <a:t>SHARED CONTEXT</a:t>
            </a:r>
            <a:endParaRPr b="0" i="0" sz="700" u="none" cap="none" strike="noStrike">
              <a:solidFill>
                <a:schemeClr val="dk1"/>
              </a:solidFill>
              <a:latin typeface="Calibri"/>
              <a:ea typeface="Calibri"/>
              <a:cs typeface="Calibri"/>
              <a:sym typeface="Calibri"/>
            </a:endParaRPr>
          </a:p>
        </p:txBody>
      </p:sp>
      <p:sp>
        <p:nvSpPr>
          <p:cNvPr id="404" name="Google Shape;404;p26"/>
          <p:cNvSpPr/>
          <p:nvPr/>
        </p:nvSpPr>
        <p:spPr>
          <a:xfrm>
            <a:off x="5724144" y="4073652"/>
            <a:ext cx="233172" cy="3703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48A20"/>
              </a:buClr>
              <a:buSzPts val="1000"/>
              <a:buFont typeface="Arial"/>
              <a:buNone/>
            </a:pPr>
            <a:r>
              <a:rPr b="0" i="0" lang="en" sz="1000" u="none" cap="none" strike="noStrike">
                <a:solidFill>
                  <a:srgbClr val="B48A20"/>
                </a:solidFill>
                <a:latin typeface="Arial"/>
                <a:ea typeface="Arial"/>
                <a:cs typeface="Arial"/>
                <a:sym typeface="Arial"/>
              </a:rPr>
              <a:t>→</a:t>
            </a:r>
            <a:endParaRPr b="0" i="0" sz="1000" u="none" cap="none" strike="noStrike">
              <a:solidFill>
                <a:schemeClr val="dk1"/>
              </a:solidFill>
              <a:latin typeface="Calibri"/>
              <a:ea typeface="Calibri"/>
              <a:cs typeface="Calibri"/>
              <a:sym typeface="Calibri"/>
            </a:endParaRPr>
          </a:p>
        </p:txBody>
      </p:sp>
      <p:sp>
        <p:nvSpPr>
          <p:cNvPr id="405" name="Google Shape;405;p26"/>
          <p:cNvSpPr/>
          <p:nvPr/>
        </p:nvSpPr>
        <p:spPr>
          <a:xfrm>
            <a:off x="5957316" y="4073652"/>
            <a:ext cx="1184148" cy="370332"/>
          </a:xfrm>
          <a:prstGeom prst="roundRect">
            <a:avLst>
              <a:gd fmla="val 18519" name="adj"/>
            </a:avLst>
          </a:prstGeom>
          <a:solidFill>
            <a:srgbClr val="1E1B17"/>
          </a:solidFill>
          <a:ln cap="flat" cmpd="sng" w="12700">
            <a:solidFill>
              <a:srgbClr val="604D1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D7DEEA"/>
              </a:buClr>
              <a:buSzPts val="700"/>
              <a:buFont typeface="Courier New"/>
              <a:buNone/>
            </a:pPr>
            <a:r>
              <a:rPr b="1" i="0" lang="en" sz="700" u="none" cap="none" strike="noStrike">
                <a:solidFill>
                  <a:srgbClr val="D7DEEA"/>
                </a:solidFill>
                <a:latin typeface="Courier New"/>
                <a:ea typeface="Courier New"/>
                <a:cs typeface="Courier New"/>
                <a:sym typeface="Courier New"/>
              </a:rPr>
              <a:t>NEVER CLEARED</a:t>
            </a:r>
            <a:endParaRPr b="0" i="0" sz="700" u="none" cap="none" strike="noStrike">
              <a:solidFill>
                <a:schemeClr val="dk1"/>
              </a:solidFill>
              <a:latin typeface="Calibri"/>
              <a:ea typeface="Calibri"/>
              <a:cs typeface="Calibri"/>
              <a:sym typeface="Calibri"/>
            </a:endParaRPr>
          </a:p>
        </p:txBody>
      </p:sp>
      <p:sp>
        <p:nvSpPr>
          <p:cNvPr id="406" name="Google Shape;406;p26"/>
          <p:cNvSpPr/>
          <p:nvPr/>
        </p:nvSpPr>
        <p:spPr>
          <a:xfrm>
            <a:off x="7141464" y="4073652"/>
            <a:ext cx="233172" cy="3703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48A20"/>
              </a:buClr>
              <a:buSzPts val="1000"/>
              <a:buFont typeface="Arial"/>
              <a:buNone/>
            </a:pPr>
            <a:r>
              <a:rPr b="0" i="0" lang="en" sz="1000" u="none" cap="none" strike="noStrike">
                <a:solidFill>
                  <a:srgbClr val="B48A20"/>
                </a:solidFill>
                <a:latin typeface="Arial"/>
                <a:ea typeface="Arial"/>
                <a:cs typeface="Arial"/>
                <a:sym typeface="Arial"/>
              </a:rPr>
              <a:t>→</a:t>
            </a:r>
            <a:endParaRPr b="0" i="0" sz="1000" u="none" cap="none" strike="noStrike">
              <a:solidFill>
                <a:schemeClr val="dk1"/>
              </a:solidFill>
              <a:latin typeface="Calibri"/>
              <a:ea typeface="Calibri"/>
              <a:cs typeface="Calibri"/>
              <a:sym typeface="Calibri"/>
            </a:endParaRPr>
          </a:p>
        </p:txBody>
      </p:sp>
      <p:sp>
        <p:nvSpPr>
          <p:cNvPr id="407" name="Google Shape;407;p26"/>
          <p:cNvSpPr/>
          <p:nvPr/>
        </p:nvSpPr>
        <p:spPr>
          <a:xfrm>
            <a:off x="7374636" y="4073652"/>
            <a:ext cx="1184148" cy="370332"/>
          </a:xfrm>
          <a:prstGeom prst="roundRect">
            <a:avLst>
              <a:gd fmla="val 18519" name="adj"/>
            </a:avLst>
          </a:prstGeom>
          <a:solidFill>
            <a:srgbClr val="332B18"/>
          </a:solidFill>
          <a:ln cap="flat" cmpd="sng" w="12700">
            <a:solidFill>
              <a:srgbClr val="C09321"/>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BBF24"/>
              </a:buClr>
              <a:buSzPts val="700"/>
              <a:buFont typeface="Courier New"/>
              <a:buNone/>
            </a:pPr>
            <a:r>
              <a:rPr b="1" i="0" lang="en" sz="700" u="none" cap="none" strike="noStrike">
                <a:solidFill>
                  <a:srgbClr val="FBBF24"/>
                </a:solidFill>
                <a:latin typeface="Courier New"/>
                <a:ea typeface="Courier New"/>
                <a:cs typeface="Courier New"/>
                <a:sym typeface="Courier New"/>
              </a:rPr>
              <a:t>NEXT USER SEES IT</a:t>
            </a:r>
            <a:endParaRPr b="0" i="0" sz="700" u="none" cap="none" strike="noStrike">
              <a:solidFill>
                <a:schemeClr val="dk1"/>
              </a:solidFill>
              <a:latin typeface="Calibri"/>
              <a:ea typeface="Calibri"/>
              <a:cs typeface="Calibri"/>
              <a:sym typeface="Calibri"/>
            </a:endParaRPr>
          </a:p>
        </p:txBody>
      </p:sp>
      <p:sp>
        <p:nvSpPr>
          <p:cNvPr id="408" name="Google Shape;408;p26"/>
          <p:cNvSpPr/>
          <p:nvPr/>
        </p:nvSpPr>
        <p:spPr>
          <a:xfrm>
            <a:off x="425196" y="4814316"/>
            <a:ext cx="54864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4759"/>
              </a:buClr>
              <a:buSzPts val="600"/>
              <a:buFont typeface="Courier New"/>
              <a:buNone/>
            </a:pPr>
            <a:r>
              <a:rPr b="0" i="0" lang="en" sz="600" u="none" cap="none" strike="noStrike">
                <a:solidFill>
                  <a:srgbClr val="3E4759"/>
                </a:solidFill>
                <a:latin typeface="Courier New"/>
                <a:ea typeface="Courier New"/>
                <a:cs typeface="Courier New"/>
                <a:sym typeface="Courier New"/>
              </a:rPr>
              <a:t>OWASP MCP Top 10 · MCP10:2025</a:t>
            </a:r>
            <a:endParaRPr b="0" i="0" sz="6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13" name="Shape 413"/>
        <p:cNvGrpSpPr/>
        <p:nvPr/>
      </p:nvGrpSpPr>
      <p:grpSpPr>
        <a:xfrm>
          <a:off x="0" y="0"/>
          <a:ext cx="0" cy="0"/>
          <a:chOff x="0" y="0"/>
          <a:chExt cx="0" cy="0"/>
        </a:xfrm>
      </p:grpSpPr>
      <p:sp>
        <p:nvSpPr>
          <p:cNvPr id="414" name="Google Shape;414;p27"/>
          <p:cNvSpPr/>
          <p:nvPr/>
        </p:nvSpPr>
        <p:spPr>
          <a:xfrm>
            <a:off x="425196" y="384048"/>
            <a:ext cx="1564996" cy="212598"/>
          </a:xfrm>
          <a:prstGeom prst="roundRect">
            <a:avLst>
              <a:gd fmla="val 29032" name="adj"/>
            </a:avLst>
          </a:prstGeom>
          <a:solidFill>
            <a:srgbClr val="0B222A"/>
          </a:solidFill>
          <a:ln cap="flat" cmpd="sng" w="12700">
            <a:solidFill>
              <a:srgbClr val="167889"/>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22D3EE"/>
              </a:buClr>
              <a:buSzPts val="800"/>
              <a:buFont typeface="Courier New"/>
              <a:buNone/>
            </a:pPr>
            <a:r>
              <a:rPr b="1" i="0" lang="en" sz="800" u="none" cap="none" strike="noStrike">
                <a:solidFill>
                  <a:srgbClr val="22D3EE"/>
                </a:solidFill>
                <a:latin typeface="Courier New"/>
                <a:ea typeface="Courier New"/>
                <a:cs typeface="Courier New"/>
                <a:sym typeface="Courier New"/>
              </a:rPr>
              <a:t>THE PRE-DRIVE CHECK</a:t>
            </a:r>
            <a:endParaRPr b="0" i="0" sz="800" u="none" cap="none" strike="noStrike">
              <a:solidFill>
                <a:schemeClr val="dk1"/>
              </a:solidFill>
              <a:latin typeface="Calibri"/>
              <a:ea typeface="Calibri"/>
              <a:cs typeface="Calibri"/>
              <a:sym typeface="Calibri"/>
            </a:endParaRPr>
          </a:p>
        </p:txBody>
      </p:sp>
      <p:sp>
        <p:nvSpPr>
          <p:cNvPr id="415" name="Google Shape;415;p27"/>
          <p:cNvSpPr/>
          <p:nvPr/>
        </p:nvSpPr>
        <p:spPr>
          <a:xfrm>
            <a:off x="425196" y="672084"/>
            <a:ext cx="5143500" cy="4800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400"/>
              <a:buFont typeface="Arial"/>
              <a:buNone/>
            </a:pPr>
            <a:r>
              <a:rPr b="1" i="0" lang="en" sz="2400" u="none" cap="none" strike="noStrike">
                <a:solidFill>
                  <a:srgbClr val="FFFFFF"/>
                </a:solidFill>
                <a:latin typeface="Arial"/>
                <a:ea typeface="Arial"/>
                <a:cs typeface="Arial"/>
                <a:sym typeface="Arial"/>
              </a:rPr>
              <a:t>Ten Risks, </a:t>
            </a:r>
            <a:r>
              <a:rPr b="1" i="0" lang="en" sz="2400" u="none" cap="none" strike="noStrike">
                <a:solidFill>
                  <a:srgbClr val="34D399"/>
                </a:solidFill>
                <a:latin typeface="Arial"/>
                <a:ea typeface="Arial"/>
                <a:cs typeface="Arial"/>
                <a:sym typeface="Arial"/>
              </a:rPr>
              <a:t>One Car</a:t>
            </a:r>
            <a:endParaRPr b="0" i="0" sz="2400" u="none" cap="none" strike="noStrike">
              <a:solidFill>
                <a:schemeClr val="dk1"/>
              </a:solidFill>
              <a:latin typeface="Calibri"/>
              <a:ea typeface="Calibri"/>
              <a:cs typeface="Calibri"/>
              <a:sym typeface="Calibri"/>
            </a:endParaRPr>
          </a:p>
        </p:txBody>
      </p:sp>
      <p:sp>
        <p:nvSpPr>
          <p:cNvPr id="416" name="Google Shape;416;p27"/>
          <p:cNvSpPr/>
          <p:nvPr/>
        </p:nvSpPr>
        <p:spPr>
          <a:xfrm>
            <a:off x="5760720" y="740664"/>
            <a:ext cx="3017520" cy="34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0B7"/>
              </a:buClr>
              <a:buSzPts val="900"/>
              <a:buFont typeface="Arial"/>
              <a:buNone/>
            </a:pPr>
            <a:r>
              <a:rPr b="0" i="1" lang="en" sz="900" u="none" cap="none" strike="noStrike">
                <a:solidFill>
                  <a:srgbClr val="93A0B7"/>
                </a:solidFill>
                <a:latin typeface="Arial"/>
                <a:ea typeface="Arial"/>
                <a:cs typeface="Arial"/>
                <a:sym typeface="Arial"/>
              </a:rPr>
              <a:t>If you remember nothing else, remember the car.</a:t>
            </a:r>
            <a:endParaRPr b="0" i="0" sz="900" u="none" cap="none" strike="noStrike">
              <a:solidFill>
                <a:schemeClr val="dk1"/>
              </a:solidFill>
              <a:latin typeface="Calibri"/>
              <a:ea typeface="Calibri"/>
              <a:cs typeface="Calibri"/>
              <a:sym typeface="Calibri"/>
            </a:endParaRPr>
          </a:p>
        </p:txBody>
      </p:sp>
      <p:sp>
        <p:nvSpPr>
          <p:cNvPr id="417" name="Google Shape;417;p27"/>
          <p:cNvSpPr/>
          <p:nvPr/>
        </p:nvSpPr>
        <p:spPr>
          <a:xfrm>
            <a:off x="425196" y="1234440"/>
            <a:ext cx="4046220" cy="589788"/>
          </a:xfrm>
          <a:prstGeom prst="roundRect">
            <a:avLst>
              <a:gd fmla="val 11628" name="adj"/>
            </a:avLst>
          </a:prstGeom>
          <a:solidFill>
            <a:srgbClr val="0D0F16"/>
          </a:solidFill>
          <a:ln cap="flat" cmpd="sng" w="12700">
            <a:solidFill>
              <a:srgbClr val="5B3A4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8" name="Google Shape;418;p27"/>
          <p:cNvSpPr/>
          <p:nvPr/>
        </p:nvSpPr>
        <p:spPr>
          <a:xfrm>
            <a:off x="589788" y="1371600"/>
            <a:ext cx="315468" cy="315468"/>
          </a:xfrm>
          <a:prstGeom prst="roundRect">
            <a:avLst>
              <a:gd fmla="val 23913" name="adj"/>
            </a:avLst>
          </a:prstGeom>
          <a:solidFill>
            <a:srgbClr val="331F25"/>
          </a:solidFill>
          <a:ln cap="flat" cmpd="sng" w="12700">
            <a:solidFill>
              <a:srgbClr val="9A4A4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9" name="Google Shape;419;p27"/>
          <p:cNvSpPr/>
          <p:nvPr/>
        </p:nvSpPr>
        <p:spPr>
          <a:xfrm>
            <a:off x="589788" y="1371600"/>
            <a:ext cx="315468" cy="3154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87171"/>
              </a:buClr>
              <a:buSzPts val="800"/>
              <a:buFont typeface="Courier New"/>
              <a:buNone/>
            </a:pPr>
            <a:r>
              <a:rPr b="1" i="0" lang="en" sz="800" u="none" cap="none" strike="noStrike">
                <a:solidFill>
                  <a:srgbClr val="F87171"/>
                </a:solidFill>
                <a:latin typeface="Courier New"/>
                <a:ea typeface="Courier New"/>
                <a:cs typeface="Courier New"/>
                <a:sym typeface="Courier New"/>
              </a:rPr>
              <a:t>01</a:t>
            </a:r>
            <a:endParaRPr b="0" i="0" sz="800" u="none" cap="none" strike="noStrike">
              <a:solidFill>
                <a:schemeClr val="dk1"/>
              </a:solidFill>
              <a:latin typeface="Calibri"/>
              <a:ea typeface="Calibri"/>
              <a:cs typeface="Calibri"/>
              <a:sym typeface="Calibri"/>
            </a:endParaRPr>
          </a:p>
        </p:txBody>
      </p:sp>
      <p:sp>
        <p:nvSpPr>
          <p:cNvPr id="420" name="Google Shape;420;p27"/>
          <p:cNvSpPr/>
          <p:nvPr/>
        </p:nvSpPr>
        <p:spPr>
          <a:xfrm>
            <a:off x="1028700" y="1323594"/>
            <a:ext cx="332613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i="0" lang="en" sz="900" u="none" cap="none" strike="noStrike">
                <a:solidFill>
                  <a:srgbClr val="FFFFFF"/>
                </a:solidFill>
                <a:latin typeface="Arial"/>
                <a:ea typeface="Arial"/>
                <a:cs typeface="Arial"/>
                <a:sym typeface="Arial"/>
              </a:rPr>
              <a:t>Token &amp; Secret Exposure</a:t>
            </a:r>
            <a:endParaRPr b="0" i="0" sz="900" u="none" cap="none" strike="noStrike">
              <a:solidFill>
                <a:schemeClr val="dk1"/>
              </a:solidFill>
              <a:latin typeface="Calibri"/>
              <a:ea typeface="Calibri"/>
              <a:cs typeface="Calibri"/>
              <a:sym typeface="Calibri"/>
            </a:endParaRPr>
          </a:p>
        </p:txBody>
      </p:sp>
      <p:sp>
        <p:nvSpPr>
          <p:cNvPr id="421" name="Google Shape;421;p27"/>
          <p:cNvSpPr/>
          <p:nvPr/>
        </p:nvSpPr>
        <p:spPr>
          <a:xfrm>
            <a:off x="1028700" y="1543050"/>
            <a:ext cx="332613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0B7"/>
              </a:buClr>
              <a:buSzPts val="800"/>
              <a:buFont typeface="Arial"/>
              <a:buNone/>
            </a:pPr>
            <a:r>
              <a:rPr b="0" i="0" lang="en" sz="800" u="none" cap="none" strike="noStrike">
                <a:solidFill>
                  <a:srgbClr val="93A0B7"/>
                </a:solidFill>
                <a:latin typeface="Arial"/>
                <a:ea typeface="Arial"/>
                <a:cs typeface="Arial"/>
                <a:sym typeface="Arial"/>
              </a:rPr>
              <a:t>Key taped under the bumper</a:t>
            </a:r>
            <a:endParaRPr b="0" i="0" sz="800" u="none" cap="none" strike="noStrike">
              <a:solidFill>
                <a:schemeClr val="dk1"/>
              </a:solidFill>
              <a:latin typeface="Calibri"/>
              <a:ea typeface="Calibri"/>
              <a:cs typeface="Calibri"/>
              <a:sym typeface="Calibri"/>
            </a:endParaRPr>
          </a:p>
        </p:txBody>
      </p:sp>
      <p:sp>
        <p:nvSpPr>
          <p:cNvPr id="422" name="Google Shape;422;p27"/>
          <p:cNvSpPr/>
          <p:nvPr/>
        </p:nvSpPr>
        <p:spPr>
          <a:xfrm>
            <a:off x="4663440" y="1234440"/>
            <a:ext cx="4046220" cy="589788"/>
          </a:xfrm>
          <a:prstGeom prst="roundRect">
            <a:avLst>
              <a:gd fmla="val 11628" name="adj"/>
            </a:avLst>
          </a:prstGeom>
          <a:solidFill>
            <a:srgbClr val="0D0F16"/>
          </a:solidFill>
          <a:ln cap="flat" cmpd="sng" w="12700">
            <a:solidFill>
              <a:srgbClr val="5C4F2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23" name="Google Shape;423;p27"/>
          <p:cNvSpPr/>
          <p:nvPr/>
        </p:nvSpPr>
        <p:spPr>
          <a:xfrm>
            <a:off x="4828032" y="1371600"/>
            <a:ext cx="315468" cy="315468"/>
          </a:xfrm>
          <a:prstGeom prst="roundRect">
            <a:avLst>
              <a:gd fmla="val 23913" name="adj"/>
            </a:avLst>
          </a:prstGeom>
          <a:solidFill>
            <a:srgbClr val="332B18"/>
          </a:solidFill>
          <a:ln cap="flat" cmpd="sng" w="12700">
            <a:solidFill>
              <a:srgbClr val="9C791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24" name="Google Shape;424;p27"/>
          <p:cNvSpPr/>
          <p:nvPr/>
        </p:nvSpPr>
        <p:spPr>
          <a:xfrm>
            <a:off x="4828032" y="1371600"/>
            <a:ext cx="315468" cy="3154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BBF24"/>
              </a:buClr>
              <a:buSzPts val="800"/>
              <a:buFont typeface="Courier New"/>
              <a:buNone/>
            </a:pPr>
            <a:r>
              <a:rPr b="1" i="0" lang="en" sz="800" u="none" cap="none" strike="noStrike">
                <a:solidFill>
                  <a:srgbClr val="FBBF24"/>
                </a:solidFill>
                <a:latin typeface="Courier New"/>
                <a:ea typeface="Courier New"/>
                <a:cs typeface="Courier New"/>
                <a:sym typeface="Courier New"/>
              </a:rPr>
              <a:t>02</a:t>
            </a:r>
            <a:endParaRPr b="0" i="0" sz="800" u="none" cap="none" strike="noStrike">
              <a:solidFill>
                <a:schemeClr val="dk1"/>
              </a:solidFill>
              <a:latin typeface="Calibri"/>
              <a:ea typeface="Calibri"/>
              <a:cs typeface="Calibri"/>
              <a:sym typeface="Calibri"/>
            </a:endParaRPr>
          </a:p>
        </p:txBody>
      </p:sp>
      <p:sp>
        <p:nvSpPr>
          <p:cNvPr id="425" name="Google Shape;425;p27"/>
          <p:cNvSpPr/>
          <p:nvPr/>
        </p:nvSpPr>
        <p:spPr>
          <a:xfrm>
            <a:off x="5266944" y="1323594"/>
            <a:ext cx="332613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i="0" lang="en" sz="900" u="none" cap="none" strike="noStrike">
                <a:solidFill>
                  <a:srgbClr val="FFFFFF"/>
                </a:solidFill>
                <a:latin typeface="Arial"/>
                <a:ea typeface="Arial"/>
                <a:cs typeface="Arial"/>
                <a:sym typeface="Arial"/>
              </a:rPr>
              <a:t>Privilege Escalation</a:t>
            </a:r>
            <a:endParaRPr b="0" i="0" sz="900" u="none" cap="none" strike="noStrike">
              <a:solidFill>
                <a:schemeClr val="dk1"/>
              </a:solidFill>
              <a:latin typeface="Calibri"/>
              <a:ea typeface="Calibri"/>
              <a:cs typeface="Calibri"/>
              <a:sym typeface="Calibri"/>
            </a:endParaRPr>
          </a:p>
        </p:txBody>
      </p:sp>
      <p:sp>
        <p:nvSpPr>
          <p:cNvPr id="426" name="Google Shape;426;p27"/>
          <p:cNvSpPr/>
          <p:nvPr/>
        </p:nvSpPr>
        <p:spPr>
          <a:xfrm>
            <a:off x="5266944" y="1543050"/>
            <a:ext cx="332613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0B7"/>
              </a:buClr>
              <a:buSzPts val="800"/>
              <a:buFont typeface="Arial"/>
              <a:buNone/>
            </a:pPr>
            <a:r>
              <a:rPr b="0" i="0" lang="en" sz="800" u="none" cap="none" strike="noStrike">
                <a:solidFill>
                  <a:srgbClr val="93A0B7"/>
                </a:solidFill>
                <a:latin typeface="Arial"/>
                <a:ea typeface="Arial"/>
                <a:cs typeface="Arial"/>
                <a:sym typeface="Arial"/>
              </a:rPr>
              <a:t>Valet key became a master key</a:t>
            </a:r>
            <a:endParaRPr b="0" i="0" sz="800" u="none" cap="none" strike="noStrike">
              <a:solidFill>
                <a:schemeClr val="dk1"/>
              </a:solidFill>
              <a:latin typeface="Calibri"/>
              <a:ea typeface="Calibri"/>
              <a:cs typeface="Calibri"/>
              <a:sym typeface="Calibri"/>
            </a:endParaRPr>
          </a:p>
        </p:txBody>
      </p:sp>
      <p:sp>
        <p:nvSpPr>
          <p:cNvPr id="427" name="Google Shape;427;p27"/>
          <p:cNvSpPr/>
          <p:nvPr/>
        </p:nvSpPr>
        <p:spPr>
          <a:xfrm>
            <a:off x="425196" y="1920240"/>
            <a:ext cx="4046220" cy="589788"/>
          </a:xfrm>
          <a:prstGeom prst="roundRect">
            <a:avLst>
              <a:gd fmla="val 11628" name="adj"/>
            </a:avLst>
          </a:prstGeom>
          <a:solidFill>
            <a:srgbClr val="0D0F16"/>
          </a:solidFill>
          <a:ln cap="flat" cmpd="sng" w="12700">
            <a:solidFill>
              <a:srgbClr val="5B3A4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28" name="Google Shape;428;p27"/>
          <p:cNvSpPr/>
          <p:nvPr/>
        </p:nvSpPr>
        <p:spPr>
          <a:xfrm>
            <a:off x="589788" y="2057400"/>
            <a:ext cx="315468" cy="315468"/>
          </a:xfrm>
          <a:prstGeom prst="roundRect">
            <a:avLst>
              <a:gd fmla="val 23913" name="adj"/>
            </a:avLst>
          </a:prstGeom>
          <a:solidFill>
            <a:srgbClr val="331F25"/>
          </a:solidFill>
          <a:ln cap="flat" cmpd="sng" w="12700">
            <a:solidFill>
              <a:srgbClr val="9A4A4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29" name="Google Shape;429;p27"/>
          <p:cNvSpPr/>
          <p:nvPr/>
        </p:nvSpPr>
        <p:spPr>
          <a:xfrm>
            <a:off x="589788" y="2057400"/>
            <a:ext cx="315468" cy="3154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87171"/>
              </a:buClr>
              <a:buSzPts val="800"/>
              <a:buFont typeface="Courier New"/>
              <a:buNone/>
            </a:pPr>
            <a:r>
              <a:rPr b="1" i="0" lang="en" sz="800" u="none" cap="none" strike="noStrike">
                <a:solidFill>
                  <a:srgbClr val="F87171"/>
                </a:solidFill>
                <a:latin typeface="Courier New"/>
                <a:ea typeface="Courier New"/>
                <a:cs typeface="Courier New"/>
                <a:sym typeface="Courier New"/>
              </a:rPr>
              <a:t>03</a:t>
            </a:r>
            <a:endParaRPr b="0" i="0" sz="800" u="none" cap="none" strike="noStrike">
              <a:solidFill>
                <a:schemeClr val="dk1"/>
              </a:solidFill>
              <a:latin typeface="Calibri"/>
              <a:ea typeface="Calibri"/>
              <a:cs typeface="Calibri"/>
              <a:sym typeface="Calibri"/>
            </a:endParaRPr>
          </a:p>
        </p:txBody>
      </p:sp>
      <p:sp>
        <p:nvSpPr>
          <p:cNvPr id="430" name="Google Shape;430;p27"/>
          <p:cNvSpPr/>
          <p:nvPr/>
        </p:nvSpPr>
        <p:spPr>
          <a:xfrm>
            <a:off x="1028700" y="2009394"/>
            <a:ext cx="332613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i="0" lang="en" sz="900" u="none" cap="none" strike="noStrike">
                <a:solidFill>
                  <a:srgbClr val="FFFFFF"/>
                </a:solidFill>
                <a:latin typeface="Arial"/>
                <a:ea typeface="Arial"/>
                <a:cs typeface="Arial"/>
                <a:sym typeface="Arial"/>
              </a:rPr>
              <a:t>Tool Poisoning</a:t>
            </a:r>
            <a:endParaRPr b="0" i="0" sz="900" u="none" cap="none" strike="noStrike">
              <a:solidFill>
                <a:schemeClr val="dk1"/>
              </a:solidFill>
              <a:latin typeface="Calibri"/>
              <a:ea typeface="Calibri"/>
              <a:cs typeface="Calibri"/>
              <a:sym typeface="Calibri"/>
            </a:endParaRPr>
          </a:p>
        </p:txBody>
      </p:sp>
      <p:sp>
        <p:nvSpPr>
          <p:cNvPr id="431" name="Google Shape;431;p27"/>
          <p:cNvSpPr/>
          <p:nvPr/>
        </p:nvSpPr>
        <p:spPr>
          <a:xfrm>
            <a:off x="1028700" y="2228850"/>
            <a:ext cx="332613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0B7"/>
              </a:buClr>
              <a:buSzPts val="800"/>
              <a:buFont typeface="Arial"/>
              <a:buNone/>
            </a:pPr>
            <a:r>
              <a:rPr b="0" i="0" lang="en" sz="800" u="none" cap="none" strike="noStrike">
                <a:solidFill>
                  <a:srgbClr val="93A0B7"/>
                </a:solidFill>
                <a:latin typeface="Arial"/>
                <a:ea typeface="Arial"/>
                <a:cs typeface="Arial"/>
                <a:sym typeface="Arial"/>
              </a:rPr>
              <a:t>GPS re-programmed to mislead</a:t>
            </a:r>
            <a:endParaRPr b="0" i="0" sz="800" u="none" cap="none" strike="noStrike">
              <a:solidFill>
                <a:schemeClr val="dk1"/>
              </a:solidFill>
              <a:latin typeface="Calibri"/>
              <a:ea typeface="Calibri"/>
              <a:cs typeface="Calibri"/>
              <a:sym typeface="Calibri"/>
            </a:endParaRPr>
          </a:p>
        </p:txBody>
      </p:sp>
      <p:sp>
        <p:nvSpPr>
          <p:cNvPr id="432" name="Google Shape;432;p27"/>
          <p:cNvSpPr/>
          <p:nvPr/>
        </p:nvSpPr>
        <p:spPr>
          <a:xfrm>
            <a:off x="4663440" y="1920240"/>
            <a:ext cx="4046220" cy="589788"/>
          </a:xfrm>
          <a:prstGeom prst="roundRect">
            <a:avLst>
              <a:gd fmla="val 11628" name="adj"/>
            </a:avLst>
          </a:prstGeom>
          <a:solidFill>
            <a:srgbClr val="0D0F16"/>
          </a:solidFill>
          <a:ln cap="flat" cmpd="sng" w="12700">
            <a:solidFill>
              <a:srgbClr val="5C4F2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3" name="Google Shape;433;p27"/>
          <p:cNvSpPr/>
          <p:nvPr/>
        </p:nvSpPr>
        <p:spPr>
          <a:xfrm>
            <a:off x="4828032" y="2057400"/>
            <a:ext cx="315468" cy="315468"/>
          </a:xfrm>
          <a:prstGeom prst="roundRect">
            <a:avLst>
              <a:gd fmla="val 23913" name="adj"/>
            </a:avLst>
          </a:prstGeom>
          <a:solidFill>
            <a:srgbClr val="332B18"/>
          </a:solidFill>
          <a:ln cap="flat" cmpd="sng" w="12700">
            <a:solidFill>
              <a:srgbClr val="9C791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4" name="Google Shape;434;p27"/>
          <p:cNvSpPr/>
          <p:nvPr/>
        </p:nvSpPr>
        <p:spPr>
          <a:xfrm>
            <a:off x="4828032" y="2057400"/>
            <a:ext cx="315468" cy="3154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BBF24"/>
              </a:buClr>
              <a:buSzPts val="800"/>
              <a:buFont typeface="Courier New"/>
              <a:buNone/>
            </a:pPr>
            <a:r>
              <a:rPr b="1" i="0" lang="en" sz="800" u="none" cap="none" strike="noStrike">
                <a:solidFill>
                  <a:srgbClr val="FBBF24"/>
                </a:solidFill>
                <a:latin typeface="Courier New"/>
                <a:ea typeface="Courier New"/>
                <a:cs typeface="Courier New"/>
                <a:sym typeface="Courier New"/>
              </a:rPr>
              <a:t>04</a:t>
            </a:r>
            <a:endParaRPr b="0" i="0" sz="800" u="none" cap="none" strike="noStrike">
              <a:solidFill>
                <a:schemeClr val="dk1"/>
              </a:solidFill>
              <a:latin typeface="Calibri"/>
              <a:ea typeface="Calibri"/>
              <a:cs typeface="Calibri"/>
              <a:sym typeface="Calibri"/>
            </a:endParaRPr>
          </a:p>
        </p:txBody>
      </p:sp>
      <p:sp>
        <p:nvSpPr>
          <p:cNvPr id="435" name="Google Shape;435;p27"/>
          <p:cNvSpPr/>
          <p:nvPr/>
        </p:nvSpPr>
        <p:spPr>
          <a:xfrm>
            <a:off x="5266944" y="2009394"/>
            <a:ext cx="332613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i="0" lang="en" sz="900" u="none" cap="none" strike="noStrike">
                <a:solidFill>
                  <a:srgbClr val="FFFFFF"/>
                </a:solidFill>
                <a:latin typeface="Arial"/>
                <a:ea typeface="Arial"/>
                <a:cs typeface="Arial"/>
                <a:sym typeface="Arial"/>
              </a:rPr>
              <a:t>Supply Chain Tampering</a:t>
            </a:r>
            <a:endParaRPr b="0" i="0" sz="900" u="none" cap="none" strike="noStrike">
              <a:solidFill>
                <a:schemeClr val="dk1"/>
              </a:solidFill>
              <a:latin typeface="Calibri"/>
              <a:ea typeface="Calibri"/>
              <a:cs typeface="Calibri"/>
              <a:sym typeface="Calibri"/>
            </a:endParaRPr>
          </a:p>
        </p:txBody>
      </p:sp>
      <p:sp>
        <p:nvSpPr>
          <p:cNvPr id="436" name="Google Shape;436;p27"/>
          <p:cNvSpPr/>
          <p:nvPr/>
        </p:nvSpPr>
        <p:spPr>
          <a:xfrm>
            <a:off x="5266944" y="2228850"/>
            <a:ext cx="332613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0B7"/>
              </a:buClr>
              <a:buSzPts val="800"/>
              <a:buFont typeface="Arial"/>
              <a:buNone/>
            </a:pPr>
            <a:r>
              <a:rPr b="0" i="0" lang="en" sz="800" u="none" cap="none" strike="noStrike">
                <a:solidFill>
                  <a:srgbClr val="93A0B7"/>
                </a:solidFill>
                <a:latin typeface="Arial"/>
                <a:ea typeface="Arial"/>
                <a:cs typeface="Arial"/>
                <a:sym typeface="Arial"/>
              </a:rPr>
              <a:t>Look-alike brake part fitted</a:t>
            </a:r>
            <a:endParaRPr b="0" i="0" sz="800" u="none" cap="none" strike="noStrike">
              <a:solidFill>
                <a:schemeClr val="dk1"/>
              </a:solidFill>
              <a:latin typeface="Calibri"/>
              <a:ea typeface="Calibri"/>
              <a:cs typeface="Calibri"/>
              <a:sym typeface="Calibri"/>
            </a:endParaRPr>
          </a:p>
        </p:txBody>
      </p:sp>
      <p:sp>
        <p:nvSpPr>
          <p:cNvPr id="437" name="Google Shape;437;p27"/>
          <p:cNvSpPr/>
          <p:nvPr/>
        </p:nvSpPr>
        <p:spPr>
          <a:xfrm>
            <a:off x="425196" y="2606040"/>
            <a:ext cx="4046220" cy="589788"/>
          </a:xfrm>
          <a:prstGeom prst="roundRect">
            <a:avLst>
              <a:gd fmla="val 11628" name="adj"/>
            </a:avLst>
          </a:prstGeom>
          <a:solidFill>
            <a:srgbClr val="0D0F16"/>
          </a:solidFill>
          <a:ln cap="flat" cmpd="sng" w="12700">
            <a:solidFill>
              <a:srgbClr val="5B3A4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8" name="Google Shape;438;p27"/>
          <p:cNvSpPr/>
          <p:nvPr/>
        </p:nvSpPr>
        <p:spPr>
          <a:xfrm>
            <a:off x="589788" y="2743200"/>
            <a:ext cx="315468" cy="315468"/>
          </a:xfrm>
          <a:prstGeom prst="roundRect">
            <a:avLst>
              <a:gd fmla="val 23913" name="adj"/>
            </a:avLst>
          </a:prstGeom>
          <a:solidFill>
            <a:srgbClr val="331F25"/>
          </a:solidFill>
          <a:ln cap="flat" cmpd="sng" w="12700">
            <a:solidFill>
              <a:srgbClr val="9A4A4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9" name="Google Shape;439;p27"/>
          <p:cNvSpPr/>
          <p:nvPr/>
        </p:nvSpPr>
        <p:spPr>
          <a:xfrm>
            <a:off x="589788" y="2743200"/>
            <a:ext cx="315468" cy="3154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87171"/>
              </a:buClr>
              <a:buSzPts val="800"/>
              <a:buFont typeface="Courier New"/>
              <a:buNone/>
            </a:pPr>
            <a:r>
              <a:rPr b="1" i="0" lang="en" sz="800" u="none" cap="none" strike="noStrike">
                <a:solidFill>
                  <a:srgbClr val="F87171"/>
                </a:solidFill>
                <a:latin typeface="Courier New"/>
                <a:ea typeface="Courier New"/>
                <a:cs typeface="Courier New"/>
                <a:sym typeface="Courier New"/>
              </a:rPr>
              <a:t>05</a:t>
            </a:r>
            <a:endParaRPr b="0" i="0" sz="800" u="none" cap="none" strike="noStrike">
              <a:solidFill>
                <a:schemeClr val="dk1"/>
              </a:solidFill>
              <a:latin typeface="Calibri"/>
              <a:ea typeface="Calibri"/>
              <a:cs typeface="Calibri"/>
              <a:sym typeface="Calibri"/>
            </a:endParaRPr>
          </a:p>
        </p:txBody>
      </p:sp>
      <p:sp>
        <p:nvSpPr>
          <p:cNvPr id="440" name="Google Shape;440;p27"/>
          <p:cNvSpPr/>
          <p:nvPr/>
        </p:nvSpPr>
        <p:spPr>
          <a:xfrm>
            <a:off x="1028700" y="2695194"/>
            <a:ext cx="332613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i="0" lang="en" sz="900" u="none" cap="none" strike="noStrike">
                <a:solidFill>
                  <a:srgbClr val="FFFFFF"/>
                </a:solidFill>
                <a:latin typeface="Arial"/>
                <a:ea typeface="Arial"/>
                <a:cs typeface="Arial"/>
                <a:sym typeface="Arial"/>
              </a:rPr>
              <a:t>Command Injection</a:t>
            </a:r>
            <a:endParaRPr b="0" i="0" sz="900" u="none" cap="none" strike="noStrike">
              <a:solidFill>
                <a:schemeClr val="dk1"/>
              </a:solidFill>
              <a:latin typeface="Calibri"/>
              <a:ea typeface="Calibri"/>
              <a:cs typeface="Calibri"/>
              <a:sym typeface="Calibri"/>
            </a:endParaRPr>
          </a:p>
        </p:txBody>
      </p:sp>
      <p:sp>
        <p:nvSpPr>
          <p:cNvPr id="441" name="Google Shape;441;p27"/>
          <p:cNvSpPr/>
          <p:nvPr/>
        </p:nvSpPr>
        <p:spPr>
          <a:xfrm>
            <a:off x="1028700" y="2914650"/>
            <a:ext cx="332613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0B7"/>
              </a:buClr>
              <a:buSzPts val="800"/>
              <a:buFont typeface="Arial"/>
              <a:buNone/>
            </a:pPr>
            <a:r>
              <a:rPr b="0" i="0" lang="en" sz="800" u="none" cap="none" strike="noStrike">
                <a:solidFill>
                  <a:srgbClr val="93A0B7"/>
                </a:solidFill>
                <a:latin typeface="Arial"/>
                <a:ea typeface="Arial"/>
                <a:cs typeface="Arial"/>
                <a:sym typeface="Arial"/>
              </a:rPr>
              <a:t>Radio ad the car obeyed</a:t>
            </a:r>
            <a:endParaRPr b="0" i="0" sz="800" u="none" cap="none" strike="noStrike">
              <a:solidFill>
                <a:schemeClr val="dk1"/>
              </a:solidFill>
              <a:latin typeface="Calibri"/>
              <a:ea typeface="Calibri"/>
              <a:cs typeface="Calibri"/>
              <a:sym typeface="Calibri"/>
            </a:endParaRPr>
          </a:p>
        </p:txBody>
      </p:sp>
      <p:sp>
        <p:nvSpPr>
          <p:cNvPr id="442" name="Google Shape;442;p27"/>
          <p:cNvSpPr/>
          <p:nvPr/>
        </p:nvSpPr>
        <p:spPr>
          <a:xfrm>
            <a:off x="4663440" y="2606040"/>
            <a:ext cx="4046220" cy="589788"/>
          </a:xfrm>
          <a:prstGeom prst="roundRect">
            <a:avLst>
              <a:gd fmla="val 11628" name="adj"/>
            </a:avLst>
          </a:prstGeom>
          <a:solidFill>
            <a:srgbClr val="0D0F16"/>
          </a:solidFill>
          <a:ln cap="flat" cmpd="sng" w="12700">
            <a:solidFill>
              <a:srgbClr val="3D3D6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3" name="Google Shape;443;p27"/>
          <p:cNvSpPr/>
          <p:nvPr/>
        </p:nvSpPr>
        <p:spPr>
          <a:xfrm>
            <a:off x="4828032" y="2743200"/>
            <a:ext cx="315468" cy="315468"/>
          </a:xfrm>
          <a:prstGeom prst="roundRect">
            <a:avLst>
              <a:gd fmla="val 23913" name="adj"/>
            </a:avLst>
          </a:prstGeom>
          <a:solidFill>
            <a:srgbClr val="21203A"/>
          </a:solidFill>
          <a:ln cap="flat" cmpd="sng" w="12700">
            <a:solidFill>
              <a:srgbClr val="59509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4" name="Google Shape;444;p27"/>
          <p:cNvSpPr/>
          <p:nvPr/>
        </p:nvSpPr>
        <p:spPr>
          <a:xfrm>
            <a:off x="4828032" y="2743200"/>
            <a:ext cx="315468" cy="3154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7CF6"/>
              </a:buClr>
              <a:buSzPts val="800"/>
              <a:buFont typeface="Courier New"/>
              <a:buNone/>
            </a:pPr>
            <a:r>
              <a:rPr b="1" i="0" lang="en" sz="800" u="none" cap="none" strike="noStrike">
                <a:solidFill>
                  <a:srgbClr val="8B7CF6"/>
                </a:solidFill>
                <a:latin typeface="Courier New"/>
                <a:ea typeface="Courier New"/>
                <a:cs typeface="Courier New"/>
                <a:sym typeface="Courier New"/>
              </a:rPr>
              <a:t>06</a:t>
            </a:r>
            <a:endParaRPr b="0" i="0" sz="800" u="none" cap="none" strike="noStrike">
              <a:solidFill>
                <a:schemeClr val="dk1"/>
              </a:solidFill>
              <a:latin typeface="Calibri"/>
              <a:ea typeface="Calibri"/>
              <a:cs typeface="Calibri"/>
              <a:sym typeface="Calibri"/>
            </a:endParaRPr>
          </a:p>
        </p:txBody>
      </p:sp>
      <p:sp>
        <p:nvSpPr>
          <p:cNvPr id="445" name="Google Shape;445;p27"/>
          <p:cNvSpPr/>
          <p:nvPr/>
        </p:nvSpPr>
        <p:spPr>
          <a:xfrm>
            <a:off x="5266944" y="2695194"/>
            <a:ext cx="332613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i="0" lang="en" sz="900" u="none" cap="none" strike="noStrike">
                <a:solidFill>
                  <a:srgbClr val="FFFFFF"/>
                </a:solidFill>
                <a:latin typeface="Arial"/>
                <a:ea typeface="Arial"/>
                <a:cs typeface="Arial"/>
                <a:sym typeface="Arial"/>
              </a:rPr>
              <a:t>Intent Flow Subversion</a:t>
            </a:r>
            <a:endParaRPr b="0" i="0" sz="900" u="none" cap="none" strike="noStrike">
              <a:solidFill>
                <a:schemeClr val="dk1"/>
              </a:solidFill>
              <a:latin typeface="Calibri"/>
              <a:ea typeface="Calibri"/>
              <a:cs typeface="Calibri"/>
              <a:sym typeface="Calibri"/>
            </a:endParaRPr>
          </a:p>
        </p:txBody>
      </p:sp>
      <p:sp>
        <p:nvSpPr>
          <p:cNvPr id="446" name="Google Shape;446;p27"/>
          <p:cNvSpPr/>
          <p:nvPr/>
        </p:nvSpPr>
        <p:spPr>
          <a:xfrm>
            <a:off x="5266944" y="2914650"/>
            <a:ext cx="332613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0B7"/>
              </a:buClr>
              <a:buSzPts val="800"/>
              <a:buFont typeface="Arial"/>
              <a:buNone/>
            </a:pPr>
            <a:r>
              <a:rPr b="0" i="0" lang="en" sz="800" u="none" cap="none" strike="noStrike">
                <a:solidFill>
                  <a:srgbClr val="93A0B7"/>
                </a:solidFill>
                <a:latin typeface="Arial"/>
                <a:ea typeface="Arial"/>
                <a:cs typeface="Arial"/>
                <a:sym typeface="Arial"/>
              </a:rPr>
              <a:t>Road sign quietly swapped</a:t>
            </a:r>
            <a:endParaRPr b="0" i="0" sz="800" u="none" cap="none" strike="noStrike">
              <a:solidFill>
                <a:schemeClr val="dk1"/>
              </a:solidFill>
              <a:latin typeface="Calibri"/>
              <a:ea typeface="Calibri"/>
              <a:cs typeface="Calibri"/>
              <a:sym typeface="Calibri"/>
            </a:endParaRPr>
          </a:p>
        </p:txBody>
      </p:sp>
      <p:sp>
        <p:nvSpPr>
          <p:cNvPr id="447" name="Google Shape;447;p27"/>
          <p:cNvSpPr/>
          <p:nvPr/>
        </p:nvSpPr>
        <p:spPr>
          <a:xfrm>
            <a:off x="425196" y="3291840"/>
            <a:ext cx="4046220" cy="589788"/>
          </a:xfrm>
          <a:prstGeom prst="roundRect">
            <a:avLst>
              <a:gd fmla="val 11628" name="adj"/>
            </a:avLst>
          </a:prstGeom>
          <a:solidFill>
            <a:srgbClr val="0D0F16"/>
          </a:solidFill>
          <a:ln cap="flat" cmpd="sng" w="12700">
            <a:solidFill>
              <a:srgbClr val="5B3A4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8" name="Google Shape;448;p27"/>
          <p:cNvSpPr/>
          <p:nvPr/>
        </p:nvSpPr>
        <p:spPr>
          <a:xfrm>
            <a:off x="589788" y="3429000"/>
            <a:ext cx="315468" cy="315468"/>
          </a:xfrm>
          <a:prstGeom prst="roundRect">
            <a:avLst>
              <a:gd fmla="val 23913" name="adj"/>
            </a:avLst>
          </a:prstGeom>
          <a:solidFill>
            <a:srgbClr val="331F25"/>
          </a:solidFill>
          <a:ln cap="flat" cmpd="sng" w="12700">
            <a:solidFill>
              <a:srgbClr val="9A4A4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9" name="Google Shape;449;p27"/>
          <p:cNvSpPr/>
          <p:nvPr/>
        </p:nvSpPr>
        <p:spPr>
          <a:xfrm>
            <a:off x="589788" y="3429000"/>
            <a:ext cx="315468" cy="3154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87171"/>
              </a:buClr>
              <a:buSzPts val="800"/>
              <a:buFont typeface="Courier New"/>
              <a:buNone/>
            </a:pPr>
            <a:r>
              <a:rPr b="1" i="0" lang="en" sz="800" u="none" cap="none" strike="noStrike">
                <a:solidFill>
                  <a:srgbClr val="F87171"/>
                </a:solidFill>
                <a:latin typeface="Courier New"/>
                <a:ea typeface="Courier New"/>
                <a:cs typeface="Courier New"/>
                <a:sym typeface="Courier New"/>
              </a:rPr>
              <a:t>07</a:t>
            </a:r>
            <a:endParaRPr b="0" i="0" sz="800" u="none" cap="none" strike="noStrike">
              <a:solidFill>
                <a:schemeClr val="dk1"/>
              </a:solidFill>
              <a:latin typeface="Calibri"/>
              <a:ea typeface="Calibri"/>
              <a:cs typeface="Calibri"/>
              <a:sym typeface="Calibri"/>
            </a:endParaRPr>
          </a:p>
        </p:txBody>
      </p:sp>
      <p:sp>
        <p:nvSpPr>
          <p:cNvPr id="450" name="Google Shape;450;p27"/>
          <p:cNvSpPr/>
          <p:nvPr/>
        </p:nvSpPr>
        <p:spPr>
          <a:xfrm>
            <a:off x="1028700" y="3380994"/>
            <a:ext cx="332613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i="0" lang="en" sz="900" u="none" cap="none" strike="noStrike">
                <a:solidFill>
                  <a:srgbClr val="FFFFFF"/>
                </a:solidFill>
                <a:latin typeface="Arial"/>
                <a:ea typeface="Arial"/>
                <a:cs typeface="Arial"/>
                <a:sym typeface="Arial"/>
              </a:rPr>
              <a:t>Weak Auth &amp; Authorization</a:t>
            </a:r>
            <a:endParaRPr b="0" i="0" sz="900" u="none" cap="none" strike="noStrike">
              <a:solidFill>
                <a:schemeClr val="dk1"/>
              </a:solidFill>
              <a:latin typeface="Calibri"/>
              <a:ea typeface="Calibri"/>
              <a:cs typeface="Calibri"/>
              <a:sym typeface="Calibri"/>
            </a:endParaRPr>
          </a:p>
        </p:txBody>
      </p:sp>
      <p:sp>
        <p:nvSpPr>
          <p:cNvPr id="451" name="Google Shape;451;p27"/>
          <p:cNvSpPr/>
          <p:nvPr/>
        </p:nvSpPr>
        <p:spPr>
          <a:xfrm>
            <a:off x="1028700" y="3600450"/>
            <a:ext cx="332613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0B7"/>
              </a:buClr>
              <a:buSzPts val="800"/>
              <a:buFont typeface="Arial"/>
              <a:buNone/>
            </a:pPr>
            <a:r>
              <a:rPr b="0" i="0" lang="en" sz="800" u="none" cap="none" strike="noStrike">
                <a:solidFill>
                  <a:srgbClr val="93A0B7"/>
                </a:solidFill>
                <a:latin typeface="Arial"/>
                <a:ea typeface="Arial"/>
                <a:cs typeface="Arial"/>
                <a:sym typeface="Arial"/>
              </a:rPr>
              <a:t>Car never asks who you are</a:t>
            </a:r>
            <a:endParaRPr b="0" i="0" sz="800" u="none" cap="none" strike="noStrike">
              <a:solidFill>
                <a:schemeClr val="dk1"/>
              </a:solidFill>
              <a:latin typeface="Calibri"/>
              <a:ea typeface="Calibri"/>
              <a:cs typeface="Calibri"/>
              <a:sym typeface="Calibri"/>
            </a:endParaRPr>
          </a:p>
        </p:txBody>
      </p:sp>
      <p:sp>
        <p:nvSpPr>
          <p:cNvPr id="452" name="Google Shape;452;p27"/>
          <p:cNvSpPr/>
          <p:nvPr/>
        </p:nvSpPr>
        <p:spPr>
          <a:xfrm>
            <a:off x="4663440" y="3291840"/>
            <a:ext cx="4046220" cy="589788"/>
          </a:xfrm>
          <a:prstGeom prst="roundRect">
            <a:avLst>
              <a:gd fmla="val 11628" name="adj"/>
            </a:avLst>
          </a:prstGeom>
          <a:solidFill>
            <a:srgbClr val="0D0F16"/>
          </a:solidFill>
          <a:ln cap="flat" cmpd="sng" w="12700">
            <a:solidFill>
              <a:srgbClr val="2B416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3" name="Google Shape;453;p27"/>
          <p:cNvSpPr/>
          <p:nvPr/>
        </p:nvSpPr>
        <p:spPr>
          <a:xfrm>
            <a:off x="4828032" y="3429000"/>
            <a:ext cx="315468" cy="315468"/>
          </a:xfrm>
          <a:prstGeom prst="roundRect">
            <a:avLst>
              <a:gd fmla="val 23913" name="adj"/>
            </a:avLst>
          </a:prstGeom>
          <a:solidFill>
            <a:srgbClr val="17233A"/>
          </a:solidFill>
          <a:ln cap="flat" cmpd="sng" w="12700">
            <a:solidFill>
              <a:srgbClr val="335B9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4" name="Google Shape;454;p27"/>
          <p:cNvSpPr/>
          <p:nvPr/>
        </p:nvSpPr>
        <p:spPr>
          <a:xfrm>
            <a:off x="4828032" y="3429000"/>
            <a:ext cx="315468" cy="3154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C8DF6"/>
              </a:buClr>
              <a:buSzPts val="800"/>
              <a:buFont typeface="Courier New"/>
              <a:buNone/>
            </a:pPr>
            <a:r>
              <a:rPr b="1" i="0" lang="en" sz="800" u="none" cap="none" strike="noStrike">
                <a:solidFill>
                  <a:srgbClr val="4C8DF6"/>
                </a:solidFill>
                <a:latin typeface="Courier New"/>
                <a:ea typeface="Courier New"/>
                <a:cs typeface="Courier New"/>
                <a:sym typeface="Courier New"/>
              </a:rPr>
              <a:t>08</a:t>
            </a:r>
            <a:endParaRPr b="0" i="0" sz="800" u="none" cap="none" strike="noStrike">
              <a:solidFill>
                <a:schemeClr val="dk1"/>
              </a:solidFill>
              <a:latin typeface="Calibri"/>
              <a:ea typeface="Calibri"/>
              <a:cs typeface="Calibri"/>
              <a:sym typeface="Calibri"/>
            </a:endParaRPr>
          </a:p>
        </p:txBody>
      </p:sp>
      <p:sp>
        <p:nvSpPr>
          <p:cNvPr id="455" name="Google Shape;455;p27"/>
          <p:cNvSpPr/>
          <p:nvPr/>
        </p:nvSpPr>
        <p:spPr>
          <a:xfrm>
            <a:off x="5266944" y="3380994"/>
            <a:ext cx="332613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i="0" lang="en" sz="900" u="none" cap="none" strike="noStrike">
                <a:solidFill>
                  <a:srgbClr val="FFFFFF"/>
                </a:solidFill>
                <a:latin typeface="Arial"/>
                <a:ea typeface="Arial"/>
                <a:cs typeface="Arial"/>
                <a:sym typeface="Arial"/>
              </a:rPr>
              <a:t>No Audit &amp; Telemetry</a:t>
            </a:r>
            <a:endParaRPr b="0" i="0" sz="900" u="none" cap="none" strike="noStrike">
              <a:solidFill>
                <a:schemeClr val="dk1"/>
              </a:solidFill>
              <a:latin typeface="Calibri"/>
              <a:ea typeface="Calibri"/>
              <a:cs typeface="Calibri"/>
              <a:sym typeface="Calibri"/>
            </a:endParaRPr>
          </a:p>
        </p:txBody>
      </p:sp>
      <p:sp>
        <p:nvSpPr>
          <p:cNvPr id="456" name="Google Shape;456;p27"/>
          <p:cNvSpPr/>
          <p:nvPr/>
        </p:nvSpPr>
        <p:spPr>
          <a:xfrm>
            <a:off x="5266944" y="3600450"/>
            <a:ext cx="332613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0B7"/>
              </a:buClr>
              <a:buSzPts val="800"/>
              <a:buFont typeface="Arial"/>
              <a:buNone/>
            </a:pPr>
            <a:r>
              <a:rPr b="0" i="0" lang="en" sz="800" u="none" cap="none" strike="noStrike">
                <a:solidFill>
                  <a:srgbClr val="93A0B7"/>
                </a:solidFill>
                <a:latin typeface="Arial"/>
                <a:ea typeface="Arial"/>
                <a:cs typeface="Arial"/>
                <a:sym typeface="Arial"/>
              </a:rPr>
              <a:t>No dashcam, no trip log</a:t>
            </a:r>
            <a:endParaRPr b="0" i="0" sz="800" u="none" cap="none" strike="noStrike">
              <a:solidFill>
                <a:schemeClr val="dk1"/>
              </a:solidFill>
              <a:latin typeface="Calibri"/>
              <a:ea typeface="Calibri"/>
              <a:cs typeface="Calibri"/>
              <a:sym typeface="Calibri"/>
            </a:endParaRPr>
          </a:p>
        </p:txBody>
      </p:sp>
      <p:sp>
        <p:nvSpPr>
          <p:cNvPr id="457" name="Google Shape;457;p27"/>
          <p:cNvSpPr/>
          <p:nvPr/>
        </p:nvSpPr>
        <p:spPr>
          <a:xfrm>
            <a:off x="425196" y="3977640"/>
            <a:ext cx="4046220" cy="589788"/>
          </a:xfrm>
          <a:prstGeom prst="roundRect">
            <a:avLst>
              <a:gd fmla="val 11628" name="adj"/>
            </a:avLst>
          </a:prstGeom>
          <a:solidFill>
            <a:srgbClr val="0D0F16"/>
          </a:solidFill>
          <a:ln cap="flat" cmpd="sng" w="12700">
            <a:solidFill>
              <a:srgbClr val="3D3D6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8" name="Google Shape;458;p27"/>
          <p:cNvSpPr/>
          <p:nvPr/>
        </p:nvSpPr>
        <p:spPr>
          <a:xfrm>
            <a:off x="589788" y="4114800"/>
            <a:ext cx="315468" cy="315468"/>
          </a:xfrm>
          <a:prstGeom prst="roundRect">
            <a:avLst>
              <a:gd fmla="val 23913" name="adj"/>
            </a:avLst>
          </a:prstGeom>
          <a:solidFill>
            <a:srgbClr val="21203A"/>
          </a:solidFill>
          <a:ln cap="flat" cmpd="sng" w="12700">
            <a:solidFill>
              <a:srgbClr val="59509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9" name="Google Shape;459;p27"/>
          <p:cNvSpPr/>
          <p:nvPr/>
        </p:nvSpPr>
        <p:spPr>
          <a:xfrm>
            <a:off x="589788" y="4114800"/>
            <a:ext cx="315468" cy="3154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7CF6"/>
              </a:buClr>
              <a:buSzPts val="800"/>
              <a:buFont typeface="Courier New"/>
              <a:buNone/>
            </a:pPr>
            <a:r>
              <a:rPr b="1" i="0" lang="en" sz="800" u="none" cap="none" strike="noStrike">
                <a:solidFill>
                  <a:srgbClr val="8B7CF6"/>
                </a:solidFill>
                <a:latin typeface="Courier New"/>
                <a:ea typeface="Courier New"/>
                <a:cs typeface="Courier New"/>
                <a:sym typeface="Courier New"/>
              </a:rPr>
              <a:t>09</a:t>
            </a:r>
            <a:endParaRPr b="0" i="0" sz="800" u="none" cap="none" strike="noStrike">
              <a:solidFill>
                <a:schemeClr val="dk1"/>
              </a:solidFill>
              <a:latin typeface="Calibri"/>
              <a:ea typeface="Calibri"/>
              <a:cs typeface="Calibri"/>
              <a:sym typeface="Calibri"/>
            </a:endParaRPr>
          </a:p>
        </p:txBody>
      </p:sp>
      <p:sp>
        <p:nvSpPr>
          <p:cNvPr id="460" name="Google Shape;460;p27"/>
          <p:cNvSpPr/>
          <p:nvPr/>
        </p:nvSpPr>
        <p:spPr>
          <a:xfrm>
            <a:off x="1028700" y="4066794"/>
            <a:ext cx="332613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i="0" lang="en" sz="900" u="none" cap="none" strike="noStrike">
                <a:solidFill>
                  <a:srgbClr val="FFFFFF"/>
                </a:solidFill>
                <a:latin typeface="Arial"/>
                <a:ea typeface="Arial"/>
                <a:cs typeface="Arial"/>
                <a:sym typeface="Arial"/>
              </a:rPr>
              <a:t>Shadow MCP Servers</a:t>
            </a:r>
            <a:endParaRPr b="0" i="0" sz="900" u="none" cap="none" strike="noStrike">
              <a:solidFill>
                <a:schemeClr val="dk1"/>
              </a:solidFill>
              <a:latin typeface="Calibri"/>
              <a:ea typeface="Calibri"/>
              <a:cs typeface="Calibri"/>
              <a:sym typeface="Calibri"/>
            </a:endParaRPr>
          </a:p>
        </p:txBody>
      </p:sp>
      <p:sp>
        <p:nvSpPr>
          <p:cNvPr id="461" name="Google Shape;461;p27"/>
          <p:cNvSpPr/>
          <p:nvPr/>
        </p:nvSpPr>
        <p:spPr>
          <a:xfrm>
            <a:off x="1028700" y="4286250"/>
            <a:ext cx="332613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0B7"/>
              </a:buClr>
              <a:buSzPts val="800"/>
              <a:buFont typeface="Arial"/>
              <a:buNone/>
            </a:pPr>
            <a:r>
              <a:rPr b="0" i="0" lang="en" sz="800" u="none" cap="none" strike="noStrike">
                <a:solidFill>
                  <a:srgbClr val="93A0B7"/>
                </a:solidFill>
                <a:latin typeface="Arial"/>
                <a:ea typeface="Arial"/>
                <a:cs typeface="Arial"/>
                <a:sym typeface="Arial"/>
              </a:rPr>
              <a:t>Test tracker never removed</a:t>
            </a:r>
            <a:endParaRPr b="0" i="0" sz="800" u="none" cap="none" strike="noStrike">
              <a:solidFill>
                <a:schemeClr val="dk1"/>
              </a:solidFill>
              <a:latin typeface="Calibri"/>
              <a:ea typeface="Calibri"/>
              <a:cs typeface="Calibri"/>
              <a:sym typeface="Calibri"/>
            </a:endParaRPr>
          </a:p>
        </p:txBody>
      </p:sp>
      <p:sp>
        <p:nvSpPr>
          <p:cNvPr id="462" name="Google Shape;462;p27"/>
          <p:cNvSpPr/>
          <p:nvPr/>
        </p:nvSpPr>
        <p:spPr>
          <a:xfrm>
            <a:off x="4663440" y="3977640"/>
            <a:ext cx="4046220" cy="589788"/>
          </a:xfrm>
          <a:prstGeom prst="roundRect">
            <a:avLst>
              <a:gd fmla="val 11628" name="adj"/>
            </a:avLst>
          </a:prstGeom>
          <a:solidFill>
            <a:srgbClr val="0D0F16"/>
          </a:solidFill>
          <a:ln cap="flat" cmpd="sng" w="12700">
            <a:solidFill>
              <a:srgbClr val="5C4F2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3" name="Google Shape;463;p27"/>
          <p:cNvSpPr/>
          <p:nvPr/>
        </p:nvSpPr>
        <p:spPr>
          <a:xfrm>
            <a:off x="4828032" y="4114800"/>
            <a:ext cx="315468" cy="315468"/>
          </a:xfrm>
          <a:prstGeom prst="roundRect">
            <a:avLst>
              <a:gd fmla="val 23913" name="adj"/>
            </a:avLst>
          </a:prstGeom>
          <a:solidFill>
            <a:srgbClr val="332B18"/>
          </a:solidFill>
          <a:ln cap="flat" cmpd="sng" w="12700">
            <a:solidFill>
              <a:srgbClr val="9C791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4" name="Google Shape;464;p27"/>
          <p:cNvSpPr/>
          <p:nvPr/>
        </p:nvSpPr>
        <p:spPr>
          <a:xfrm>
            <a:off x="4828032" y="4114800"/>
            <a:ext cx="315468" cy="3154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BBF24"/>
              </a:buClr>
              <a:buSzPts val="800"/>
              <a:buFont typeface="Courier New"/>
              <a:buNone/>
            </a:pPr>
            <a:r>
              <a:rPr b="1" i="0" lang="en" sz="800" u="none" cap="none" strike="noStrike">
                <a:solidFill>
                  <a:srgbClr val="FBBF24"/>
                </a:solidFill>
                <a:latin typeface="Courier New"/>
                <a:ea typeface="Courier New"/>
                <a:cs typeface="Courier New"/>
                <a:sym typeface="Courier New"/>
              </a:rPr>
              <a:t>10</a:t>
            </a:r>
            <a:endParaRPr b="0" i="0" sz="800" u="none" cap="none" strike="noStrike">
              <a:solidFill>
                <a:schemeClr val="dk1"/>
              </a:solidFill>
              <a:latin typeface="Calibri"/>
              <a:ea typeface="Calibri"/>
              <a:cs typeface="Calibri"/>
              <a:sym typeface="Calibri"/>
            </a:endParaRPr>
          </a:p>
        </p:txBody>
      </p:sp>
      <p:sp>
        <p:nvSpPr>
          <p:cNvPr id="465" name="Google Shape;465;p27"/>
          <p:cNvSpPr/>
          <p:nvPr/>
        </p:nvSpPr>
        <p:spPr>
          <a:xfrm>
            <a:off x="5266944" y="4066794"/>
            <a:ext cx="332613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i="0" lang="en" sz="900" u="none" cap="none" strike="noStrike">
                <a:solidFill>
                  <a:srgbClr val="FFFFFF"/>
                </a:solidFill>
                <a:latin typeface="Arial"/>
                <a:ea typeface="Arial"/>
                <a:cs typeface="Arial"/>
                <a:sym typeface="Arial"/>
              </a:rPr>
              <a:t>Context Over-Sharing</a:t>
            </a:r>
            <a:endParaRPr b="0" i="0" sz="900" u="none" cap="none" strike="noStrike">
              <a:solidFill>
                <a:schemeClr val="dk1"/>
              </a:solidFill>
              <a:latin typeface="Calibri"/>
              <a:ea typeface="Calibri"/>
              <a:cs typeface="Calibri"/>
              <a:sym typeface="Calibri"/>
            </a:endParaRPr>
          </a:p>
        </p:txBody>
      </p:sp>
      <p:sp>
        <p:nvSpPr>
          <p:cNvPr id="466" name="Google Shape;466;p27"/>
          <p:cNvSpPr/>
          <p:nvPr/>
        </p:nvSpPr>
        <p:spPr>
          <a:xfrm>
            <a:off x="5266944" y="4286250"/>
            <a:ext cx="332613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0B7"/>
              </a:buClr>
              <a:buSzPts val="800"/>
              <a:buFont typeface="Arial"/>
              <a:buNone/>
            </a:pPr>
            <a:r>
              <a:rPr b="0" i="0" lang="en" sz="800" u="none" cap="none" strike="noStrike">
                <a:solidFill>
                  <a:srgbClr val="93A0B7"/>
                </a:solidFill>
                <a:latin typeface="Arial"/>
                <a:ea typeface="Arial"/>
                <a:cs typeface="Arial"/>
                <a:sym typeface="Arial"/>
              </a:rPr>
              <a:t>Rental keeps the last driver</a:t>
            </a:r>
            <a:endParaRPr b="0" i="0" sz="800" u="none" cap="none" strike="noStrike">
              <a:solidFill>
                <a:schemeClr val="dk1"/>
              </a:solidFill>
              <a:latin typeface="Calibri"/>
              <a:ea typeface="Calibri"/>
              <a:cs typeface="Calibri"/>
              <a:sym typeface="Calibri"/>
            </a:endParaRPr>
          </a:p>
        </p:txBody>
      </p:sp>
      <p:sp>
        <p:nvSpPr>
          <p:cNvPr id="467" name="Google Shape;467;p27"/>
          <p:cNvSpPr/>
          <p:nvPr/>
        </p:nvSpPr>
        <p:spPr>
          <a:xfrm>
            <a:off x="617220" y="4704588"/>
            <a:ext cx="7886700" cy="288036"/>
          </a:xfrm>
          <a:prstGeom prst="rect">
            <a:avLst/>
          </a:prstGeom>
          <a:noFill/>
          <a:ln>
            <a:noFill/>
          </a:ln>
        </p:spPr>
        <p:txBody>
          <a:bodyPr anchorCtr="0" anchor="ctr" bIns="0" lIns="0" spcFirstLastPara="1" rIns="0" wrap="square" tIns="0">
            <a:noAutofit/>
          </a:bodyPr>
          <a:lstStyle/>
          <a:p>
            <a:pPr indent="0" lvl="0" marL="0" marR="0" rtl="0" algn="ctr">
              <a:lnSpc>
                <a:spcPct val="118000"/>
              </a:lnSpc>
              <a:spcBef>
                <a:spcPts val="0"/>
              </a:spcBef>
              <a:spcAft>
                <a:spcPts val="0"/>
              </a:spcAft>
              <a:buClr>
                <a:srgbClr val="6E7A93"/>
              </a:buClr>
              <a:buSzPts val="600"/>
              <a:buFont typeface="Courier New"/>
              <a:buNone/>
            </a:pPr>
            <a:r>
              <a:rPr b="0" i="0" lang="en" sz="600" u="none" cap="none" strike="noStrike">
                <a:solidFill>
                  <a:srgbClr val="6E7A93"/>
                </a:solidFill>
                <a:latin typeface="Courier New"/>
                <a:ea typeface="Courier New"/>
                <a:cs typeface="Courier New"/>
                <a:sym typeface="Courier New"/>
              </a:rPr>
              <a:t>Short-lived keys · One job, one key · Verified tools · Trusted parts · No shell · Fetched text is data · Auth every call · Log everything · Nothing unlisted · Wipe between users</a:t>
            </a:r>
            <a:endParaRPr b="0" i="0" sz="6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72" name="Shape 472"/>
        <p:cNvGrpSpPr/>
        <p:nvPr/>
      </p:nvGrpSpPr>
      <p:grpSpPr>
        <a:xfrm>
          <a:off x="0" y="0"/>
          <a:ext cx="0" cy="0"/>
          <a:chOff x="0" y="0"/>
          <a:chExt cx="0" cy="0"/>
        </a:xfrm>
      </p:grpSpPr>
      <p:sp>
        <p:nvSpPr>
          <p:cNvPr id="473" name="Google Shape;473;p28"/>
          <p:cNvSpPr/>
          <p:nvPr/>
        </p:nvSpPr>
        <p:spPr>
          <a:xfrm>
            <a:off x="425196" y="384048"/>
            <a:ext cx="1565100" cy="212700"/>
          </a:xfrm>
          <a:prstGeom prst="roundRect">
            <a:avLst>
              <a:gd fmla="val 29032" name="adj"/>
            </a:avLst>
          </a:prstGeom>
          <a:solidFill>
            <a:srgbClr val="0B222A"/>
          </a:solidFill>
          <a:ln cap="flat" cmpd="sng" w="12700">
            <a:solidFill>
              <a:srgbClr val="167889"/>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22D3EE"/>
              </a:buClr>
              <a:buSzPts val="800"/>
              <a:buFont typeface="Courier New"/>
              <a:buNone/>
            </a:pPr>
            <a:r>
              <a:rPr b="1" i="0" lang="en" sz="800" u="none" cap="none" strike="noStrike">
                <a:solidFill>
                  <a:srgbClr val="22D3EE"/>
                </a:solidFill>
                <a:latin typeface="Courier New"/>
                <a:ea typeface="Courier New"/>
                <a:cs typeface="Courier New"/>
                <a:sym typeface="Courier New"/>
              </a:rPr>
              <a:t>THE PRE-</a:t>
            </a:r>
            <a:r>
              <a:rPr b="1" lang="en" sz="800">
                <a:solidFill>
                  <a:srgbClr val="22D3EE"/>
                </a:solidFill>
                <a:latin typeface="Courier New"/>
                <a:ea typeface="Courier New"/>
                <a:cs typeface="Courier New"/>
                <a:sym typeface="Courier New"/>
              </a:rPr>
              <a:t>CTF</a:t>
            </a:r>
            <a:r>
              <a:rPr b="1" i="0" lang="en" sz="800" u="none" cap="none" strike="noStrike">
                <a:solidFill>
                  <a:srgbClr val="22D3EE"/>
                </a:solidFill>
                <a:latin typeface="Courier New"/>
                <a:ea typeface="Courier New"/>
                <a:cs typeface="Courier New"/>
                <a:sym typeface="Courier New"/>
              </a:rPr>
              <a:t> CHECK</a:t>
            </a:r>
            <a:endParaRPr b="0" i="0" sz="800" u="none" cap="none" strike="noStrike">
              <a:solidFill>
                <a:schemeClr val="dk1"/>
              </a:solidFill>
              <a:latin typeface="Calibri"/>
              <a:ea typeface="Calibri"/>
              <a:cs typeface="Calibri"/>
              <a:sym typeface="Calibri"/>
            </a:endParaRPr>
          </a:p>
        </p:txBody>
      </p:sp>
      <p:sp>
        <p:nvSpPr>
          <p:cNvPr id="474" name="Google Shape;474;p28"/>
          <p:cNvSpPr/>
          <p:nvPr/>
        </p:nvSpPr>
        <p:spPr>
          <a:xfrm>
            <a:off x="425196" y="672084"/>
            <a:ext cx="5143500" cy="48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400"/>
              <a:buFont typeface="Arial"/>
              <a:buNone/>
            </a:pPr>
            <a:r>
              <a:rPr b="1" lang="en" sz="2400">
                <a:solidFill>
                  <a:srgbClr val="34D399"/>
                </a:solidFill>
              </a:rPr>
              <a:t>Dos</a:t>
            </a:r>
            <a:r>
              <a:rPr b="1" lang="en" sz="2400">
                <a:solidFill>
                  <a:srgbClr val="FFFFFF"/>
                </a:solidFill>
              </a:rPr>
              <a:t> and</a:t>
            </a:r>
            <a:r>
              <a:rPr b="1" i="0" lang="en" sz="2400" u="none" cap="none" strike="noStrike">
                <a:solidFill>
                  <a:srgbClr val="FFFFFF"/>
                </a:solidFill>
                <a:latin typeface="Arial"/>
                <a:ea typeface="Arial"/>
                <a:cs typeface="Arial"/>
                <a:sym typeface="Arial"/>
              </a:rPr>
              <a:t> </a:t>
            </a:r>
            <a:r>
              <a:rPr b="1" lang="en" sz="2400">
                <a:solidFill>
                  <a:srgbClr val="F87171"/>
                </a:solidFill>
              </a:rPr>
              <a:t>Don’ts</a:t>
            </a:r>
            <a:endParaRPr b="1" sz="2400">
              <a:solidFill>
                <a:srgbClr val="F87171"/>
              </a:solidFill>
            </a:endParaRPr>
          </a:p>
        </p:txBody>
      </p:sp>
      <p:sp>
        <p:nvSpPr>
          <p:cNvPr id="475" name="Google Shape;475;p28"/>
          <p:cNvSpPr/>
          <p:nvPr/>
        </p:nvSpPr>
        <p:spPr>
          <a:xfrm>
            <a:off x="5760720" y="740664"/>
            <a:ext cx="3017400" cy="34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0B7"/>
              </a:buClr>
              <a:buSzPts val="900"/>
              <a:buFont typeface="Arial"/>
              <a:buNone/>
            </a:pPr>
            <a:r>
              <a:rPr b="0" i="1" lang="en" sz="900" u="none" cap="none" strike="noStrike">
                <a:solidFill>
                  <a:srgbClr val="93A0B7"/>
                </a:solidFill>
                <a:latin typeface="Arial"/>
                <a:ea typeface="Arial"/>
                <a:cs typeface="Arial"/>
                <a:sym typeface="Arial"/>
              </a:rPr>
              <a:t>If you remember nothing else, remember not to bruteforce</a:t>
            </a:r>
            <a:r>
              <a:rPr b="0" i="1" lang="en" sz="900" u="none" cap="none" strike="noStrike">
                <a:solidFill>
                  <a:srgbClr val="93A0B7"/>
                </a:solidFill>
                <a:latin typeface="Arial"/>
                <a:ea typeface="Arial"/>
                <a:cs typeface="Arial"/>
                <a:sym typeface="Arial"/>
              </a:rPr>
              <a:t>.</a:t>
            </a:r>
            <a:endParaRPr b="0" i="0" sz="900" u="none" cap="none" strike="noStrike">
              <a:solidFill>
                <a:schemeClr val="dk1"/>
              </a:solidFill>
              <a:latin typeface="Calibri"/>
              <a:ea typeface="Calibri"/>
              <a:cs typeface="Calibri"/>
              <a:sym typeface="Calibri"/>
            </a:endParaRPr>
          </a:p>
        </p:txBody>
      </p:sp>
      <p:sp>
        <p:nvSpPr>
          <p:cNvPr id="476" name="Google Shape;476;p28"/>
          <p:cNvSpPr/>
          <p:nvPr/>
        </p:nvSpPr>
        <p:spPr>
          <a:xfrm>
            <a:off x="425196" y="1402178"/>
            <a:ext cx="4046100" cy="589800"/>
          </a:xfrm>
          <a:prstGeom prst="roundRect">
            <a:avLst>
              <a:gd fmla="val 11628" name="adj"/>
            </a:avLst>
          </a:prstGeom>
          <a:solidFill>
            <a:srgbClr val="0D0F16"/>
          </a:solidFill>
          <a:ln cap="flat" cmpd="sng" w="12700">
            <a:solidFill>
              <a:srgbClr val="5B3A4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77" name="Google Shape;477;p28"/>
          <p:cNvSpPr/>
          <p:nvPr/>
        </p:nvSpPr>
        <p:spPr>
          <a:xfrm>
            <a:off x="589788" y="1539288"/>
            <a:ext cx="315600" cy="315600"/>
          </a:xfrm>
          <a:prstGeom prst="roundRect">
            <a:avLst>
              <a:gd fmla="val 23913" name="adj"/>
            </a:avLst>
          </a:prstGeom>
          <a:solidFill>
            <a:srgbClr val="331F25"/>
          </a:solidFill>
          <a:ln cap="flat" cmpd="sng" w="12700">
            <a:solidFill>
              <a:srgbClr val="9A4A4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78" name="Google Shape;478;p28"/>
          <p:cNvSpPr/>
          <p:nvPr/>
        </p:nvSpPr>
        <p:spPr>
          <a:xfrm>
            <a:off x="589788" y="1539338"/>
            <a:ext cx="315600" cy="31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87171"/>
              </a:buClr>
              <a:buSzPts val="800"/>
              <a:buFont typeface="Courier New"/>
              <a:buNone/>
            </a:pPr>
            <a:r>
              <a:rPr b="1" i="0" lang="en" sz="800" u="none" cap="none" strike="noStrike">
                <a:solidFill>
                  <a:srgbClr val="F87171"/>
                </a:solidFill>
                <a:latin typeface="Courier New"/>
                <a:ea typeface="Courier New"/>
                <a:cs typeface="Courier New"/>
                <a:sym typeface="Courier New"/>
              </a:rPr>
              <a:t>01</a:t>
            </a:r>
            <a:endParaRPr b="0" i="0" sz="800" u="none" cap="none" strike="noStrike">
              <a:solidFill>
                <a:schemeClr val="dk1"/>
              </a:solidFill>
              <a:latin typeface="Calibri"/>
              <a:ea typeface="Calibri"/>
              <a:cs typeface="Calibri"/>
              <a:sym typeface="Calibri"/>
            </a:endParaRPr>
          </a:p>
        </p:txBody>
      </p:sp>
      <p:sp>
        <p:nvSpPr>
          <p:cNvPr id="479" name="Google Shape;479;p28"/>
          <p:cNvSpPr/>
          <p:nvPr/>
        </p:nvSpPr>
        <p:spPr>
          <a:xfrm>
            <a:off x="1028700" y="1491331"/>
            <a:ext cx="33261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lang="en" sz="900">
                <a:solidFill>
                  <a:srgbClr val="FFFFFF"/>
                </a:solidFill>
              </a:rPr>
              <a:t>No Bruteforce</a:t>
            </a:r>
            <a:endParaRPr b="0" i="0" sz="900" u="none" cap="none" strike="noStrike">
              <a:solidFill>
                <a:schemeClr val="dk1"/>
              </a:solidFill>
              <a:latin typeface="Calibri"/>
              <a:ea typeface="Calibri"/>
              <a:cs typeface="Calibri"/>
              <a:sym typeface="Calibri"/>
            </a:endParaRPr>
          </a:p>
        </p:txBody>
      </p:sp>
      <p:sp>
        <p:nvSpPr>
          <p:cNvPr id="480" name="Google Shape;480;p28"/>
          <p:cNvSpPr/>
          <p:nvPr/>
        </p:nvSpPr>
        <p:spPr>
          <a:xfrm>
            <a:off x="1028700" y="1710788"/>
            <a:ext cx="33261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0B7"/>
              </a:buClr>
              <a:buSzPts val="800"/>
              <a:buFont typeface="Arial"/>
              <a:buNone/>
            </a:pPr>
            <a:r>
              <a:rPr lang="en" sz="800">
                <a:solidFill>
                  <a:srgbClr val="93A0B7"/>
                </a:solidFill>
              </a:rPr>
              <a:t>LLM endpoint is not designed to process bruteforce attempts</a:t>
            </a:r>
            <a:endParaRPr b="0" i="0" sz="800" u="none" cap="none" strike="noStrike">
              <a:solidFill>
                <a:schemeClr val="dk1"/>
              </a:solidFill>
              <a:latin typeface="Calibri"/>
              <a:ea typeface="Calibri"/>
              <a:cs typeface="Calibri"/>
              <a:sym typeface="Calibri"/>
            </a:endParaRPr>
          </a:p>
        </p:txBody>
      </p:sp>
      <p:sp>
        <p:nvSpPr>
          <p:cNvPr id="481" name="Google Shape;481;p28"/>
          <p:cNvSpPr/>
          <p:nvPr/>
        </p:nvSpPr>
        <p:spPr>
          <a:xfrm>
            <a:off x="4634740" y="1393897"/>
            <a:ext cx="4046100" cy="589800"/>
          </a:xfrm>
          <a:prstGeom prst="roundRect">
            <a:avLst>
              <a:gd fmla="val 11628" name="adj"/>
            </a:avLst>
          </a:prstGeom>
          <a:solidFill>
            <a:srgbClr val="0D0F16"/>
          </a:solidFill>
          <a:ln cap="flat" cmpd="sng" w="12700">
            <a:solidFill>
              <a:srgbClr val="5C4F2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82" name="Google Shape;482;p28"/>
          <p:cNvSpPr/>
          <p:nvPr/>
        </p:nvSpPr>
        <p:spPr>
          <a:xfrm>
            <a:off x="4799332" y="1531057"/>
            <a:ext cx="315600" cy="315600"/>
          </a:xfrm>
          <a:prstGeom prst="roundRect">
            <a:avLst>
              <a:gd fmla="val 23913" name="adj"/>
            </a:avLst>
          </a:prstGeom>
          <a:solidFill>
            <a:srgbClr val="332B18"/>
          </a:solidFill>
          <a:ln cap="flat" cmpd="sng" w="12700">
            <a:solidFill>
              <a:srgbClr val="9C791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83" name="Google Shape;483;p28"/>
          <p:cNvSpPr/>
          <p:nvPr/>
        </p:nvSpPr>
        <p:spPr>
          <a:xfrm>
            <a:off x="4799332" y="1531057"/>
            <a:ext cx="315600" cy="31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BBF24"/>
              </a:buClr>
              <a:buSzPts val="800"/>
              <a:buFont typeface="Courier New"/>
              <a:buNone/>
            </a:pPr>
            <a:r>
              <a:rPr b="1" i="0" lang="en" sz="800" u="none" cap="none" strike="noStrike">
                <a:solidFill>
                  <a:srgbClr val="FBBF24"/>
                </a:solidFill>
                <a:latin typeface="Courier New"/>
                <a:ea typeface="Courier New"/>
                <a:cs typeface="Courier New"/>
                <a:sym typeface="Courier New"/>
              </a:rPr>
              <a:t>02</a:t>
            </a:r>
            <a:endParaRPr b="0" i="0" sz="800" u="none" cap="none" strike="noStrike">
              <a:solidFill>
                <a:schemeClr val="dk1"/>
              </a:solidFill>
              <a:latin typeface="Calibri"/>
              <a:ea typeface="Calibri"/>
              <a:cs typeface="Calibri"/>
              <a:sym typeface="Calibri"/>
            </a:endParaRPr>
          </a:p>
        </p:txBody>
      </p:sp>
      <p:sp>
        <p:nvSpPr>
          <p:cNvPr id="484" name="Google Shape;484;p28"/>
          <p:cNvSpPr/>
          <p:nvPr/>
        </p:nvSpPr>
        <p:spPr>
          <a:xfrm>
            <a:off x="5238244" y="1469044"/>
            <a:ext cx="33261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lang="en" sz="900">
                <a:solidFill>
                  <a:srgbClr val="FFFFFF"/>
                </a:solidFill>
              </a:rPr>
              <a:t>No AI Autopiloting </a:t>
            </a:r>
            <a:endParaRPr b="0" i="0" sz="900" u="none" cap="none" strike="noStrike">
              <a:solidFill>
                <a:schemeClr val="dk1"/>
              </a:solidFill>
              <a:latin typeface="Calibri"/>
              <a:ea typeface="Calibri"/>
              <a:cs typeface="Calibri"/>
              <a:sym typeface="Calibri"/>
            </a:endParaRPr>
          </a:p>
        </p:txBody>
      </p:sp>
      <p:sp>
        <p:nvSpPr>
          <p:cNvPr id="485" name="Google Shape;485;p28"/>
          <p:cNvSpPr/>
          <p:nvPr/>
        </p:nvSpPr>
        <p:spPr>
          <a:xfrm>
            <a:off x="5238244" y="1702507"/>
            <a:ext cx="33261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0B7"/>
              </a:buClr>
              <a:buSzPts val="800"/>
              <a:buFont typeface="Arial"/>
              <a:buNone/>
            </a:pPr>
            <a:r>
              <a:rPr lang="en" sz="800">
                <a:solidFill>
                  <a:srgbClr val="93A0B7"/>
                </a:solidFill>
              </a:rPr>
              <a:t>Use AI as companion to better understand the vulnerabilities</a:t>
            </a:r>
            <a:endParaRPr b="0" i="0" sz="800" u="none" cap="none" strike="noStrike">
              <a:solidFill>
                <a:schemeClr val="dk1"/>
              </a:solidFill>
              <a:latin typeface="Calibri"/>
              <a:ea typeface="Calibri"/>
              <a:cs typeface="Calibri"/>
              <a:sym typeface="Calibri"/>
            </a:endParaRPr>
          </a:p>
        </p:txBody>
      </p:sp>
      <p:sp>
        <p:nvSpPr>
          <p:cNvPr id="486" name="Google Shape;486;p28"/>
          <p:cNvSpPr/>
          <p:nvPr/>
        </p:nvSpPr>
        <p:spPr>
          <a:xfrm>
            <a:off x="425190" y="2088390"/>
            <a:ext cx="4046100" cy="589800"/>
          </a:xfrm>
          <a:prstGeom prst="roundRect">
            <a:avLst>
              <a:gd fmla="val 11628" name="adj"/>
            </a:avLst>
          </a:prstGeom>
          <a:solidFill>
            <a:srgbClr val="0D0F16"/>
          </a:solidFill>
          <a:ln cap="flat" cmpd="sng" w="12700">
            <a:solidFill>
              <a:srgbClr val="2B416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87" name="Google Shape;487;p28"/>
          <p:cNvSpPr/>
          <p:nvPr/>
        </p:nvSpPr>
        <p:spPr>
          <a:xfrm>
            <a:off x="589782" y="2225550"/>
            <a:ext cx="315600" cy="315600"/>
          </a:xfrm>
          <a:prstGeom prst="roundRect">
            <a:avLst>
              <a:gd fmla="val 23913" name="adj"/>
            </a:avLst>
          </a:prstGeom>
          <a:solidFill>
            <a:srgbClr val="17233A"/>
          </a:solidFill>
          <a:ln cap="flat" cmpd="sng" w="12700">
            <a:solidFill>
              <a:srgbClr val="335B9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88" name="Google Shape;488;p28"/>
          <p:cNvSpPr/>
          <p:nvPr/>
        </p:nvSpPr>
        <p:spPr>
          <a:xfrm>
            <a:off x="589782" y="2225550"/>
            <a:ext cx="315600" cy="31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C8DF6"/>
              </a:buClr>
              <a:buSzPts val="800"/>
              <a:buFont typeface="Courier New"/>
              <a:buNone/>
            </a:pPr>
            <a:r>
              <a:rPr b="1" i="0" lang="en" sz="800" u="none" cap="none" strike="noStrike">
                <a:solidFill>
                  <a:srgbClr val="4C8DF6"/>
                </a:solidFill>
                <a:latin typeface="Courier New"/>
                <a:ea typeface="Courier New"/>
                <a:cs typeface="Courier New"/>
                <a:sym typeface="Courier New"/>
              </a:rPr>
              <a:t>0</a:t>
            </a:r>
            <a:r>
              <a:rPr b="1" lang="en" sz="800">
                <a:solidFill>
                  <a:srgbClr val="4C8DF6"/>
                </a:solidFill>
                <a:latin typeface="Courier New"/>
                <a:ea typeface="Courier New"/>
                <a:cs typeface="Courier New"/>
                <a:sym typeface="Courier New"/>
              </a:rPr>
              <a:t>3</a:t>
            </a:r>
            <a:endParaRPr b="0" i="0" sz="800" u="none" cap="none" strike="noStrike">
              <a:solidFill>
                <a:schemeClr val="dk1"/>
              </a:solidFill>
              <a:latin typeface="Calibri"/>
              <a:ea typeface="Calibri"/>
              <a:cs typeface="Calibri"/>
              <a:sym typeface="Calibri"/>
            </a:endParaRPr>
          </a:p>
        </p:txBody>
      </p:sp>
      <p:sp>
        <p:nvSpPr>
          <p:cNvPr id="489" name="Google Shape;489;p28"/>
          <p:cNvSpPr/>
          <p:nvPr/>
        </p:nvSpPr>
        <p:spPr>
          <a:xfrm>
            <a:off x="1028694" y="2177544"/>
            <a:ext cx="3326100" cy="21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900"/>
              <a:buFont typeface="Arial"/>
              <a:buNone/>
            </a:pPr>
            <a:r>
              <a:rPr b="1" lang="en" sz="900">
                <a:solidFill>
                  <a:schemeClr val="lt1"/>
                </a:solidFill>
              </a:rPr>
              <a:t>Re-send Or Fresh Start</a:t>
            </a:r>
            <a:endParaRPr/>
          </a:p>
        </p:txBody>
      </p:sp>
      <p:sp>
        <p:nvSpPr>
          <p:cNvPr id="490" name="Google Shape;490;p28"/>
          <p:cNvSpPr/>
          <p:nvPr/>
        </p:nvSpPr>
        <p:spPr>
          <a:xfrm>
            <a:off x="1028694" y="2397000"/>
            <a:ext cx="33261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0B7"/>
              </a:buClr>
              <a:buSzPts val="800"/>
              <a:buFont typeface="Arial"/>
              <a:buNone/>
            </a:pPr>
            <a:r>
              <a:rPr lang="en" sz="800">
                <a:solidFill>
                  <a:srgbClr val="93A0B7"/>
                </a:solidFill>
              </a:rPr>
              <a:t>LLM is always unpredictable</a:t>
            </a:r>
            <a:endParaRPr b="0" i="0" sz="800" u="none" cap="none" strike="noStrike">
              <a:solidFill>
                <a:schemeClr val="dk1"/>
              </a:solidFill>
              <a:latin typeface="Calibri"/>
              <a:ea typeface="Calibri"/>
              <a:cs typeface="Calibri"/>
              <a:sym typeface="Calibri"/>
            </a:endParaRPr>
          </a:p>
        </p:txBody>
      </p:sp>
      <p:sp>
        <p:nvSpPr>
          <p:cNvPr id="491" name="Google Shape;491;p28"/>
          <p:cNvSpPr/>
          <p:nvPr/>
        </p:nvSpPr>
        <p:spPr>
          <a:xfrm>
            <a:off x="4634746" y="2088340"/>
            <a:ext cx="4046100" cy="589800"/>
          </a:xfrm>
          <a:prstGeom prst="roundRect">
            <a:avLst>
              <a:gd fmla="val 11628" name="adj"/>
            </a:avLst>
          </a:prstGeom>
          <a:solidFill>
            <a:srgbClr val="0D0F16"/>
          </a:solidFill>
          <a:ln cap="flat" cmpd="sng" w="12700">
            <a:solidFill>
              <a:srgbClr val="3D3D6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92" name="Google Shape;492;p28"/>
          <p:cNvSpPr/>
          <p:nvPr/>
        </p:nvSpPr>
        <p:spPr>
          <a:xfrm>
            <a:off x="4799338" y="2225500"/>
            <a:ext cx="315600" cy="315600"/>
          </a:xfrm>
          <a:prstGeom prst="roundRect">
            <a:avLst>
              <a:gd fmla="val 23913" name="adj"/>
            </a:avLst>
          </a:prstGeom>
          <a:solidFill>
            <a:srgbClr val="21203A"/>
          </a:solidFill>
          <a:ln cap="flat" cmpd="sng" w="12700">
            <a:solidFill>
              <a:srgbClr val="59509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93" name="Google Shape;493;p28"/>
          <p:cNvSpPr/>
          <p:nvPr/>
        </p:nvSpPr>
        <p:spPr>
          <a:xfrm>
            <a:off x="4799338" y="2225500"/>
            <a:ext cx="315600" cy="31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7CF6"/>
              </a:buClr>
              <a:buSzPts val="800"/>
              <a:buFont typeface="Courier New"/>
              <a:buNone/>
            </a:pPr>
            <a:r>
              <a:rPr b="1" i="0" lang="en" sz="800" u="none" cap="none" strike="noStrike">
                <a:solidFill>
                  <a:srgbClr val="8B7CF6"/>
                </a:solidFill>
                <a:latin typeface="Courier New"/>
                <a:ea typeface="Courier New"/>
                <a:cs typeface="Courier New"/>
                <a:sym typeface="Courier New"/>
              </a:rPr>
              <a:t>0</a:t>
            </a:r>
            <a:r>
              <a:rPr b="1" lang="en" sz="800">
                <a:solidFill>
                  <a:srgbClr val="8B7CF6"/>
                </a:solidFill>
                <a:latin typeface="Courier New"/>
                <a:ea typeface="Courier New"/>
                <a:cs typeface="Courier New"/>
                <a:sym typeface="Courier New"/>
              </a:rPr>
              <a:t>4</a:t>
            </a:r>
            <a:endParaRPr b="0" i="0" sz="800" u="none" cap="none" strike="noStrike">
              <a:solidFill>
                <a:schemeClr val="dk1"/>
              </a:solidFill>
              <a:latin typeface="Calibri"/>
              <a:ea typeface="Calibri"/>
              <a:cs typeface="Calibri"/>
              <a:sym typeface="Calibri"/>
            </a:endParaRPr>
          </a:p>
        </p:txBody>
      </p:sp>
      <p:sp>
        <p:nvSpPr>
          <p:cNvPr id="494" name="Google Shape;494;p28"/>
          <p:cNvSpPr/>
          <p:nvPr/>
        </p:nvSpPr>
        <p:spPr>
          <a:xfrm>
            <a:off x="5238250" y="2177494"/>
            <a:ext cx="3326100" cy="21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900"/>
              <a:buFont typeface="Arial"/>
              <a:buNone/>
            </a:pPr>
            <a:r>
              <a:rPr b="1" lang="en" sz="900">
                <a:solidFill>
                  <a:schemeClr val="lt1"/>
                </a:solidFill>
              </a:rPr>
              <a:t>Dos</a:t>
            </a:r>
            <a:endParaRPr b="0" i="0" sz="900" u="none" cap="none" strike="noStrike">
              <a:solidFill>
                <a:schemeClr val="dk1"/>
              </a:solidFill>
              <a:latin typeface="Calibri"/>
              <a:ea typeface="Calibri"/>
              <a:cs typeface="Calibri"/>
              <a:sym typeface="Calibri"/>
            </a:endParaRPr>
          </a:p>
        </p:txBody>
      </p:sp>
      <p:sp>
        <p:nvSpPr>
          <p:cNvPr id="495" name="Google Shape;495;p28"/>
          <p:cNvSpPr/>
          <p:nvPr/>
        </p:nvSpPr>
        <p:spPr>
          <a:xfrm>
            <a:off x="5238250" y="2396950"/>
            <a:ext cx="3326100" cy="20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93A0B7"/>
              </a:buClr>
              <a:buSzPts val="800"/>
              <a:buFont typeface="Arial"/>
              <a:buNone/>
            </a:pPr>
            <a:r>
              <a:rPr lang="en" sz="800">
                <a:solidFill>
                  <a:srgbClr val="93A0B7"/>
                </a:solidFill>
              </a:rPr>
              <a:t>Everything except for Don’ts</a:t>
            </a:r>
            <a:endParaRPr b="0" i="0" sz="800" u="none" cap="none" strike="noStrike">
              <a:solidFill>
                <a:schemeClr val="dk1"/>
              </a:solidFill>
              <a:latin typeface="Calibri"/>
              <a:ea typeface="Calibri"/>
              <a:cs typeface="Calibri"/>
              <a:sym typeface="Calibri"/>
            </a:endParaRPr>
          </a:p>
        </p:txBody>
      </p:sp>
      <p:sp>
        <p:nvSpPr>
          <p:cNvPr id="496" name="Google Shape;496;p28"/>
          <p:cNvSpPr/>
          <p:nvPr/>
        </p:nvSpPr>
        <p:spPr>
          <a:xfrm>
            <a:off x="425196" y="3055684"/>
            <a:ext cx="5143500" cy="48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400"/>
              <a:buFont typeface="Arial"/>
              <a:buNone/>
            </a:pPr>
            <a:r>
              <a:rPr b="1" lang="en" sz="2400">
                <a:solidFill>
                  <a:srgbClr val="8B7CF6"/>
                </a:solidFill>
              </a:rPr>
              <a:t>Kudos</a:t>
            </a:r>
            <a:endParaRPr b="1" sz="2400">
              <a:solidFill>
                <a:srgbClr val="F87171"/>
              </a:solidFill>
            </a:endParaRPr>
          </a:p>
        </p:txBody>
      </p:sp>
      <p:sp>
        <p:nvSpPr>
          <p:cNvPr id="497" name="Google Shape;497;p28"/>
          <p:cNvSpPr/>
          <p:nvPr/>
        </p:nvSpPr>
        <p:spPr>
          <a:xfrm>
            <a:off x="425205" y="3638675"/>
            <a:ext cx="8255700" cy="905400"/>
          </a:xfrm>
          <a:prstGeom prst="roundRect">
            <a:avLst>
              <a:gd fmla="val 9848" name="adj"/>
            </a:avLst>
          </a:prstGeom>
          <a:solidFill>
            <a:srgbClr val="0D0F16"/>
          </a:solidFill>
          <a:ln cap="flat" cmpd="sng" w="12700">
            <a:solidFill>
              <a:srgbClr val="234B4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98" name="Google Shape;498;p28"/>
          <p:cNvSpPr/>
          <p:nvPr/>
        </p:nvSpPr>
        <p:spPr>
          <a:xfrm>
            <a:off x="603504" y="3933558"/>
            <a:ext cx="315600" cy="315600"/>
          </a:xfrm>
          <a:prstGeom prst="roundRect">
            <a:avLst>
              <a:gd fmla="val 23913" name="adj"/>
            </a:avLst>
          </a:prstGeom>
          <a:solidFill>
            <a:srgbClr val="132E2B"/>
          </a:solidFill>
          <a:ln cap="flat" cmpd="sng" w="12700">
            <a:solidFill>
              <a:srgbClr val="21715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home/claude/art/out/icon-shield.png" id="499" name="Google Shape;499;p28"/>
          <p:cNvPicPr preferRelativeResize="0"/>
          <p:nvPr/>
        </p:nvPicPr>
        <p:blipFill rotWithShape="1">
          <a:blip r:embed="rId4">
            <a:alphaModFix/>
          </a:blip>
          <a:srcRect b="0" l="0" r="0" t="0"/>
          <a:stretch/>
        </p:blipFill>
        <p:spPr>
          <a:xfrm>
            <a:off x="654939" y="3984993"/>
            <a:ext cx="212598" cy="212598"/>
          </a:xfrm>
          <a:prstGeom prst="rect">
            <a:avLst/>
          </a:prstGeom>
          <a:noFill/>
          <a:ln>
            <a:noFill/>
          </a:ln>
        </p:spPr>
      </p:pic>
      <p:sp>
        <p:nvSpPr>
          <p:cNvPr id="500" name="Google Shape;500;p28"/>
          <p:cNvSpPr/>
          <p:nvPr/>
        </p:nvSpPr>
        <p:spPr>
          <a:xfrm>
            <a:off x="1056132" y="3910031"/>
            <a:ext cx="28530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4D399"/>
              </a:buClr>
              <a:buSzPts val="700"/>
              <a:buFont typeface="Courier New"/>
              <a:buNone/>
            </a:pPr>
            <a:r>
              <a:rPr b="1" lang="en" sz="1000">
                <a:solidFill>
                  <a:srgbClr val="34D399"/>
                </a:solidFill>
                <a:latin typeface="Courier New"/>
                <a:ea typeface="Courier New"/>
                <a:cs typeface="Courier New"/>
                <a:sym typeface="Courier New"/>
              </a:rPr>
              <a:t>Khushal Suthar</a:t>
            </a:r>
            <a:endParaRPr b="0" i="0" sz="1000" u="none" cap="none" strike="noStrike">
              <a:solidFill>
                <a:schemeClr val="dk1"/>
              </a:solidFill>
              <a:latin typeface="Calibri"/>
              <a:ea typeface="Calibri"/>
              <a:cs typeface="Calibri"/>
              <a:sym typeface="Calibri"/>
            </a:endParaRPr>
          </a:p>
        </p:txBody>
      </p:sp>
      <p:sp>
        <p:nvSpPr>
          <p:cNvPr id="501" name="Google Shape;501;p28"/>
          <p:cNvSpPr/>
          <p:nvPr/>
        </p:nvSpPr>
        <p:spPr>
          <a:xfrm>
            <a:off x="1056121" y="4095200"/>
            <a:ext cx="4367100" cy="4938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D7DEEA"/>
              </a:buClr>
              <a:buSzPts val="900"/>
              <a:buFont typeface="Arial"/>
              <a:buNone/>
            </a:pPr>
            <a:r>
              <a:rPr lang="en" sz="900">
                <a:solidFill>
                  <a:srgbClr val="D7DEEA"/>
                </a:solidFill>
              </a:rPr>
              <a:t>For providing constant support in testing and verifying the lab</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06" name="Shape 506"/>
        <p:cNvGrpSpPr/>
        <p:nvPr/>
      </p:nvGrpSpPr>
      <p:grpSpPr>
        <a:xfrm>
          <a:off x="0" y="0"/>
          <a:ext cx="0" cy="0"/>
          <a:chOff x="0" y="0"/>
          <a:chExt cx="0" cy="0"/>
        </a:xfrm>
      </p:grpSpPr>
      <p:sp>
        <p:nvSpPr>
          <p:cNvPr id="507" name="Google Shape;507;p29"/>
          <p:cNvSpPr/>
          <p:nvPr/>
        </p:nvSpPr>
        <p:spPr>
          <a:xfrm>
            <a:off x="3258150" y="2287200"/>
            <a:ext cx="2543100" cy="569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400"/>
              <a:buFont typeface="Arial"/>
              <a:buNone/>
            </a:pPr>
            <a:r>
              <a:rPr b="1" lang="en" sz="3400">
                <a:solidFill>
                  <a:srgbClr val="FFFFFF"/>
                </a:solidFill>
              </a:rPr>
              <a:t>Questions </a:t>
            </a:r>
            <a:r>
              <a:rPr b="1" lang="en" sz="3400">
                <a:solidFill>
                  <a:srgbClr val="34D399"/>
                </a:solidFill>
              </a:rPr>
              <a:t>?</a:t>
            </a:r>
            <a:endParaRPr b="1" sz="3400">
              <a:solidFill>
                <a:srgbClr val="F8717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